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75569"/>
                </a:solidFill>
                <a:latin typeface="Arial"/>
              </a:defRPr>
            </a:pPr>
            <a:r>
              <a:rPr sz="1300" b="0" i="0" u="none" strike="noStrike">
                <a:solidFill>
                  <a:srgbClr val="475569"/>
                </a:solidFill>
                <a:latin typeface="Arial"/>
              </a:rPr>
              <a:t>Supply chain visibility software, $B</a:t>
            </a:r>
          </a:p>
        </c:rich>
      </c:tx>
      <c:layout/>
      <c:overlay val="0"/>
    </c:title>
    <c:autoTitleDeleted val="0"/>
    <c:plotArea>
      <c:layout/>
      <c:barChart>
        <c:barDir val="col"/>
        <c:grouping val="clustered"/>
        <c:varyColors val="0"/>
        <c:ser>
          <c:idx val="0"/>
          <c:order val="0"/>
          <c:tx>
            <c:strRef>
              <c:f>Sheet1!$B$1</c:f>
              <c:strCache>
                <c:ptCount val="1"/>
                <c:pt idx="0">
                  <c:v>Market size ($B)</c:v>
                </c:pt>
              </c:strCache>
            </c:strRef>
          </c:tx>
          <c:spPr>
            <a:solidFill>
              <a:srgbClr val="059669"/>
            </a:solidFill>
            <a:effectLst/>
          </c:spPr>
          <c:invertIfNegative val="0"/>
          <c:dLbls>
            <c:numFmt formatCode="$0.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2025</c:v>
                  </c:pt>
                  <c:pt idx="1">
                    <c:v>2030</c:v>
                  </c:pt>
                  <c:pt idx="2">
                    <c:v>2035</c:v>
                  </c:pt>
                </c:lvl>
              </c:multiLvlStrCache>
            </c:multiLvlStrRef>
          </c:cat>
          <c:val>
            <c:numRef>
              <c:f>Sheet1!$B$2:$B$4</c:f>
              <c:numCache>
                <c:formatCode>General</c:formatCode>
                <c:ptCount val="3"/>
                <c:pt idx="0">
                  <c:v>3.3</c:v>
                </c:pt>
                <c:pt idx="1">
                  <c:v>6.3</c:v>
                </c:pt>
                <c:pt idx="2">
                  <c:v>10.9</c:v>
                </c:pt>
              </c:numCache>
            </c:numRef>
          </c:val>
        </c:ser>
        <c:dLbls>
          <c:numFmt formatCode="$0.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max val="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Guard is the second product in the Fast Insights Guard suite. Inventory Close Guard proves the close; Transit Guard captures the custody truth that makes the close provable. All data in the demo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a unit leaves the shelf, the reason it left and the dates it changed hands stop being captured anywhere systematic. That is precisely the data revenue recognition and audit existence testing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mechanic: one transaction ID travels the whole chain. Accounting and the warehouse look at the same record. The RMA flow is the sale flow reversed — no new process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hero lane, live in the app as TX-20499: a $1M perishable shipment from Palo Alto through New York, across the Atlantic to the UK, EU entry in Poland, delivered in Switzerland. FOB destination plus a −2 °C cold chain makes it the hardest revenue-recognition case we could pick — and the custody chain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exists and runs today. Live wow-moments: the AI route override; the carrier DECLINING a load and the agent rerouting it to Redline in seconds (Uber-style availability matching); one-click per-stage documents; the label scan flipping docs to received; the auto vendor substitution. Toggle the 📱/🖥️ switch above the demo to show the same app as desktop web and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flags live in the demo, led by the $1M FOB-destination cold-chain lane. The point is not anomaly-detection theater — each flag cites the custody events that prove it, and each one ends in a human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coordination contract judges should remember: agents do the matching and rerouting on availability plus weights &amp; measures; humans only see decisions that cross the tolerance gate (±10% / $200 / 2-day). The memory split is the Track 1 tie-in: constants are cached (cost per ton, owned lanes), only the date-window availability is queried per order — so agent decisions stay cheap. The same workflow is packaged as an EverOS prompt with seed memory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Positioning matters to judges who know the space: we are not competing with NetSuite, SAP, Oracle, or BlackLine. We are the capture layer between them — and the Guard suite gives us a built-in consumer of the evidence at close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is total SCM software spend. SAM narrows to the goods-in-motion layer where we live: visibility plus inventory software. SOM is the concrete beachhead: US mid-market companies exporting serialized hardware — exactly the Fast Insights profile — at a $12K land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Real-time transportation visibility platforms answer “where is my truck.” We answer “who has custody, since when, with what documents, and what does that mean for December revenue.” Different question, different buyer — the controller, not the logistics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design is deliberately small: one shipment lane, one quarter, one deliverable the controller already wants — the cutoff evidence file at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2 is the primary entry: the product monetizes on both sides of the marketplace and clears the $10 ARR/user bar by orders of magnitude. Track 1 cross-credit comes from the suite economics — the 85% AI-consumption reduction is a real, demoable percentage. Sponsor tools are positioned as wiring, not shipped integrations — be precise about that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tagline, then switch straight to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822960" y="1234440"/>
            <a:ext cx="10515600" cy="365760"/>
          </a:xfrm>
          <a:prstGeom prst="rect">
            <a:avLst/>
          </a:prstGeom>
          <a:noFill/>
          <a:ln/>
        </p:spPr>
        <p:txBody>
          <a:bodyPr wrap="square" lIns="0" tIns="0" rIns="0" bIns="0" rtlCol="0" anchor="ctr"/>
          <a:lstStyle/>
          <a:p>
            <a:pPr indent="0" marL="0">
              <a:buNone/>
            </a:pPr>
            <a:r>
              <a:rPr lang="en-US" sz="1500" b="1" spc="400" kern="0" dirty="0">
                <a:solidFill>
                  <a:srgbClr val="34D399"/>
                </a:solidFill>
                <a:latin typeface="Calibri" pitchFamily="34" charset="0"/>
                <a:ea typeface="Calibri" pitchFamily="34" charset="-122"/>
                <a:cs typeface="Calibri" pitchFamily="34" charset="-120"/>
              </a:rPr>
              <a:t>FAST INSIGHTS GUARD SUITE</a:t>
            </a:r>
            <a:endParaRPr lang="en-US" sz="1500" dirty="0"/>
          </a:p>
        </p:txBody>
      </p:sp>
      <p:sp>
        <p:nvSpPr>
          <p:cNvPr id="3" name="Text 1"/>
          <p:cNvSpPr/>
          <p:nvPr/>
        </p:nvSpPr>
        <p:spPr>
          <a:xfrm>
            <a:off x="822960" y="1600200"/>
            <a:ext cx="10515600" cy="1097280"/>
          </a:xfrm>
          <a:prstGeom prst="rect">
            <a:avLst/>
          </a:prstGeom>
          <a:noFill/>
          <a:ln/>
        </p:spPr>
        <p:txBody>
          <a:bodyPr wrap="square" lIns="0" tIns="0" rIns="0" bIns="0" rtlCol="0" anchor="ctr"/>
          <a:lstStyle/>
          <a:p>
            <a:pPr indent="0" marL="0">
              <a:buNone/>
            </a:pPr>
            <a:r>
              <a:rPr lang="en-US" sz="6400" b="1" dirty="0">
                <a:solidFill>
                  <a:srgbClr val="FFFFFF"/>
                </a:solidFill>
                <a:latin typeface="Calibri" pitchFamily="34" charset="0"/>
                <a:ea typeface="Calibri" pitchFamily="34" charset="-122"/>
                <a:cs typeface="Calibri" pitchFamily="34" charset="-120"/>
              </a:rPr>
              <a:t>Transit Guard</a:t>
            </a:r>
            <a:endParaRPr lang="en-US" sz="6400" dirty="0"/>
          </a:p>
        </p:txBody>
      </p:sp>
      <p:sp>
        <p:nvSpPr>
          <p:cNvPr id="4" name="Text 2"/>
          <p:cNvSpPr/>
          <p:nvPr/>
        </p:nvSpPr>
        <p:spPr>
          <a:xfrm>
            <a:off x="822960" y="2788920"/>
            <a:ext cx="10515600" cy="548640"/>
          </a:xfrm>
          <a:prstGeom prst="rect">
            <a:avLst/>
          </a:prstGeom>
          <a:noFill/>
          <a:ln/>
        </p:spPr>
        <p:txBody>
          <a:bodyPr wrap="square" lIns="0" tIns="0" rIns="0" bIns="0" rtlCol="0" anchor="ctr"/>
          <a:lstStyle/>
          <a:p>
            <a:pPr indent="0" marL="0">
              <a:buNone/>
            </a:pPr>
            <a:r>
              <a:rPr lang="en-US" sz="2600" i="1" dirty="0">
                <a:solidFill>
                  <a:srgbClr val="CBD5E1"/>
                </a:solidFill>
                <a:latin typeface="Calibri" pitchFamily="34" charset="0"/>
                <a:ea typeface="Calibri" pitchFamily="34" charset="-122"/>
                <a:cs typeface="Calibri" pitchFamily="34" charset="-120"/>
              </a:rPr>
              <a:t>Every hand-off. One transaction truth.</a:t>
            </a:r>
            <a:endParaRPr lang="en-US" sz="2600" dirty="0"/>
          </a:p>
        </p:txBody>
      </p:sp>
      <p:sp>
        <p:nvSpPr>
          <p:cNvPr id="5" name="Text 3"/>
          <p:cNvSpPr/>
          <p:nvPr/>
        </p:nvSpPr>
        <p:spPr>
          <a:xfrm>
            <a:off x="822960" y="3429000"/>
            <a:ext cx="9601200" cy="45720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Chain-of-custody inventory tracking from the warehouse shelf to the customer — and back again.</a:t>
            </a:r>
            <a:endParaRPr lang="en-US" sz="1600" dirty="0"/>
          </a:p>
        </p:txBody>
      </p:sp>
      <p:sp>
        <p:nvSpPr>
          <p:cNvPr id="6" name="Shape 4"/>
          <p:cNvSpPr/>
          <p:nvPr/>
        </p:nvSpPr>
        <p:spPr>
          <a:xfrm>
            <a:off x="868680" y="4517136"/>
            <a:ext cx="10424160" cy="0"/>
          </a:xfrm>
          <a:prstGeom prst="line">
            <a:avLst/>
          </a:prstGeom>
          <a:noFill/>
          <a:ln w="22225">
            <a:solidFill>
              <a:srgbClr val="34D399"/>
            </a:solidFill>
            <a:prstDash val="solid"/>
          </a:ln>
        </p:spPr>
      </p:sp>
      <p:sp>
        <p:nvSpPr>
          <p:cNvPr id="7" name="Shape 5"/>
          <p:cNvSpPr/>
          <p:nvPr/>
        </p:nvSpPr>
        <p:spPr>
          <a:xfrm>
            <a:off x="786384" y="4434840"/>
            <a:ext cx="164592" cy="164592"/>
          </a:xfrm>
          <a:prstGeom prst="ellipse">
            <a:avLst/>
          </a:prstGeom>
          <a:solidFill>
            <a:srgbClr val="34D399"/>
          </a:solidFill>
          <a:ln/>
        </p:spPr>
      </p:sp>
      <p:sp>
        <p:nvSpPr>
          <p:cNvPr id="8" name="Shape 6"/>
          <p:cNvSpPr/>
          <p:nvPr/>
        </p:nvSpPr>
        <p:spPr>
          <a:xfrm>
            <a:off x="2275550" y="4434840"/>
            <a:ext cx="164592" cy="164592"/>
          </a:xfrm>
          <a:prstGeom prst="ellipse">
            <a:avLst/>
          </a:prstGeom>
          <a:solidFill>
            <a:srgbClr val="34D399"/>
          </a:solidFill>
          <a:ln/>
        </p:spPr>
      </p:sp>
      <p:sp>
        <p:nvSpPr>
          <p:cNvPr id="9" name="Shape 7"/>
          <p:cNvSpPr/>
          <p:nvPr/>
        </p:nvSpPr>
        <p:spPr>
          <a:xfrm>
            <a:off x="3764715" y="4434840"/>
            <a:ext cx="164592" cy="164592"/>
          </a:xfrm>
          <a:prstGeom prst="ellipse">
            <a:avLst/>
          </a:prstGeom>
          <a:solidFill>
            <a:srgbClr val="34D399"/>
          </a:solidFill>
          <a:ln/>
        </p:spPr>
      </p:sp>
      <p:sp>
        <p:nvSpPr>
          <p:cNvPr id="10" name="Shape 8"/>
          <p:cNvSpPr/>
          <p:nvPr/>
        </p:nvSpPr>
        <p:spPr>
          <a:xfrm>
            <a:off x="5253881" y="4434840"/>
            <a:ext cx="164592" cy="164592"/>
          </a:xfrm>
          <a:prstGeom prst="ellipse">
            <a:avLst/>
          </a:prstGeom>
          <a:solidFill>
            <a:srgbClr val="34D399"/>
          </a:solidFill>
          <a:ln/>
        </p:spPr>
      </p:sp>
      <p:sp>
        <p:nvSpPr>
          <p:cNvPr id="11" name="Shape 9"/>
          <p:cNvSpPr/>
          <p:nvPr/>
        </p:nvSpPr>
        <p:spPr>
          <a:xfrm>
            <a:off x="6743047" y="4434840"/>
            <a:ext cx="164592" cy="164592"/>
          </a:xfrm>
          <a:prstGeom prst="ellipse">
            <a:avLst/>
          </a:prstGeom>
          <a:solidFill>
            <a:srgbClr val="34D399"/>
          </a:solidFill>
          <a:ln/>
        </p:spPr>
      </p:sp>
      <p:sp>
        <p:nvSpPr>
          <p:cNvPr id="12" name="Shape 10"/>
          <p:cNvSpPr/>
          <p:nvPr/>
        </p:nvSpPr>
        <p:spPr>
          <a:xfrm>
            <a:off x="8232213" y="4434840"/>
            <a:ext cx="164592" cy="164592"/>
          </a:xfrm>
          <a:prstGeom prst="ellipse">
            <a:avLst/>
          </a:prstGeom>
          <a:solidFill>
            <a:srgbClr val="34D399"/>
          </a:solidFill>
          <a:ln/>
        </p:spPr>
      </p:sp>
      <p:sp>
        <p:nvSpPr>
          <p:cNvPr id="13" name="Shape 11"/>
          <p:cNvSpPr/>
          <p:nvPr/>
        </p:nvSpPr>
        <p:spPr>
          <a:xfrm>
            <a:off x="9721378" y="4434840"/>
            <a:ext cx="164592" cy="164592"/>
          </a:xfrm>
          <a:prstGeom prst="ellipse">
            <a:avLst/>
          </a:prstGeom>
          <a:solidFill>
            <a:srgbClr val="34D399"/>
          </a:solidFill>
          <a:ln/>
        </p:spPr>
      </p:sp>
      <p:sp>
        <p:nvSpPr>
          <p:cNvPr id="14" name="Shape 12"/>
          <p:cNvSpPr/>
          <p:nvPr/>
        </p:nvSpPr>
        <p:spPr>
          <a:xfrm>
            <a:off x="11210544" y="4434840"/>
            <a:ext cx="164592" cy="164592"/>
          </a:xfrm>
          <a:prstGeom prst="ellipse">
            <a:avLst/>
          </a:prstGeom>
          <a:solidFill>
            <a:srgbClr val="34D399"/>
          </a:solidFill>
          <a:ln/>
        </p:spPr>
      </p:sp>
      <p:sp>
        <p:nvSpPr>
          <p:cNvPr id="15" name="Text 13"/>
          <p:cNvSpPr/>
          <p:nvPr/>
        </p:nvSpPr>
        <p:spPr>
          <a:xfrm>
            <a:off x="182880"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Warehouse</a:t>
            </a:r>
            <a:endParaRPr lang="en-US" sz="1100" dirty="0"/>
          </a:p>
        </p:txBody>
      </p:sp>
      <p:sp>
        <p:nvSpPr>
          <p:cNvPr id="16" name="Text 14"/>
          <p:cNvSpPr/>
          <p:nvPr/>
        </p:nvSpPr>
        <p:spPr>
          <a:xfrm>
            <a:off x="1672046"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Truck</a:t>
            </a:r>
            <a:endParaRPr lang="en-US" sz="1100" dirty="0"/>
          </a:p>
        </p:txBody>
      </p:sp>
      <p:sp>
        <p:nvSpPr>
          <p:cNvPr id="17" name="Text 15"/>
          <p:cNvSpPr/>
          <p:nvPr/>
        </p:nvSpPr>
        <p:spPr>
          <a:xfrm>
            <a:off x="3161211"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Boatyard</a:t>
            </a:r>
            <a:endParaRPr lang="en-US" sz="1100" dirty="0"/>
          </a:p>
        </p:txBody>
      </p:sp>
      <p:sp>
        <p:nvSpPr>
          <p:cNvPr id="18" name="Text 16"/>
          <p:cNvSpPr/>
          <p:nvPr/>
        </p:nvSpPr>
        <p:spPr>
          <a:xfrm>
            <a:off x="4650377"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Ocean</a:t>
            </a:r>
            <a:endParaRPr lang="en-US" sz="1100" dirty="0"/>
          </a:p>
        </p:txBody>
      </p:sp>
      <p:sp>
        <p:nvSpPr>
          <p:cNvPr id="19" name="Text 17"/>
          <p:cNvSpPr/>
          <p:nvPr/>
        </p:nvSpPr>
        <p:spPr>
          <a:xfrm>
            <a:off x="6139543"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Port</a:t>
            </a:r>
            <a:endParaRPr lang="en-US" sz="1100" dirty="0"/>
          </a:p>
        </p:txBody>
      </p:sp>
      <p:sp>
        <p:nvSpPr>
          <p:cNvPr id="20" name="Text 18"/>
          <p:cNvSpPr/>
          <p:nvPr/>
        </p:nvSpPr>
        <p:spPr>
          <a:xfrm>
            <a:off x="7628709"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Customs</a:t>
            </a:r>
            <a:endParaRPr lang="en-US" sz="1100" dirty="0"/>
          </a:p>
        </p:txBody>
      </p:sp>
      <p:sp>
        <p:nvSpPr>
          <p:cNvPr id="21" name="Text 19"/>
          <p:cNvSpPr/>
          <p:nvPr/>
        </p:nvSpPr>
        <p:spPr>
          <a:xfrm>
            <a:off x="9117874"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Customer</a:t>
            </a:r>
            <a:endParaRPr lang="en-US" sz="1100" dirty="0"/>
          </a:p>
        </p:txBody>
      </p:sp>
      <p:sp>
        <p:nvSpPr>
          <p:cNvPr id="22" name="Text 20"/>
          <p:cNvSpPr/>
          <p:nvPr/>
        </p:nvSpPr>
        <p:spPr>
          <a:xfrm>
            <a:off x="10607040"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RMA</a:t>
            </a:r>
            <a:endParaRPr lang="en-US" sz="1100" dirty="0"/>
          </a:p>
        </p:txBody>
      </p:sp>
      <p:sp>
        <p:nvSpPr>
          <p:cNvPr id="23" name="Text 21"/>
          <p:cNvSpPr/>
          <p:nvPr/>
        </p:nvSpPr>
        <p:spPr>
          <a:xfrm>
            <a:off x="822960" y="5989320"/>
            <a:ext cx="10515600" cy="3657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Hackathon demo · FY2026 year-end close · Jessica Dougherty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8580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Counts are perfect on the shelf. Truth is lost in motion.</a:t>
            </a:r>
            <a:endParaRPr lang="en-US" sz="3400" dirty="0"/>
          </a:p>
        </p:txBody>
      </p:sp>
      <p:sp>
        <p:nvSpPr>
          <p:cNvPr id="3" name="Shape 1"/>
          <p:cNvSpPr/>
          <p:nvPr/>
        </p:nvSpPr>
        <p:spPr>
          <a:xfrm>
            <a:off x="548640" y="1298448"/>
            <a:ext cx="457200" cy="457200"/>
          </a:xfrm>
          <a:prstGeom prst="ellipse">
            <a:avLst/>
          </a:prstGeom>
          <a:solidFill>
            <a:srgbClr val="D1FAE5"/>
          </a:solidFill>
          <a:ln/>
        </p:spPr>
      </p:sp>
      <p:pic>
        <p:nvPicPr>
          <p:cNvPr id="4" name="Image 0" descr="preencoded.png">    </p:cNvPr>
          <p:cNvPicPr>
            <a:picLocks noChangeAspect="1"/>
          </p:cNvPicPr>
          <p:nvPr/>
        </p:nvPicPr>
        <p:blipFill>
          <a:blip r:embed="rId1"/>
          <a:stretch>
            <a:fillRect/>
          </a:stretch>
        </p:blipFill>
        <p:spPr>
          <a:xfrm>
            <a:off x="667512" y="1417320"/>
            <a:ext cx="219456" cy="219456"/>
          </a:xfrm>
          <a:prstGeom prst="rect">
            <a:avLst/>
          </a:prstGeom>
        </p:spPr>
      </p:pic>
      <p:sp>
        <p:nvSpPr>
          <p:cNvPr id="5" name="Text 2"/>
          <p:cNvSpPr/>
          <p:nvPr/>
        </p:nvSpPr>
        <p:spPr>
          <a:xfrm>
            <a:off x="1188720" y="1225296"/>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Multi-leg hand-offs</a:t>
            </a:r>
            <a:endParaRPr lang="en-US" sz="1500" dirty="0"/>
          </a:p>
        </p:txBody>
      </p:sp>
      <p:sp>
        <p:nvSpPr>
          <p:cNvPr id="6" name="Text 3"/>
          <p:cNvSpPr/>
          <p:nvPr/>
        </p:nvSpPr>
        <p:spPr>
          <a:xfrm>
            <a:off x="1188720" y="1536192"/>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Warehouse → truck → boatyard → vessel → port → customs → customer. Every leg is a different vendor with its own dates and paperwork.</a:t>
            </a:r>
            <a:endParaRPr lang="en-US" sz="1100" dirty="0"/>
          </a:p>
        </p:txBody>
      </p:sp>
      <p:sp>
        <p:nvSpPr>
          <p:cNvPr id="7" name="Shape 4"/>
          <p:cNvSpPr/>
          <p:nvPr/>
        </p:nvSpPr>
        <p:spPr>
          <a:xfrm>
            <a:off x="548640" y="2276856"/>
            <a:ext cx="457200" cy="457200"/>
          </a:xfrm>
          <a:prstGeom prst="ellipse">
            <a:avLst/>
          </a:prstGeom>
          <a:solidFill>
            <a:srgbClr val="E0F2FE"/>
          </a:solidFill>
          <a:ln/>
        </p:spPr>
      </p:sp>
      <p:pic>
        <p:nvPicPr>
          <p:cNvPr id="8" name="Image 1" descr="preencoded.png">    </p:cNvPr>
          <p:cNvPicPr>
            <a:picLocks noChangeAspect="1"/>
          </p:cNvPicPr>
          <p:nvPr/>
        </p:nvPicPr>
        <p:blipFill>
          <a:blip r:embed="rId2"/>
          <a:stretch>
            <a:fillRect/>
          </a:stretch>
        </p:blipFill>
        <p:spPr>
          <a:xfrm>
            <a:off x="667512" y="2395728"/>
            <a:ext cx="219456" cy="219456"/>
          </a:xfrm>
          <a:prstGeom prst="rect">
            <a:avLst/>
          </a:prstGeom>
        </p:spPr>
      </p:pic>
      <p:sp>
        <p:nvSpPr>
          <p:cNvPr id="9" name="Text 5"/>
          <p:cNvSpPr/>
          <p:nvPr/>
        </p:nvSpPr>
        <p:spPr>
          <a:xfrm>
            <a:off x="1188720" y="2203704"/>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Nobody knows who ships this</a:t>
            </a:r>
            <a:endParaRPr lang="en-US" sz="1500" dirty="0"/>
          </a:p>
        </p:txBody>
      </p:sp>
      <p:sp>
        <p:nvSpPr>
          <p:cNvPr id="10" name="Text 6"/>
          <p:cNvSpPr/>
          <p:nvPr/>
        </p:nvSpPr>
        <p:spPr>
          <a:xfrm>
            <a:off x="1188720" y="2514600"/>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 startup lands the sale, then burns days finding carriers, boatyards, and brokers — while the customer’s need-by date slips away.</a:t>
            </a:r>
            <a:endParaRPr lang="en-US" sz="1100" dirty="0"/>
          </a:p>
        </p:txBody>
      </p:sp>
      <p:sp>
        <p:nvSpPr>
          <p:cNvPr id="11" name="Shape 7"/>
          <p:cNvSpPr/>
          <p:nvPr/>
        </p:nvSpPr>
        <p:spPr>
          <a:xfrm>
            <a:off x="548640" y="3255264"/>
            <a:ext cx="457200" cy="457200"/>
          </a:xfrm>
          <a:prstGeom prst="ellipse">
            <a:avLst/>
          </a:prstGeom>
          <a:solidFill>
            <a:srgbClr val="FEF3C7"/>
          </a:solidFill>
          <a:ln/>
        </p:spPr>
      </p:sp>
      <p:pic>
        <p:nvPicPr>
          <p:cNvPr id="12" name="Image 2" descr="preencoded.png">    </p:cNvPr>
          <p:cNvPicPr>
            <a:picLocks noChangeAspect="1"/>
          </p:cNvPicPr>
          <p:nvPr/>
        </p:nvPicPr>
        <p:blipFill>
          <a:blip r:embed="rId3"/>
          <a:stretch>
            <a:fillRect/>
          </a:stretch>
        </p:blipFill>
        <p:spPr>
          <a:xfrm>
            <a:off x="667512" y="3374136"/>
            <a:ext cx="219456" cy="219456"/>
          </a:xfrm>
          <a:prstGeom prst="rect">
            <a:avLst/>
          </a:prstGeom>
        </p:spPr>
      </p:pic>
      <p:sp>
        <p:nvSpPr>
          <p:cNvPr id="13" name="Text 8"/>
          <p:cNvSpPr/>
          <p:nvPr/>
        </p:nvSpPr>
        <p:spPr>
          <a:xfrm>
            <a:off x="1188720" y="3182112"/>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Revenue timing unproven</a:t>
            </a:r>
            <a:endParaRPr lang="en-US" sz="1500" dirty="0"/>
          </a:p>
        </p:txBody>
      </p:sp>
      <p:sp>
        <p:nvSpPr>
          <p:cNvPr id="14" name="Text 9"/>
          <p:cNvSpPr/>
          <p:nvPr/>
        </p:nvSpPr>
        <p:spPr>
          <a:xfrm>
            <a:off x="1188720" y="3493008"/>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Invoice dates and Incoterms disagree. Cutoff evidence lives in carrier emails nobody can find at year-end.</a:t>
            </a:r>
            <a:endParaRPr lang="en-US" sz="1100" dirty="0"/>
          </a:p>
        </p:txBody>
      </p:sp>
      <p:sp>
        <p:nvSpPr>
          <p:cNvPr id="15" name="Shape 10"/>
          <p:cNvSpPr/>
          <p:nvPr/>
        </p:nvSpPr>
        <p:spPr>
          <a:xfrm>
            <a:off x="548640" y="4233672"/>
            <a:ext cx="457200" cy="457200"/>
          </a:xfrm>
          <a:prstGeom prst="ellipse">
            <a:avLst/>
          </a:prstGeom>
          <a:solidFill>
            <a:srgbClr val="CCFBF1"/>
          </a:solidFill>
          <a:ln/>
        </p:spPr>
      </p:sp>
      <p:pic>
        <p:nvPicPr>
          <p:cNvPr id="16" name="Image 3" descr="preencoded.png">    </p:cNvPr>
          <p:cNvPicPr>
            <a:picLocks noChangeAspect="1"/>
          </p:cNvPicPr>
          <p:nvPr/>
        </p:nvPicPr>
        <p:blipFill>
          <a:blip r:embed="rId4"/>
          <a:stretch>
            <a:fillRect/>
          </a:stretch>
        </p:blipFill>
        <p:spPr>
          <a:xfrm>
            <a:off x="667512" y="4352544"/>
            <a:ext cx="219456" cy="219456"/>
          </a:xfrm>
          <a:prstGeom prst="rect">
            <a:avLst/>
          </a:prstGeom>
        </p:spPr>
      </p:pic>
      <p:sp>
        <p:nvSpPr>
          <p:cNvPr id="17" name="Text 11"/>
          <p:cNvSpPr/>
          <p:nvPr/>
        </p:nvSpPr>
        <p:spPr>
          <a:xfrm>
            <a:off x="1188720" y="4160520"/>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Customs is its own maze</a:t>
            </a:r>
            <a:endParaRPr lang="en-US" sz="1500" dirty="0"/>
          </a:p>
        </p:txBody>
      </p:sp>
      <p:sp>
        <p:nvSpPr>
          <p:cNvPr id="18" name="Text 12"/>
          <p:cNvSpPr/>
          <p:nvPr/>
        </p:nvSpPr>
        <p:spPr>
          <a:xfrm>
            <a:off x="1188720" y="4471416"/>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Valuation uses a price list that is not the sales price; every country wants different documents, and requirements change mid-quarter.</a:t>
            </a:r>
            <a:endParaRPr lang="en-US" sz="1100" dirty="0"/>
          </a:p>
        </p:txBody>
      </p:sp>
      <p:sp>
        <p:nvSpPr>
          <p:cNvPr id="19" name="Shape 13"/>
          <p:cNvSpPr/>
          <p:nvPr/>
        </p:nvSpPr>
        <p:spPr>
          <a:xfrm>
            <a:off x="548640" y="5212080"/>
            <a:ext cx="457200" cy="457200"/>
          </a:xfrm>
          <a:prstGeom prst="ellipse">
            <a:avLst/>
          </a:prstGeom>
          <a:solidFill>
            <a:srgbClr val="FFE4E6"/>
          </a:solidFill>
          <a:ln/>
        </p:spPr>
      </p:sp>
      <p:pic>
        <p:nvPicPr>
          <p:cNvPr id="20" name="Image 4" descr="preencoded.png">    </p:cNvPr>
          <p:cNvPicPr>
            <a:picLocks noChangeAspect="1"/>
          </p:cNvPicPr>
          <p:nvPr/>
        </p:nvPicPr>
        <p:blipFill>
          <a:blip r:embed="rId5"/>
          <a:stretch>
            <a:fillRect/>
          </a:stretch>
        </p:blipFill>
        <p:spPr>
          <a:xfrm>
            <a:off x="667512" y="5330952"/>
            <a:ext cx="219456" cy="219456"/>
          </a:xfrm>
          <a:prstGeom prst="rect">
            <a:avLst/>
          </a:prstGeom>
        </p:spPr>
      </p:pic>
      <p:sp>
        <p:nvSpPr>
          <p:cNvPr id="21" name="Text 14"/>
          <p:cNvSpPr/>
          <p:nvPr/>
        </p:nvSpPr>
        <p:spPr>
          <a:xfrm>
            <a:off x="1188720" y="5138928"/>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Returns vanish</a:t>
            </a:r>
            <a:endParaRPr lang="en-US" sz="1500" dirty="0"/>
          </a:p>
        </p:txBody>
      </p:sp>
      <p:sp>
        <p:nvSpPr>
          <p:cNvPr id="22" name="Text 15"/>
          <p:cNvSpPr/>
          <p:nvPr/>
        </p:nvSpPr>
        <p:spPr>
          <a:xfrm>
            <a:off x="1188720" y="5449824"/>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RMAs retrace the same route with none of the tracking — and the credit memo never gets accrued on time.</a:t>
            </a:r>
            <a:endParaRPr lang="en-US" sz="1100" dirty="0"/>
          </a:p>
        </p:txBody>
      </p:sp>
      <p:sp>
        <p:nvSpPr>
          <p:cNvPr id="23" name="Shape 16"/>
          <p:cNvSpPr/>
          <p:nvPr/>
        </p:nvSpPr>
        <p:spPr>
          <a:xfrm>
            <a:off x="6903720" y="1371600"/>
            <a:ext cx="4709160" cy="2926080"/>
          </a:xfrm>
          <a:prstGeom prst="roundRect">
            <a:avLst>
              <a:gd name="adj" fmla="val 3125"/>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Text 17"/>
          <p:cNvSpPr/>
          <p:nvPr/>
        </p:nvSpPr>
        <p:spPr>
          <a:xfrm>
            <a:off x="7269480" y="1627632"/>
            <a:ext cx="41148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One typical international shipment</a:t>
            </a:r>
            <a:endParaRPr lang="en-US" sz="1500" dirty="0"/>
          </a:p>
        </p:txBody>
      </p:sp>
      <p:sp>
        <p:nvSpPr>
          <p:cNvPr id="25" name="Text 18"/>
          <p:cNvSpPr/>
          <p:nvPr/>
        </p:nvSpPr>
        <p:spPr>
          <a:xfrm>
            <a:off x="7269480" y="2103120"/>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7</a:t>
            </a:r>
            <a:endParaRPr lang="en-US" sz="4000" dirty="0"/>
          </a:p>
        </p:txBody>
      </p:sp>
      <p:sp>
        <p:nvSpPr>
          <p:cNvPr id="26" name="Text 19"/>
          <p:cNvSpPr/>
          <p:nvPr/>
        </p:nvSpPr>
        <p:spPr>
          <a:xfrm>
            <a:off x="7269480" y="2670048"/>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custody hand-offs</a:t>
            </a:r>
            <a:endParaRPr lang="en-US" sz="1150" dirty="0"/>
          </a:p>
        </p:txBody>
      </p:sp>
      <p:sp>
        <p:nvSpPr>
          <p:cNvPr id="27" name="Text 20"/>
          <p:cNvSpPr/>
          <p:nvPr/>
        </p:nvSpPr>
        <p:spPr>
          <a:xfrm>
            <a:off x="9509760" y="2103120"/>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5</a:t>
            </a:r>
            <a:endParaRPr lang="en-US" sz="4000" dirty="0"/>
          </a:p>
        </p:txBody>
      </p:sp>
      <p:sp>
        <p:nvSpPr>
          <p:cNvPr id="28" name="Text 21"/>
          <p:cNvSpPr/>
          <p:nvPr/>
        </p:nvSpPr>
        <p:spPr>
          <a:xfrm>
            <a:off x="9509760" y="2670048"/>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different vendors</a:t>
            </a:r>
            <a:endParaRPr lang="en-US" sz="1150" dirty="0"/>
          </a:p>
        </p:txBody>
      </p:sp>
      <p:sp>
        <p:nvSpPr>
          <p:cNvPr id="29" name="Text 22"/>
          <p:cNvSpPr/>
          <p:nvPr/>
        </p:nvSpPr>
        <p:spPr>
          <a:xfrm>
            <a:off x="7269480" y="3127248"/>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2</a:t>
            </a:r>
            <a:endParaRPr lang="en-US" sz="4000" dirty="0"/>
          </a:p>
        </p:txBody>
      </p:sp>
      <p:sp>
        <p:nvSpPr>
          <p:cNvPr id="30" name="Text 23"/>
          <p:cNvSpPr/>
          <p:nvPr/>
        </p:nvSpPr>
        <p:spPr>
          <a:xfrm>
            <a:off x="7269480" y="3694176"/>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customs regimes</a:t>
            </a:r>
            <a:endParaRPr lang="en-US" sz="1150" dirty="0"/>
          </a:p>
        </p:txBody>
      </p:sp>
      <p:sp>
        <p:nvSpPr>
          <p:cNvPr id="31" name="Text 24"/>
          <p:cNvSpPr/>
          <p:nvPr/>
        </p:nvSpPr>
        <p:spPr>
          <a:xfrm>
            <a:off x="9509760" y="3127248"/>
            <a:ext cx="2103120" cy="594360"/>
          </a:xfrm>
          <a:prstGeom prst="rect">
            <a:avLst/>
          </a:prstGeom>
          <a:noFill/>
          <a:ln/>
        </p:spPr>
        <p:txBody>
          <a:bodyPr wrap="square" lIns="0" tIns="0" rIns="0" bIns="0" rtlCol="0" anchor="ctr"/>
          <a:lstStyle/>
          <a:p>
            <a:pPr indent="0" marL="0">
              <a:buNone/>
            </a:pPr>
            <a:r>
              <a:rPr lang="en-US" sz="4000" b="1" dirty="0">
                <a:solidFill>
                  <a:srgbClr val="FBBF24"/>
                </a:solidFill>
                <a:latin typeface="Calibri" pitchFamily="34" charset="0"/>
                <a:ea typeface="Calibri" pitchFamily="34" charset="-122"/>
                <a:cs typeface="Calibri" pitchFamily="34" charset="-120"/>
              </a:rPr>
              <a:t>1</a:t>
            </a:r>
            <a:endParaRPr lang="en-US" sz="4000" dirty="0"/>
          </a:p>
        </p:txBody>
      </p:sp>
      <p:sp>
        <p:nvSpPr>
          <p:cNvPr id="32" name="Text 25"/>
          <p:cNvSpPr/>
          <p:nvPr/>
        </p:nvSpPr>
        <p:spPr>
          <a:xfrm>
            <a:off x="9509760" y="3694176"/>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spreadsheet holding it together</a:t>
            </a:r>
            <a:endParaRPr lang="en-US" sz="1150" dirty="0"/>
          </a:p>
        </p:txBody>
      </p:sp>
      <p:sp>
        <p:nvSpPr>
          <p:cNvPr id="33" name="Shape 26"/>
          <p:cNvSpPr/>
          <p:nvPr/>
        </p:nvSpPr>
        <p:spPr>
          <a:xfrm>
            <a:off x="6903720" y="4526280"/>
            <a:ext cx="4709160" cy="1691640"/>
          </a:xfrm>
          <a:prstGeom prst="roundRect">
            <a:avLst>
              <a:gd name="adj" fmla="val 540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7"/>
          <p:cNvSpPr/>
          <p:nvPr/>
        </p:nvSpPr>
        <p:spPr>
          <a:xfrm>
            <a:off x="7269480" y="4736592"/>
            <a:ext cx="4114800" cy="320040"/>
          </a:xfrm>
          <a:prstGeom prst="rect">
            <a:avLst/>
          </a:prstGeom>
          <a:noFill/>
          <a:ln/>
        </p:spPr>
        <p:txBody>
          <a:bodyPr wrap="square" lIns="0" tIns="0" rIns="0" bIns="0" rtlCol="0" anchor="ctr"/>
          <a:lstStyle/>
          <a:p>
            <a:pPr indent="0" marL="0">
              <a:buNone/>
            </a:pPr>
            <a:r>
              <a:rPr lang="en-US" sz="1300" b="1" dirty="0">
                <a:solidFill>
                  <a:srgbClr val="B45309"/>
                </a:solidFill>
                <a:latin typeface="Calibri" pitchFamily="34" charset="0"/>
                <a:ea typeface="Calibri" pitchFamily="34" charset="-122"/>
                <a:cs typeface="Calibri" pitchFamily="34" charset="-120"/>
              </a:rPr>
              <a:t>What it costs</a:t>
            </a:r>
            <a:endParaRPr lang="en-US" sz="1300" dirty="0"/>
          </a:p>
        </p:txBody>
      </p:sp>
      <p:sp>
        <p:nvSpPr>
          <p:cNvPr id="35" name="Text 28"/>
          <p:cNvSpPr/>
          <p:nvPr/>
        </p:nvSpPr>
        <p:spPr>
          <a:xfrm>
            <a:off x="7269480" y="5047488"/>
            <a:ext cx="4069080" cy="105156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Misstated revenue cutoff at year-end. Failed existence testing when auditors count inventory that is “somewhere in transit.” Customs delays and duty surprises.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One transaction ID follows every hand-off.</a:t>
            </a:r>
            <a:endParaRPr lang="en-US" sz="3400" dirty="0"/>
          </a:p>
        </p:txBody>
      </p:sp>
      <p:sp>
        <p:nvSpPr>
          <p:cNvPr id="3" name="Text 1"/>
          <p:cNvSpPr/>
          <p:nvPr/>
        </p:nvSpPr>
        <p:spPr>
          <a:xfrm>
            <a:off x="548640" y="1078992"/>
            <a:ext cx="10789920" cy="41148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Scan it out of the warehouse. Ask why it is leaving. Log every custody transfer with a dropdown. Prove revenue with the chain.</a:t>
            </a:r>
            <a:endParaRPr lang="en-US" sz="1500" dirty="0"/>
          </a:p>
        </p:txBody>
      </p:sp>
      <p:sp>
        <p:nvSpPr>
          <p:cNvPr id="4" name="Text 2"/>
          <p:cNvSpPr/>
          <p:nvPr/>
        </p:nvSpPr>
        <p:spPr>
          <a:xfrm>
            <a:off x="5257800" y="1691640"/>
            <a:ext cx="1737360" cy="384048"/>
          </a:xfrm>
          <a:prstGeom prst="roundRect">
            <a:avLst>
              <a:gd name="adj" fmla="val 47619"/>
            </a:avLst>
          </a:prstGeom>
          <a:solidFill>
            <a:srgbClr val="059669"/>
          </a:solidFill>
          <a:ln/>
        </p:spPr>
        <p:txBody>
          <a:bodyPr wrap="square"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TX-20481</a:t>
            </a:r>
            <a:endParaRPr lang="en-US" sz="1400" dirty="0"/>
          </a:p>
        </p:txBody>
      </p:sp>
      <p:sp>
        <p:nvSpPr>
          <p:cNvPr id="5" name="Shape 3"/>
          <p:cNvSpPr/>
          <p:nvPr/>
        </p:nvSpPr>
        <p:spPr>
          <a:xfrm>
            <a:off x="1143000" y="2816352"/>
            <a:ext cx="9875520" cy="0"/>
          </a:xfrm>
          <a:prstGeom prst="line">
            <a:avLst/>
          </a:prstGeom>
          <a:noFill/>
          <a:ln w="31750">
            <a:solidFill>
              <a:srgbClr val="059669"/>
            </a:solidFill>
            <a:prstDash val="solid"/>
          </a:ln>
        </p:spPr>
      </p:sp>
      <p:sp>
        <p:nvSpPr>
          <p:cNvPr id="6" name="Shape 4"/>
          <p:cNvSpPr/>
          <p:nvPr/>
        </p:nvSpPr>
        <p:spPr>
          <a:xfrm>
            <a:off x="566928" y="2514600"/>
            <a:ext cx="603504" cy="603504"/>
          </a:xfrm>
          <a:prstGeom prst="ellipse">
            <a:avLst/>
          </a:prstGeom>
          <a:solidFill>
            <a:srgbClr val="059669"/>
          </a:solidFill>
          <a:ln w="254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722376" y="2670048"/>
            <a:ext cx="292608" cy="292608"/>
          </a:xfrm>
          <a:prstGeom prst="rect">
            <a:avLst/>
          </a:prstGeom>
        </p:spPr>
      </p:pic>
      <p:sp>
        <p:nvSpPr>
          <p:cNvPr id="8" name="Text 5"/>
          <p:cNvSpPr/>
          <p:nvPr/>
        </p:nvSpPr>
        <p:spPr>
          <a:xfrm>
            <a:off x="18288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Warehouse</a:t>
            </a:r>
            <a:endParaRPr lang="en-US" sz="1200" dirty="0"/>
          </a:p>
        </p:txBody>
      </p:sp>
      <p:sp>
        <p:nvSpPr>
          <p:cNvPr id="9" name="Text 6"/>
          <p:cNvSpPr/>
          <p:nvPr/>
        </p:nvSpPr>
        <p:spPr>
          <a:xfrm>
            <a:off x="18288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Pick + scan</a:t>
            </a:r>
            <a:endParaRPr lang="en-US" sz="1000" dirty="0"/>
          </a:p>
        </p:txBody>
      </p:sp>
      <p:sp>
        <p:nvSpPr>
          <p:cNvPr id="10" name="Shape 7"/>
          <p:cNvSpPr/>
          <p:nvPr/>
        </p:nvSpPr>
        <p:spPr>
          <a:xfrm>
            <a:off x="2304288" y="2514600"/>
            <a:ext cx="603504" cy="603504"/>
          </a:xfrm>
          <a:prstGeom prst="ellipse">
            <a:avLst/>
          </a:prstGeom>
          <a:solidFill>
            <a:srgbClr val="059669"/>
          </a:solidFill>
          <a:ln w="254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2459736" y="2670048"/>
            <a:ext cx="292608" cy="292608"/>
          </a:xfrm>
          <a:prstGeom prst="rect">
            <a:avLst/>
          </a:prstGeom>
        </p:spPr>
      </p:pic>
      <p:sp>
        <p:nvSpPr>
          <p:cNvPr id="12" name="Text 8"/>
          <p:cNvSpPr/>
          <p:nvPr/>
        </p:nvSpPr>
        <p:spPr>
          <a:xfrm>
            <a:off x="192024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Truck</a:t>
            </a:r>
            <a:endParaRPr lang="en-US" sz="1200" dirty="0"/>
          </a:p>
        </p:txBody>
      </p:sp>
      <p:sp>
        <p:nvSpPr>
          <p:cNvPr id="13" name="Text 9"/>
          <p:cNvSpPr/>
          <p:nvPr/>
        </p:nvSpPr>
        <p:spPr>
          <a:xfrm>
            <a:off x="192024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to boatyard</a:t>
            </a:r>
            <a:endParaRPr lang="en-US" sz="1000" dirty="0"/>
          </a:p>
        </p:txBody>
      </p:sp>
      <p:sp>
        <p:nvSpPr>
          <p:cNvPr id="14" name="Shape 10"/>
          <p:cNvSpPr/>
          <p:nvPr/>
        </p:nvSpPr>
        <p:spPr>
          <a:xfrm>
            <a:off x="4041648" y="2514600"/>
            <a:ext cx="603504" cy="603504"/>
          </a:xfrm>
          <a:prstGeom prst="ellipse">
            <a:avLst/>
          </a:prstGeom>
          <a:solidFill>
            <a:srgbClr val="059669"/>
          </a:solidFill>
          <a:ln w="25400">
            <a:solidFill>
              <a:srgbClr val="FFFFFF"/>
            </a:solidFill>
            <a:prstDash val="solid"/>
          </a:ln>
        </p:spPr>
      </p:sp>
      <p:pic>
        <p:nvPicPr>
          <p:cNvPr id="15" name="Image 2" descr="preencoded.png">    </p:cNvPr>
          <p:cNvPicPr>
            <a:picLocks noChangeAspect="1"/>
          </p:cNvPicPr>
          <p:nvPr/>
        </p:nvPicPr>
        <p:blipFill>
          <a:blip r:embed="rId3"/>
          <a:stretch>
            <a:fillRect/>
          </a:stretch>
        </p:blipFill>
        <p:spPr>
          <a:xfrm>
            <a:off x="4197096" y="2670048"/>
            <a:ext cx="292608" cy="292608"/>
          </a:xfrm>
          <a:prstGeom prst="rect">
            <a:avLst/>
          </a:prstGeom>
        </p:spPr>
      </p:pic>
      <p:sp>
        <p:nvSpPr>
          <p:cNvPr id="16" name="Text 11"/>
          <p:cNvSpPr/>
          <p:nvPr/>
        </p:nvSpPr>
        <p:spPr>
          <a:xfrm>
            <a:off x="365760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Boatyard</a:t>
            </a:r>
            <a:endParaRPr lang="en-US" sz="1200" dirty="0"/>
          </a:p>
        </p:txBody>
      </p:sp>
      <p:sp>
        <p:nvSpPr>
          <p:cNvPr id="17" name="Text 12"/>
          <p:cNvSpPr/>
          <p:nvPr/>
        </p:nvSpPr>
        <p:spPr>
          <a:xfrm>
            <a:off x="365760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to vessel</a:t>
            </a:r>
            <a:endParaRPr lang="en-US" sz="1000" dirty="0"/>
          </a:p>
        </p:txBody>
      </p:sp>
      <p:sp>
        <p:nvSpPr>
          <p:cNvPr id="18" name="Shape 13"/>
          <p:cNvSpPr/>
          <p:nvPr/>
        </p:nvSpPr>
        <p:spPr>
          <a:xfrm>
            <a:off x="5779008" y="2514600"/>
            <a:ext cx="603504" cy="603504"/>
          </a:xfrm>
          <a:prstGeom prst="ellipse">
            <a:avLst/>
          </a:prstGeom>
          <a:solidFill>
            <a:srgbClr val="059669"/>
          </a:solidFill>
          <a:ln w="25400">
            <a:solidFill>
              <a:srgbClr val="FFFFFF"/>
            </a:solidFill>
            <a:prstDash val="solid"/>
          </a:ln>
        </p:spPr>
      </p:sp>
      <p:pic>
        <p:nvPicPr>
          <p:cNvPr id="19" name="Image 3" descr="preencoded.png">    </p:cNvPr>
          <p:cNvPicPr>
            <a:picLocks noChangeAspect="1"/>
          </p:cNvPicPr>
          <p:nvPr/>
        </p:nvPicPr>
        <p:blipFill>
          <a:blip r:embed="rId4"/>
          <a:stretch>
            <a:fillRect/>
          </a:stretch>
        </p:blipFill>
        <p:spPr>
          <a:xfrm>
            <a:off x="5934456" y="2670048"/>
            <a:ext cx="292608" cy="292608"/>
          </a:xfrm>
          <a:prstGeom prst="rect">
            <a:avLst/>
          </a:prstGeom>
        </p:spPr>
      </p:pic>
      <p:sp>
        <p:nvSpPr>
          <p:cNvPr id="20" name="Text 14"/>
          <p:cNvSpPr/>
          <p:nvPr/>
        </p:nvSpPr>
        <p:spPr>
          <a:xfrm>
            <a:off x="539496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Ocean</a:t>
            </a:r>
            <a:endParaRPr lang="en-US" sz="1200" dirty="0"/>
          </a:p>
        </p:txBody>
      </p:sp>
      <p:sp>
        <p:nvSpPr>
          <p:cNvPr id="21" name="Text 15"/>
          <p:cNvSpPr/>
          <p:nvPr/>
        </p:nvSpPr>
        <p:spPr>
          <a:xfrm>
            <a:off x="539496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crossing</a:t>
            </a:r>
            <a:endParaRPr lang="en-US" sz="1000" dirty="0"/>
          </a:p>
        </p:txBody>
      </p:sp>
      <p:sp>
        <p:nvSpPr>
          <p:cNvPr id="22" name="Shape 16"/>
          <p:cNvSpPr/>
          <p:nvPr/>
        </p:nvSpPr>
        <p:spPr>
          <a:xfrm>
            <a:off x="7516368" y="2514600"/>
            <a:ext cx="603504" cy="603504"/>
          </a:xfrm>
          <a:prstGeom prst="ellipse">
            <a:avLst/>
          </a:prstGeom>
          <a:solidFill>
            <a:srgbClr val="059669"/>
          </a:solidFill>
          <a:ln w="25400">
            <a:solidFill>
              <a:srgbClr val="FFFFFF"/>
            </a:solidFill>
            <a:prstDash val="solid"/>
          </a:ln>
        </p:spPr>
      </p:sp>
      <p:pic>
        <p:nvPicPr>
          <p:cNvPr id="23" name="Image 4" descr="preencoded.png">    </p:cNvPr>
          <p:cNvPicPr>
            <a:picLocks noChangeAspect="1"/>
          </p:cNvPicPr>
          <p:nvPr/>
        </p:nvPicPr>
        <p:blipFill>
          <a:blip r:embed="rId5"/>
          <a:stretch>
            <a:fillRect/>
          </a:stretch>
        </p:blipFill>
        <p:spPr>
          <a:xfrm>
            <a:off x="7671816" y="2670048"/>
            <a:ext cx="292608" cy="292608"/>
          </a:xfrm>
          <a:prstGeom prst="rect">
            <a:avLst/>
          </a:prstGeom>
        </p:spPr>
      </p:pic>
      <p:sp>
        <p:nvSpPr>
          <p:cNvPr id="24" name="Text 17"/>
          <p:cNvSpPr/>
          <p:nvPr/>
        </p:nvSpPr>
        <p:spPr>
          <a:xfrm>
            <a:off x="713232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Port</a:t>
            </a:r>
            <a:endParaRPr lang="en-US" sz="1200" dirty="0"/>
          </a:p>
        </p:txBody>
      </p:sp>
      <p:sp>
        <p:nvSpPr>
          <p:cNvPr id="25" name="Text 18"/>
          <p:cNvSpPr/>
          <p:nvPr/>
        </p:nvSpPr>
        <p:spPr>
          <a:xfrm>
            <a:off x="713232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arrival</a:t>
            </a:r>
            <a:endParaRPr lang="en-US" sz="1000" dirty="0"/>
          </a:p>
        </p:txBody>
      </p:sp>
      <p:sp>
        <p:nvSpPr>
          <p:cNvPr id="26" name="Shape 19"/>
          <p:cNvSpPr/>
          <p:nvPr/>
        </p:nvSpPr>
        <p:spPr>
          <a:xfrm>
            <a:off x="9253728" y="2514600"/>
            <a:ext cx="603504" cy="603504"/>
          </a:xfrm>
          <a:prstGeom prst="ellipse">
            <a:avLst/>
          </a:prstGeom>
          <a:solidFill>
            <a:srgbClr val="B45309"/>
          </a:solidFill>
          <a:ln w="25400">
            <a:solidFill>
              <a:srgbClr val="FFFFFF"/>
            </a:solidFill>
            <a:prstDash val="solid"/>
          </a:ln>
        </p:spPr>
      </p:sp>
      <p:pic>
        <p:nvPicPr>
          <p:cNvPr id="27" name="Image 5" descr="preencoded.png">    </p:cNvPr>
          <p:cNvPicPr>
            <a:picLocks noChangeAspect="1"/>
          </p:cNvPicPr>
          <p:nvPr/>
        </p:nvPicPr>
        <p:blipFill>
          <a:blip r:embed="rId6"/>
          <a:stretch>
            <a:fillRect/>
          </a:stretch>
        </p:blipFill>
        <p:spPr>
          <a:xfrm>
            <a:off x="9409176" y="2670048"/>
            <a:ext cx="292608" cy="292608"/>
          </a:xfrm>
          <a:prstGeom prst="rect">
            <a:avLst/>
          </a:prstGeom>
        </p:spPr>
      </p:pic>
      <p:sp>
        <p:nvSpPr>
          <p:cNvPr id="28" name="Text 20"/>
          <p:cNvSpPr/>
          <p:nvPr/>
        </p:nvSpPr>
        <p:spPr>
          <a:xfrm>
            <a:off x="886968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Customs</a:t>
            </a:r>
            <a:endParaRPr lang="en-US" sz="1200" dirty="0"/>
          </a:p>
        </p:txBody>
      </p:sp>
      <p:sp>
        <p:nvSpPr>
          <p:cNvPr id="29" name="Text 21"/>
          <p:cNvSpPr/>
          <p:nvPr/>
        </p:nvSpPr>
        <p:spPr>
          <a:xfrm>
            <a:off x="886968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docs + value</a:t>
            </a:r>
            <a:endParaRPr lang="en-US" sz="1000" dirty="0"/>
          </a:p>
        </p:txBody>
      </p:sp>
      <p:sp>
        <p:nvSpPr>
          <p:cNvPr id="30" name="Shape 22"/>
          <p:cNvSpPr/>
          <p:nvPr/>
        </p:nvSpPr>
        <p:spPr>
          <a:xfrm>
            <a:off x="10991088" y="2514600"/>
            <a:ext cx="603504" cy="603504"/>
          </a:xfrm>
          <a:prstGeom prst="ellipse">
            <a:avLst/>
          </a:prstGeom>
          <a:solidFill>
            <a:srgbClr val="059669"/>
          </a:solidFill>
          <a:ln w="25400">
            <a:solidFill>
              <a:srgbClr val="FFFFFF"/>
            </a:solidFill>
            <a:prstDash val="solid"/>
          </a:ln>
        </p:spPr>
      </p:sp>
      <p:pic>
        <p:nvPicPr>
          <p:cNvPr id="31" name="Image 6" descr="preencoded.png">    </p:cNvPr>
          <p:cNvPicPr>
            <a:picLocks noChangeAspect="1"/>
          </p:cNvPicPr>
          <p:nvPr/>
        </p:nvPicPr>
        <p:blipFill>
          <a:blip r:embed="rId7"/>
          <a:stretch>
            <a:fillRect/>
          </a:stretch>
        </p:blipFill>
        <p:spPr>
          <a:xfrm>
            <a:off x="11146536" y="2670048"/>
            <a:ext cx="292608" cy="292608"/>
          </a:xfrm>
          <a:prstGeom prst="rect">
            <a:avLst/>
          </a:prstGeom>
        </p:spPr>
      </p:pic>
      <p:sp>
        <p:nvSpPr>
          <p:cNvPr id="32" name="Text 23"/>
          <p:cNvSpPr/>
          <p:nvPr/>
        </p:nvSpPr>
        <p:spPr>
          <a:xfrm>
            <a:off x="1060704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Customer</a:t>
            </a:r>
            <a:endParaRPr lang="en-US" sz="1200" dirty="0"/>
          </a:p>
        </p:txBody>
      </p:sp>
      <p:sp>
        <p:nvSpPr>
          <p:cNvPr id="33" name="Text 24"/>
          <p:cNvSpPr/>
          <p:nvPr/>
        </p:nvSpPr>
        <p:spPr>
          <a:xfrm>
            <a:off x="1060704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delivery</a:t>
            </a:r>
            <a:endParaRPr lang="en-US" sz="1000" dirty="0"/>
          </a:p>
        </p:txBody>
      </p:sp>
      <p:sp>
        <p:nvSpPr>
          <p:cNvPr id="34" name="Text 25"/>
          <p:cNvSpPr/>
          <p:nvPr/>
        </p:nvSpPr>
        <p:spPr>
          <a:xfrm>
            <a:off x="2194560" y="3977640"/>
            <a:ext cx="7772400" cy="457200"/>
          </a:xfrm>
          <a:prstGeom prst="leftArrow">
            <a:avLst/>
          </a:prstGeom>
          <a:solidFill>
            <a:srgbClr val="FEF3C7"/>
          </a:solidFill>
          <a:ln/>
        </p:spPr>
        <p:txBody>
          <a:bodyPr wrap="square" rtlCol="0" anchor="ctr"/>
          <a:lstStyle/>
          <a:p>
            <a:pPr algn="ctr" indent="0" marL="0">
              <a:buNone/>
            </a:pPr>
            <a:r>
              <a:rPr lang="en-US" sz="1300" b="1" dirty="0">
                <a:solidFill>
                  <a:srgbClr val="B45309"/>
                </a:solidFill>
                <a:latin typeface="Calibri" pitchFamily="34" charset="0"/>
                <a:ea typeface="Calibri" pitchFamily="34" charset="-122"/>
                <a:cs typeface="Calibri" pitchFamily="34" charset="-120"/>
              </a:rPr>
              <a:t>RMA returns retrace the same chain — same transaction ID, reversed</a:t>
            </a:r>
            <a:endParaRPr lang="en-US" sz="1300" dirty="0"/>
          </a:p>
        </p:txBody>
      </p:sp>
      <p:sp>
        <p:nvSpPr>
          <p:cNvPr id="35" name="Shape 26"/>
          <p:cNvSpPr/>
          <p:nvPr/>
        </p:nvSpPr>
        <p:spPr>
          <a:xfrm>
            <a:off x="548640"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6" name="Text 27"/>
          <p:cNvSpPr/>
          <p:nvPr/>
        </p:nvSpPr>
        <p:spPr>
          <a:xfrm>
            <a:off x="804672"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Scan + questionnaire</a:t>
            </a:r>
            <a:endParaRPr lang="en-US" sz="1450" dirty="0"/>
          </a:p>
        </p:txBody>
      </p:sp>
      <p:sp>
        <p:nvSpPr>
          <p:cNvPr id="37" name="Text 28"/>
          <p:cNvSpPr/>
          <p:nvPr/>
        </p:nvSpPr>
        <p:spPr>
          <a:xfrm>
            <a:off x="804672"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Internal use or customer sale — the “why” is captured at the shelf, before the unit leaves.</a:t>
            </a:r>
            <a:endParaRPr lang="en-US" sz="1150" dirty="0"/>
          </a:p>
        </p:txBody>
      </p:sp>
      <p:sp>
        <p:nvSpPr>
          <p:cNvPr id="38" name="Shape 29"/>
          <p:cNvSpPr/>
          <p:nvPr/>
        </p:nvSpPr>
        <p:spPr>
          <a:xfrm>
            <a:off x="4370832"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9" name="Text 30"/>
          <p:cNvSpPr/>
          <p:nvPr/>
        </p:nvSpPr>
        <p:spPr>
          <a:xfrm>
            <a:off x="4626864"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Dropdown-simple hand-offs</a:t>
            </a:r>
            <a:endParaRPr lang="en-US" sz="1450" dirty="0"/>
          </a:p>
        </p:txBody>
      </p:sp>
      <p:sp>
        <p:nvSpPr>
          <p:cNvPr id="40" name="Text 31"/>
          <p:cNvSpPr/>
          <p:nvPr/>
        </p:nvSpPr>
        <p:spPr>
          <a:xfrm>
            <a:off x="4626864"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Type, vendor, location, transaction date, documents. A truck driver can log a leg in 15 seconds.</a:t>
            </a:r>
            <a:endParaRPr lang="en-US" sz="1150" dirty="0"/>
          </a:p>
        </p:txBody>
      </p:sp>
      <p:sp>
        <p:nvSpPr>
          <p:cNvPr id="41" name="Shape 32"/>
          <p:cNvSpPr/>
          <p:nvPr/>
        </p:nvSpPr>
        <p:spPr>
          <a:xfrm>
            <a:off x="8193024"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2" name="Text 33"/>
          <p:cNvSpPr/>
          <p:nvPr/>
        </p:nvSpPr>
        <p:spPr>
          <a:xfrm>
            <a:off x="8449056"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Customs doc engine</a:t>
            </a:r>
            <a:endParaRPr lang="en-US" sz="1450" dirty="0"/>
          </a:p>
        </p:txBody>
      </p:sp>
      <p:sp>
        <p:nvSpPr>
          <p:cNvPr id="43" name="Text 34"/>
          <p:cNvSpPr/>
          <p:nvPr/>
        </p:nvSpPr>
        <p:spPr>
          <a:xfrm>
            <a:off x="8449056"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Country-by-country checklists plus a valuation worksheet for the customs-price-vs-sales-price gap.</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One $1M shipment, door to door.</a:t>
            </a:r>
            <a:endParaRPr lang="en-US" sz="3400" dirty="0"/>
          </a:p>
        </p:txBody>
      </p:sp>
      <p:sp>
        <p:nvSpPr>
          <p:cNvPr id="3" name="Text 1"/>
          <p:cNvSpPr/>
          <p:nvPr/>
        </p:nvSpPr>
        <p:spPr>
          <a:xfrm>
            <a:off x="548640" y="1115568"/>
            <a:ext cx="1069848" cy="347472"/>
          </a:xfrm>
          <a:prstGeom prst="roundRect">
            <a:avLst>
              <a:gd name="adj" fmla="val 50000"/>
            </a:avLst>
          </a:prstGeom>
          <a:solidFill>
            <a:srgbClr val="0F172A"/>
          </a:solid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$1,000,000</a:t>
            </a:r>
            <a:endParaRPr lang="en-US" sz="1200" dirty="0"/>
          </a:p>
        </p:txBody>
      </p:sp>
      <p:sp>
        <p:nvSpPr>
          <p:cNvPr id="4" name="Text 2"/>
          <p:cNvSpPr/>
          <p:nvPr/>
        </p:nvSpPr>
        <p:spPr>
          <a:xfrm>
            <a:off x="1783080" y="1115568"/>
            <a:ext cx="1069848"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Perishable</a:t>
            </a:r>
            <a:endParaRPr lang="en-US" sz="1200" dirty="0"/>
          </a:p>
        </p:txBody>
      </p:sp>
      <p:sp>
        <p:nvSpPr>
          <p:cNvPr id="5" name="Text 3"/>
          <p:cNvSpPr/>
          <p:nvPr/>
        </p:nvSpPr>
        <p:spPr>
          <a:xfrm>
            <a:off x="3017520" y="1115568"/>
            <a:ext cx="1458468"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−2 °C + dry ice</a:t>
            </a:r>
            <a:endParaRPr lang="en-US" sz="1200" dirty="0"/>
          </a:p>
        </p:txBody>
      </p:sp>
      <p:sp>
        <p:nvSpPr>
          <p:cNvPr id="6" name="Text 4"/>
          <p:cNvSpPr/>
          <p:nvPr/>
        </p:nvSpPr>
        <p:spPr>
          <a:xfrm>
            <a:off x="4640580" y="1115568"/>
            <a:ext cx="2157984"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FOB destination — Geneva</a:t>
            </a:r>
            <a:endParaRPr lang="en-US" sz="1200" dirty="0"/>
          </a:p>
        </p:txBody>
      </p:sp>
      <p:sp>
        <p:nvSpPr>
          <p:cNvPr id="7" name="Text 5"/>
          <p:cNvSpPr/>
          <p:nvPr/>
        </p:nvSpPr>
        <p:spPr>
          <a:xfrm>
            <a:off x="6963156" y="1115568"/>
            <a:ext cx="1243584"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ourier New" pitchFamily="34" charset="0"/>
                <a:ea typeface="Courier New" pitchFamily="34" charset="-122"/>
                <a:cs typeface="Courier New" pitchFamily="34" charset="-120"/>
              </a:rPr>
              <a:t>TX-20499</a:t>
            </a:r>
            <a:endParaRPr lang="en-US" sz="1200" dirty="0"/>
          </a:p>
        </p:txBody>
      </p:sp>
      <p:sp>
        <p:nvSpPr>
          <p:cNvPr id="8" name="Shape 6"/>
          <p:cNvSpPr/>
          <p:nvPr/>
        </p:nvSpPr>
        <p:spPr>
          <a:xfrm>
            <a:off x="1188720" y="2450592"/>
            <a:ext cx="9784080" cy="0"/>
          </a:xfrm>
          <a:prstGeom prst="line">
            <a:avLst/>
          </a:prstGeom>
          <a:noFill/>
          <a:ln w="31750">
            <a:solidFill>
              <a:srgbClr val="059669"/>
            </a:solidFill>
            <a:prstDash val="solid"/>
          </a:ln>
        </p:spPr>
      </p:sp>
      <p:sp>
        <p:nvSpPr>
          <p:cNvPr id="9" name="Shape 7"/>
          <p:cNvSpPr/>
          <p:nvPr/>
        </p:nvSpPr>
        <p:spPr>
          <a:xfrm>
            <a:off x="612648" y="2148840"/>
            <a:ext cx="603504" cy="603504"/>
          </a:xfrm>
          <a:prstGeom prst="ellipse">
            <a:avLst/>
          </a:prstGeom>
          <a:solidFill>
            <a:srgbClr val="059669"/>
          </a:solidFill>
          <a:ln w="254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768096" y="2304288"/>
            <a:ext cx="292608" cy="292608"/>
          </a:xfrm>
          <a:prstGeom prst="rect">
            <a:avLst/>
          </a:prstGeom>
        </p:spPr>
      </p:pic>
      <p:sp>
        <p:nvSpPr>
          <p:cNvPr id="11" name="Text 8"/>
          <p:cNvSpPr/>
          <p:nvPr/>
        </p:nvSpPr>
        <p:spPr>
          <a:xfrm>
            <a:off x="45720"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Palo Alto</a:t>
            </a:r>
            <a:endParaRPr lang="en-US" sz="1300" dirty="0"/>
          </a:p>
        </p:txBody>
      </p:sp>
      <p:sp>
        <p:nvSpPr>
          <p:cNvPr id="12" name="Text 9"/>
          <p:cNvSpPr/>
          <p:nvPr/>
        </p:nvSpPr>
        <p:spPr>
          <a:xfrm>
            <a:off x="45720"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Cold Lab pick — reefer + dry ice</a:t>
            </a:r>
            <a:endParaRPr lang="en-US" sz="950" dirty="0"/>
          </a:p>
        </p:txBody>
      </p:sp>
      <p:sp>
        <p:nvSpPr>
          <p:cNvPr id="13" name="Shape 10"/>
          <p:cNvSpPr/>
          <p:nvPr/>
        </p:nvSpPr>
        <p:spPr>
          <a:xfrm>
            <a:off x="2679192" y="2148840"/>
            <a:ext cx="603504" cy="603504"/>
          </a:xfrm>
          <a:prstGeom prst="ellipse">
            <a:avLst/>
          </a:prstGeom>
          <a:solidFill>
            <a:srgbClr val="059669"/>
          </a:solidFill>
          <a:ln w="254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2834640" y="2304288"/>
            <a:ext cx="292608" cy="292608"/>
          </a:xfrm>
          <a:prstGeom prst="rect">
            <a:avLst/>
          </a:prstGeom>
        </p:spPr>
      </p:pic>
      <p:sp>
        <p:nvSpPr>
          <p:cNvPr id="15" name="Text 11"/>
          <p:cNvSpPr/>
          <p:nvPr/>
        </p:nvSpPr>
        <p:spPr>
          <a:xfrm>
            <a:off x="2112264"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New York</a:t>
            </a:r>
            <a:endParaRPr lang="en-US" sz="1300" dirty="0"/>
          </a:p>
        </p:txBody>
      </p:sp>
      <p:sp>
        <p:nvSpPr>
          <p:cNvPr id="16" name="Text 12"/>
          <p:cNvSpPr/>
          <p:nvPr/>
        </p:nvSpPr>
        <p:spPr>
          <a:xfrm>
            <a:off x="2112264"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Reefer truck · re-ice · partner API</a:t>
            </a:r>
            <a:endParaRPr lang="en-US" sz="950" dirty="0"/>
          </a:p>
        </p:txBody>
      </p:sp>
      <p:sp>
        <p:nvSpPr>
          <p:cNvPr id="17" name="Shape 13"/>
          <p:cNvSpPr/>
          <p:nvPr/>
        </p:nvSpPr>
        <p:spPr>
          <a:xfrm>
            <a:off x="4745736" y="2148840"/>
            <a:ext cx="603504" cy="603504"/>
          </a:xfrm>
          <a:prstGeom prst="ellipse">
            <a:avLst/>
          </a:prstGeom>
          <a:solidFill>
            <a:srgbClr val="059669"/>
          </a:solidFill>
          <a:ln w="254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4901184" y="2304288"/>
            <a:ext cx="292608" cy="292608"/>
          </a:xfrm>
          <a:prstGeom prst="rect">
            <a:avLst/>
          </a:prstGeom>
        </p:spPr>
      </p:pic>
      <p:sp>
        <p:nvSpPr>
          <p:cNvPr id="19" name="Text 14"/>
          <p:cNvSpPr/>
          <p:nvPr/>
        </p:nvSpPr>
        <p:spPr>
          <a:xfrm>
            <a:off x="4178808"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Atlantic</a:t>
            </a:r>
            <a:endParaRPr lang="en-US" sz="1300" dirty="0"/>
          </a:p>
        </p:txBody>
      </p:sp>
      <p:sp>
        <p:nvSpPr>
          <p:cNvPr id="20" name="Text 15"/>
          <p:cNvSpPr/>
          <p:nvPr/>
        </p:nvSpPr>
        <p:spPr>
          <a:xfrm>
            <a:off x="4178808"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MV Crown Atlantic — hold at −2 °C</a:t>
            </a:r>
            <a:endParaRPr lang="en-US" sz="950" dirty="0"/>
          </a:p>
        </p:txBody>
      </p:sp>
      <p:sp>
        <p:nvSpPr>
          <p:cNvPr id="21" name="Shape 16"/>
          <p:cNvSpPr/>
          <p:nvPr/>
        </p:nvSpPr>
        <p:spPr>
          <a:xfrm>
            <a:off x="6812280" y="2148840"/>
            <a:ext cx="603504" cy="603504"/>
          </a:xfrm>
          <a:prstGeom prst="ellipse">
            <a:avLst/>
          </a:prstGeom>
          <a:solidFill>
            <a:srgbClr val="B45309"/>
          </a:solidFill>
          <a:ln w="25400">
            <a:solidFill>
              <a:srgbClr val="FFFFFF"/>
            </a:solidFill>
            <a:prstDash val="solid"/>
          </a:ln>
        </p:spPr>
      </p:sp>
      <p:pic>
        <p:nvPicPr>
          <p:cNvPr id="22" name="Image 3" descr="preencoded.png">    </p:cNvPr>
          <p:cNvPicPr>
            <a:picLocks noChangeAspect="1"/>
          </p:cNvPicPr>
          <p:nvPr/>
        </p:nvPicPr>
        <p:blipFill>
          <a:blip r:embed="rId4"/>
          <a:stretch>
            <a:fillRect/>
          </a:stretch>
        </p:blipFill>
        <p:spPr>
          <a:xfrm>
            <a:off x="6967728" y="2304288"/>
            <a:ext cx="292608" cy="292608"/>
          </a:xfrm>
          <a:prstGeom prst="rect">
            <a:avLst/>
          </a:prstGeom>
        </p:spPr>
      </p:pic>
      <p:sp>
        <p:nvSpPr>
          <p:cNvPr id="23" name="Text 17"/>
          <p:cNvSpPr/>
          <p:nvPr/>
        </p:nvSpPr>
        <p:spPr>
          <a:xfrm>
            <a:off x="6245352"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UK</a:t>
            </a:r>
            <a:endParaRPr lang="en-US" sz="1300" dirty="0"/>
          </a:p>
        </p:txBody>
      </p:sp>
      <p:sp>
        <p:nvSpPr>
          <p:cNvPr id="24" name="Text 18"/>
          <p:cNvSpPr/>
          <p:nvPr/>
        </p:nvSpPr>
        <p:spPr>
          <a:xfrm>
            <a:off x="6245352"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Southampton T1 transit + QR scan</a:t>
            </a:r>
            <a:endParaRPr lang="en-US" sz="950" dirty="0"/>
          </a:p>
        </p:txBody>
      </p:sp>
      <p:sp>
        <p:nvSpPr>
          <p:cNvPr id="25" name="Shape 19"/>
          <p:cNvSpPr/>
          <p:nvPr/>
        </p:nvSpPr>
        <p:spPr>
          <a:xfrm>
            <a:off x="8878824" y="2148840"/>
            <a:ext cx="603504" cy="603504"/>
          </a:xfrm>
          <a:prstGeom prst="ellipse">
            <a:avLst/>
          </a:prstGeom>
          <a:solidFill>
            <a:srgbClr val="B45309"/>
          </a:solidFill>
          <a:ln w="25400">
            <a:solidFill>
              <a:srgbClr val="FFFFFF"/>
            </a:solidFill>
            <a:prstDash val="solid"/>
          </a:ln>
        </p:spPr>
      </p:sp>
      <p:pic>
        <p:nvPicPr>
          <p:cNvPr id="26" name="Image 4" descr="preencoded.png">    </p:cNvPr>
          <p:cNvPicPr>
            <a:picLocks noChangeAspect="1"/>
          </p:cNvPicPr>
          <p:nvPr/>
        </p:nvPicPr>
        <p:blipFill>
          <a:blip r:embed="rId5"/>
          <a:stretch>
            <a:fillRect/>
          </a:stretch>
        </p:blipFill>
        <p:spPr>
          <a:xfrm>
            <a:off x="9034272" y="2304288"/>
            <a:ext cx="292608" cy="292608"/>
          </a:xfrm>
          <a:prstGeom prst="rect">
            <a:avLst/>
          </a:prstGeom>
        </p:spPr>
      </p:pic>
      <p:sp>
        <p:nvSpPr>
          <p:cNvPr id="27" name="Text 20"/>
          <p:cNvSpPr/>
          <p:nvPr/>
        </p:nvSpPr>
        <p:spPr>
          <a:xfrm>
            <a:off x="8311896"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Poland</a:t>
            </a:r>
            <a:endParaRPr lang="en-US" sz="1300" dirty="0"/>
          </a:p>
        </p:txBody>
      </p:sp>
      <p:sp>
        <p:nvSpPr>
          <p:cNvPr id="28" name="Text 21"/>
          <p:cNvSpPr/>
          <p:nvPr/>
        </p:nvSpPr>
        <p:spPr>
          <a:xfrm>
            <a:off x="8311896"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Gdansk EU entry · customs · re-ice</a:t>
            </a:r>
            <a:endParaRPr lang="en-US" sz="950" dirty="0"/>
          </a:p>
        </p:txBody>
      </p:sp>
      <p:sp>
        <p:nvSpPr>
          <p:cNvPr id="29" name="Shape 22"/>
          <p:cNvSpPr/>
          <p:nvPr/>
        </p:nvSpPr>
        <p:spPr>
          <a:xfrm>
            <a:off x="10945368" y="2148840"/>
            <a:ext cx="603504" cy="603504"/>
          </a:xfrm>
          <a:prstGeom prst="ellipse">
            <a:avLst/>
          </a:prstGeom>
          <a:solidFill>
            <a:srgbClr val="059669"/>
          </a:solidFill>
          <a:ln w="25400">
            <a:solidFill>
              <a:srgbClr val="FFFFFF"/>
            </a:solidFill>
            <a:prstDash val="solid"/>
          </a:ln>
        </p:spPr>
      </p:sp>
      <p:pic>
        <p:nvPicPr>
          <p:cNvPr id="30" name="Image 5" descr="preencoded.png">    </p:cNvPr>
          <p:cNvPicPr>
            <a:picLocks noChangeAspect="1"/>
          </p:cNvPicPr>
          <p:nvPr/>
        </p:nvPicPr>
        <p:blipFill>
          <a:blip r:embed="rId6"/>
          <a:stretch>
            <a:fillRect/>
          </a:stretch>
        </p:blipFill>
        <p:spPr>
          <a:xfrm>
            <a:off x="11100816" y="2304288"/>
            <a:ext cx="292608" cy="292608"/>
          </a:xfrm>
          <a:prstGeom prst="rect">
            <a:avLst/>
          </a:prstGeom>
        </p:spPr>
      </p:pic>
      <p:sp>
        <p:nvSpPr>
          <p:cNvPr id="31" name="Text 23"/>
          <p:cNvSpPr/>
          <p:nvPr/>
        </p:nvSpPr>
        <p:spPr>
          <a:xfrm>
            <a:off x="10378440"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Switzerland</a:t>
            </a:r>
            <a:endParaRPr lang="en-US" sz="1300" dirty="0"/>
          </a:p>
        </p:txBody>
      </p:sp>
      <p:sp>
        <p:nvSpPr>
          <p:cNvPr id="32" name="Text 24"/>
          <p:cNvSpPr/>
          <p:nvPr/>
        </p:nvSpPr>
        <p:spPr>
          <a:xfrm>
            <a:off x="10378440"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Geneva e-dec — revenue recognizes</a:t>
            </a:r>
            <a:endParaRPr lang="en-US" sz="950" dirty="0"/>
          </a:p>
        </p:txBody>
      </p:sp>
      <p:sp>
        <p:nvSpPr>
          <p:cNvPr id="33" name="Shape 25"/>
          <p:cNvSpPr/>
          <p:nvPr/>
        </p:nvSpPr>
        <p:spPr>
          <a:xfrm>
            <a:off x="548640"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6"/>
          <p:cNvSpPr/>
          <p:nvPr/>
        </p:nvSpPr>
        <p:spPr>
          <a:xfrm>
            <a:off x="804672"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Cold chain proven</a:t>
            </a:r>
            <a:endParaRPr lang="en-US" sz="1400" dirty="0"/>
          </a:p>
        </p:txBody>
      </p:sp>
      <p:sp>
        <p:nvSpPr>
          <p:cNvPr id="35" name="Text 27"/>
          <p:cNvSpPr/>
          <p:nvPr/>
        </p:nvSpPr>
        <p:spPr>
          <a:xfrm>
            <a:off x="804672"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Every hand-off logs a re-icing event and temperature record against TX-20499 — spoilage risk is visible before it becomes a $1M write-off.</a:t>
            </a:r>
            <a:endParaRPr lang="en-US" sz="1100" dirty="0"/>
          </a:p>
        </p:txBody>
      </p:sp>
      <p:sp>
        <p:nvSpPr>
          <p:cNvPr id="36" name="Shape 28"/>
          <p:cNvSpPr/>
          <p:nvPr/>
        </p:nvSpPr>
        <p:spPr>
          <a:xfrm>
            <a:off x="4370832"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7" name="Text 29"/>
          <p:cNvSpPr/>
          <p:nvPr/>
        </p:nvSpPr>
        <p:spPr>
          <a:xfrm>
            <a:off x="4626864"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Three customs regimes, ready early</a:t>
            </a:r>
            <a:endParaRPr lang="en-US" sz="1400" dirty="0"/>
          </a:p>
        </p:txBody>
      </p:sp>
      <p:sp>
        <p:nvSpPr>
          <p:cNvPr id="38" name="Text 30"/>
          <p:cNvSpPr/>
          <p:nvPr/>
        </p:nvSpPr>
        <p:spPr>
          <a:xfrm>
            <a:off x="4626864"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UK transit, EU entry at Gdansk, Swiss import — each checklist prepared before arrival, and EU hand-off QRs keep every carrier on the same transaction ID.</a:t>
            </a:r>
            <a:endParaRPr lang="en-US" sz="1100" dirty="0"/>
          </a:p>
        </p:txBody>
      </p:sp>
      <p:sp>
        <p:nvSpPr>
          <p:cNvPr id="39" name="Shape 31"/>
          <p:cNvSpPr/>
          <p:nvPr/>
        </p:nvSpPr>
        <p:spPr>
          <a:xfrm>
            <a:off x="8193024"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0" name="Text 32"/>
          <p:cNvSpPr/>
          <p:nvPr/>
        </p:nvSpPr>
        <p:spPr>
          <a:xfrm>
            <a:off x="8449056"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Revenue holds until Geneva</a:t>
            </a:r>
            <a:endParaRPr lang="en-US" sz="1400" dirty="0"/>
          </a:p>
        </p:txBody>
      </p:sp>
      <p:sp>
        <p:nvSpPr>
          <p:cNvPr id="41" name="Text 33"/>
          <p:cNvSpPr/>
          <p:nvPr/>
        </p:nvSpPr>
        <p:spPr>
          <a:xfrm>
            <a:off x="8449056"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FOB destination: the $1M recognizes only at customer acceptance with the temperature log. The custody chain is the cutoff evidence.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300" b="1" dirty="0">
                <a:solidFill>
                  <a:srgbClr val="0F172A"/>
                </a:solidFill>
                <a:latin typeface="Calibri" pitchFamily="34" charset="0"/>
                <a:ea typeface="Calibri" pitchFamily="34" charset="-122"/>
                <a:cs typeface="Calibri" pitchFamily="34" charset="-120"/>
              </a:rPr>
              <a:t>The demo: a phone in the warehouse, truth in the ledger.</a:t>
            </a:r>
            <a:endParaRPr lang="en-US" sz="3300" dirty="0"/>
          </a:p>
        </p:txBody>
      </p:sp>
      <p:sp>
        <p:nvSpPr>
          <p:cNvPr id="3" name="Shape 1"/>
          <p:cNvSpPr/>
          <p:nvPr/>
        </p:nvSpPr>
        <p:spPr>
          <a:xfrm>
            <a:off x="50292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Shape 2"/>
          <p:cNvSpPr/>
          <p:nvPr/>
        </p:nvSpPr>
        <p:spPr>
          <a:xfrm>
            <a:off x="722376" y="1645920"/>
            <a:ext cx="512064" cy="512064"/>
          </a:xfrm>
          <a:prstGeom prst="ellipse">
            <a:avLst/>
          </a:prstGeom>
          <a:solidFill>
            <a:srgbClr val="D1FAE5"/>
          </a:solidFill>
          <a:ln/>
        </p:spPr>
      </p:sp>
      <p:pic>
        <p:nvPicPr>
          <p:cNvPr id="5" name="Image 0" descr="preencoded.png">    </p:cNvPr>
          <p:cNvPicPr>
            <a:picLocks noChangeAspect="1"/>
          </p:cNvPicPr>
          <p:nvPr/>
        </p:nvPicPr>
        <p:blipFill>
          <a:blip r:embed="rId1"/>
          <a:stretch>
            <a:fillRect/>
          </a:stretch>
        </p:blipFill>
        <p:spPr>
          <a:xfrm>
            <a:off x="855513" y="1779057"/>
            <a:ext cx="245791" cy="245791"/>
          </a:xfrm>
          <a:prstGeom prst="rect">
            <a:avLst/>
          </a:prstGeom>
        </p:spPr>
      </p:pic>
      <p:sp>
        <p:nvSpPr>
          <p:cNvPr id="6" name="Text 3"/>
          <p:cNvSpPr/>
          <p:nvPr/>
        </p:nvSpPr>
        <p:spPr>
          <a:xfrm>
            <a:off x="72237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Scan</a:t>
            </a:r>
            <a:endParaRPr lang="en-US" sz="1600" dirty="0"/>
          </a:p>
        </p:txBody>
      </p:sp>
      <p:sp>
        <p:nvSpPr>
          <p:cNvPr id="7" name="Text 4"/>
          <p:cNvSpPr/>
          <p:nvPr/>
        </p:nvSpPr>
        <p:spPr>
          <a:xfrm>
            <a:off x="72237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Shipping-label scan + order number + the “why is it leaving?” intake.</a:t>
            </a:r>
            <a:endParaRPr lang="en-US" sz="1050" dirty="0"/>
          </a:p>
        </p:txBody>
      </p:sp>
      <p:sp>
        <p:nvSpPr>
          <p:cNvPr id="8" name="Shape 5"/>
          <p:cNvSpPr/>
          <p:nvPr/>
        </p:nvSpPr>
        <p:spPr>
          <a:xfrm>
            <a:off x="237744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9" name="Shape 6"/>
          <p:cNvSpPr/>
          <p:nvPr/>
        </p:nvSpPr>
        <p:spPr>
          <a:xfrm>
            <a:off x="2596896" y="1645920"/>
            <a:ext cx="512064" cy="512064"/>
          </a:xfrm>
          <a:prstGeom prst="ellipse">
            <a:avLst/>
          </a:prstGeom>
          <a:solidFill>
            <a:srgbClr val="D1FAE5"/>
          </a:solidFill>
          <a:ln/>
        </p:spPr>
      </p:sp>
      <p:pic>
        <p:nvPicPr>
          <p:cNvPr id="10" name="Image 1" descr="preencoded.png">    </p:cNvPr>
          <p:cNvPicPr>
            <a:picLocks noChangeAspect="1"/>
          </p:cNvPicPr>
          <p:nvPr/>
        </p:nvPicPr>
        <p:blipFill>
          <a:blip r:embed="rId2"/>
          <a:stretch>
            <a:fillRect/>
          </a:stretch>
        </p:blipFill>
        <p:spPr>
          <a:xfrm>
            <a:off x="2730033" y="1779057"/>
            <a:ext cx="245791" cy="245791"/>
          </a:xfrm>
          <a:prstGeom prst="rect">
            <a:avLst/>
          </a:prstGeom>
        </p:spPr>
      </p:pic>
      <p:sp>
        <p:nvSpPr>
          <p:cNvPr id="11" name="Text 7"/>
          <p:cNvSpPr/>
          <p:nvPr/>
        </p:nvSpPr>
        <p:spPr>
          <a:xfrm>
            <a:off x="259689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Plan</a:t>
            </a:r>
            <a:endParaRPr lang="en-US" sz="1600" dirty="0"/>
          </a:p>
        </p:txBody>
      </p:sp>
      <p:sp>
        <p:nvSpPr>
          <p:cNvPr id="12" name="Text 8"/>
          <p:cNvSpPr/>
          <p:nvPr/>
        </p:nvSpPr>
        <p:spPr>
          <a:xfrm>
            <a:off x="259689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AI vendor search: ranked routes vs. the need-by date.</a:t>
            </a:r>
            <a:endParaRPr lang="en-US" sz="1050" dirty="0"/>
          </a:p>
        </p:txBody>
      </p:sp>
      <p:sp>
        <p:nvSpPr>
          <p:cNvPr id="13" name="Shape 9"/>
          <p:cNvSpPr/>
          <p:nvPr/>
        </p:nvSpPr>
        <p:spPr>
          <a:xfrm>
            <a:off x="425196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4" name="Shape 10"/>
          <p:cNvSpPr/>
          <p:nvPr/>
        </p:nvSpPr>
        <p:spPr>
          <a:xfrm>
            <a:off x="4471416" y="1645920"/>
            <a:ext cx="512064" cy="512064"/>
          </a:xfrm>
          <a:prstGeom prst="ellipse">
            <a:avLst/>
          </a:prstGeom>
          <a:solidFill>
            <a:srgbClr val="CCFBF1"/>
          </a:solidFill>
          <a:ln/>
        </p:spPr>
      </p:sp>
      <p:pic>
        <p:nvPicPr>
          <p:cNvPr id="15" name="Image 2" descr="preencoded.png">    </p:cNvPr>
          <p:cNvPicPr>
            <a:picLocks noChangeAspect="1"/>
          </p:cNvPicPr>
          <p:nvPr/>
        </p:nvPicPr>
        <p:blipFill>
          <a:blip r:embed="rId3"/>
          <a:stretch>
            <a:fillRect/>
          </a:stretch>
        </p:blipFill>
        <p:spPr>
          <a:xfrm>
            <a:off x="4604553" y="1779057"/>
            <a:ext cx="245791" cy="245791"/>
          </a:xfrm>
          <a:prstGeom prst="rect">
            <a:avLst/>
          </a:prstGeom>
        </p:spPr>
      </p:pic>
      <p:sp>
        <p:nvSpPr>
          <p:cNvPr id="16" name="Text 11"/>
          <p:cNvSpPr/>
          <p:nvPr/>
        </p:nvSpPr>
        <p:spPr>
          <a:xfrm>
            <a:off x="447141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Track</a:t>
            </a:r>
            <a:endParaRPr lang="en-US" sz="1600" dirty="0"/>
          </a:p>
        </p:txBody>
      </p:sp>
      <p:sp>
        <p:nvSpPr>
          <p:cNvPr id="17" name="Text 12"/>
          <p:cNvSpPr/>
          <p:nvPr/>
        </p:nvSpPr>
        <p:spPr>
          <a:xfrm>
            <a:off x="447141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Custody timeline; dropdown hand-offs; one TX ID; EU QR.</a:t>
            </a:r>
            <a:endParaRPr lang="en-US" sz="1050" dirty="0"/>
          </a:p>
        </p:txBody>
      </p:sp>
      <p:sp>
        <p:nvSpPr>
          <p:cNvPr id="18" name="Shape 13"/>
          <p:cNvSpPr/>
          <p:nvPr/>
        </p:nvSpPr>
        <p:spPr>
          <a:xfrm>
            <a:off x="612648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Shape 14"/>
          <p:cNvSpPr/>
          <p:nvPr/>
        </p:nvSpPr>
        <p:spPr>
          <a:xfrm>
            <a:off x="6345936" y="1645920"/>
            <a:ext cx="512064" cy="512064"/>
          </a:xfrm>
          <a:prstGeom prst="ellipse">
            <a:avLst/>
          </a:prstGeom>
          <a:solidFill>
            <a:srgbClr val="FEF3C7"/>
          </a:solidFill>
          <a:ln/>
        </p:spPr>
      </p:sp>
      <p:pic>
        <p:nvPicPr>
          <p:cNvPr id="20" name="Image 3" descr="preencoded.png">    </p:cNvPr>
          <p:cNvPicPr>
            <a:picLocks noChangeAspect="1"/>
          </p:cNvPicPr>
          <p:nvPr/>
        </p:nvPicPr>
        <p:blipFill>
          <a:blip r:embed="rId4"/>
          <a:stretch>
            <a:fillRect/>
          </a:stretch>
        </p:blipFill>
        <p:spPr>
          <a:xfrm>
            <a:off x="6479073" y="1779057"/>
            <a:ext cx="245791" cy="245791"/>
          </a:xfrm>
          <a:prstGeom prst="rect">
            <a:avLst/>
          </a:prstGeom>
        </p:spPr>
      </p:pic>
      <p:sp>
        <p:nvSpPr>
          <p:cNvPr id="21" name="Text 15"/>
          <p:cNvSpPr/>
          <p:nvPr/>
        </p:nvSpPr>
        <p:spPr>
          <a:xfrm>
            <a:off x="634593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Customs</a:t>
            </a:r>
            <a:endParaRPr lang="en-US" sz="1600" dirty="0"/>
          </a:p>
        </p:txBody>
      </p:sp>
      <p:sp>
        <p:nvSpPr>
          <p:cNvPr id="22" name="Text 16"/>
          <p:cNvSpPr/>
          <p:nvPr/>
        </p:nvSpPr>
        <p:spPr>
          <a:xfrm>
            <a:off x="634593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Country doc checklists + declared-vs-invoice valuation.</a:t>
            </a:r>
            <a:endParaRPr lang="en-US" sz="1050" dirty="0"/>
          </a:p>
        </p:txBody>
      </p:sp>
      <p:sp>
        <p:nvSpPr>
          <p:cNvPr id="23" name="Shape 17"/>
          <p:cNvSpPr/>
          <p:nvPr/>
        </p:nvSpPr>
        <p:spPr>
          <a:xfrm>
            <a:off x="800100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Shape 18"/>
          <p:cNvSpPr/>
          <p:nvPr/>
        </p:nvSpPr>
        <p:spPr>
          <a:xfrm>
            <a:off x="8220456" y="1645920"/>
            <a:ext cx="512064" cy="512064"/>
          </a:xfrm>
          <a:prstGeom prst="ellipse">
            <a:avLst/>
          </a:prstGeom>
          <a:solidFill>
            <a:srgbClr val="FFE4E6"/>
          </a:solidFill>
          <a:ln/>
        </p:spPr>
      </p:sp>
      <p:pic>
        <p:nvPicPr>
          <p:cNvPr id="25" name="Image 4" descr="preencoded.png">    </p:cNvPr>
          <p:cNvPicPr>
            <a:picLocks noChangeAspect="1"/>
          </p:cNvPicPr>
          <p:nvPr/>
        </p:nvPicPr>
        <p:blipFill>
          <a:blip r:embed="rId5"/>
          <a:stretch>
            <a:fillRect/>
          </a:stretch>
        </p:blipFill>
        <p:spPr>
          <a:xfrm>
            <a:off x="8353593" y="1779057"/>
            <a:ext cx="245791" cy="245791"/>
          </a:xfrm>
          <a:prstGeom prst="rect">
            <a:avLst/>
          </a:prstGeom>
        </p:spPr>
      </p:pic>
      <p:sp>
        <p:nvSpPr>
          <p:cNvPr id="26" name="Text 19"/>
          <p:cNvSpPr/>
          <p:nvPr/>
        </p:nvSpPr>
        <p:spPr>
          <a:xfrm>
            <a:off x="822045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Flags</a:t>
            </a:r>
            <a:endParaRPr lang="en-US" sz="1600" dirty="0"/>
          </a:p>
        </p:txBody>
      </p:sp>
      <p:sp>
        <p:nvSpPr>
          <p:cNvPr id="27" name="Text 20"/>
          <p:cNvSpPr/>
          <p:nvPr/>
        </p:nvSpPr>
        <p:spPr>
          <a:xfrm>
            <a:off x="822045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AI rev-rec, valuation, count, and tax-timing flags.</a:t>
            </a:r>
            <a:endParaRPr lang="en-US" sz="1050" dirty="0"/>
          </a:p>
        </p:txBody>
      </p:sp>
      <p:sp>
        <p:nvSpPr>
          <p:cNvPr id="28" name="Shape 21"/>
          <p:cNvSpPr/>
          <p:nvPr/>
        </p:nvSpPr>
        <p:spPr>
          <a:xfrm>
            <a:off x="987552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9" name="Shape 22"/>
          <p:cNvSpPr/>
          <p:nvPr/>
        </p:nvSpPr>
        <p:spPr>
          <a:xfrm>
            <a:off x="10094976" y="1645920"/>
            <a:ext cx="512064" cy="512064"/>
          </a:xfrm>
          <a:prstGeom prst="ellipse">
            <a:avLst/>
          </a:prstGeom>
          <a:solidFill>
            <a:srgbClr val="E0F2FE"/>
          </a:solidFill>
          <a:ln/>
        </p:spPr>
      </p:sp>
      <p:pic>
        <p:nvPicPr>
          <p:cNvPr id="30" name="Image 5" descr="preencoded.png">    </p:cNvPr>
          <p:cNvPicPr>
            <a:picLocks noChangeAspect="1"/>
          </p:cNvPicPr>
          <p:nvPr/>
        </p:nvPicPr>
        <p:blipFill>
          <a:blip r:embed="rId6"/>
          <a:stretch>
            <a:fillRect/>
          </a:stretch>
        </p:blipFill>
        <p:spPr>
          <a:xfrm>
            <a:off x="10228113" y="1779057"/>
            <a:ext cx="245791" cy="245791"/>
          </a:xfrm>
          <a:prstGeom prst="rect">
            <a:avLst/>
          </a:prstGeom>
        </p:spPr>
      </p:pic>
      <p:sp>
        <p:nvSpPr>
          <p:cNvPr id="31" name="Text 23"/>
          <p:cNvSpPr/>
          <p:nvPr/>
        </p:nvSpPr>
        <p:spPr>
          <a:xfrm>
            <a:off x="1009497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Audit</a:t>
            </a:r>
            <a:endParaRPr lang="en-US" sz="1600" dirty="0"/>
          </a:p>
        </p:txBody>
      </p:sp>
      <p:sp>
        <p:nvSpPr>
          <p:cNvPr id="32" name="Text 24"/>
          <p:cNvSpPr/>
          <p:nvPr/>
        </p:nvSpPr>
        <p:spPr>
          <a:xfrm>
            <a:off x="1009497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Count snapshot, ledger CSV export, document OCR.</a:t>
            </a:r>
            <a:endParaRPr lang="en-US" sz="1050" dirty="0"/>
          </a:p>
        </p:txBody>
      </p:sp>
      <p:sp>
        <p:nvSpPr>
          <p:cNvPr id="33" name="Shape 25"/>
          <p:cNvSpPr/>
          <p:nvPr/>
        </p:nvSpPr>
        <p:spPr>
          <a:xfrm>
            <a:off x="502920" y="4526280"/>
            <a:ext cx="11183112" cy="1783080"/>
          </a:xfrm>
          <a:prstGeom prst="roundRect">
            <a:avLst>
              <a:gd name="adj" fmla="val 5128"/>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6"/>
          <p:cNvSpPr/>
          <p:nvPr/>
        </p:nvSpPr>
        <p:spPr>
          <a:xfrm>
            <a:off x="868680" y="4718304"/>
            <a:ext cx="4572000" cy="36576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Running now, on stage</a:t>
            </a:r>
            <a:endParaRPr lang="en-US" sz="1500" dirty="0"/>
          </a:p>
        </p:txBody>
      </p:sp>
      <p:sp>
        <p:nvSpPr>
          <p:cNvPr id="35" name="Text 27"/>
          <p:cNvSpPr/>
          <p:nvPr/>
        </p:nvSpPr>
        <p:spPr>
          <a:xfrm>
            <a:off x="868680" y="5084064"/>
            <a:ext cx="10469880" cy="109728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Route and reroute like a rideshare: priorities (fastest · balanced · lowest cost) drive the agent — when a carrier declines, it re-matches the load and the chain still gets its leg. Two profiles: company ops + the carrier add-in, which sees only the shipping transaction.  </a:t>
            </a:r>
            <a:endParaRPr lang="en-US" sz="1150" dirty="0"/>
          </a:p>
          <a:p>
            <a:pPr indent="0" marL="0">
              <a:buNone/>
            </a:pPr>
            <a:r>
              <a:rPr lang="en-US" sz="1150" dirty="0">
                <a:solidFill>
                  <a:srgbClr val="CBD5E1"/>
                </a:solidFill>
                <a:latin typeface="Calibri" pitchFamily="34" charset="0"/>
                <a:ea typeface="Calibri" pitchFamily="34" charset="-122"/>
                <a:cs typeface="Calibri" pitchFamily="34" charset="-120"/>
              </a:rPr>
              <a:t>Every routing stage is clickable — one tap on any stopping point prints its documents as PDF: shipping &amp; receiving docs, customs documents, bill of lading, valuation worksheet.  </a:t>
            </a:r>
            <a:endParaRPr lang="en-US" sz="1150" dirty="0"/>
          </a:p>
          <a:p>
            <a:pPr indent="0" marL="0">
              <a:buNone/>
            </a:pPr>
            <a:r>
              <a:rPr lang="en-US" sz="1150" dirty="0">
                <a:solidFill>
                  <a:srgbClr val="CBD5E1"/>
                </a:solidFill>
                <a:latin typeface="Calibri" pitchFamily="34" charset="0"/>
                <a:ea typeface="Calibri" pitchFamily="34" charset="-122"/>
                <a:cs typeface="Calibri" pitchFamily="34" charset="-120"/>
              </a:rPr>
              <a:t>Responsive web app with a mobile view — vendors open any stage they need from a browser. EN/ES/FR, on-device OCR, EU hand-off QR. No backend, demo-safe offline.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AI reads the custody chain like a controller would.</a:t>
            </a:r>
            <a:endParaRPr lang="en-US" sz="3400" dirty="0"/>
          </a:p>
        </p:txBody>
      </p:sp>
      <p:sp>
        <p:nvSpPr>
          <p:cNvPr id="3" name="Shape 1"/>
          <p:cNvSpPr/>
          <p:nvPr/>
        </p:nvSpPr>
        <p:spPr>
          <a:xfrm>
            <a:off x="548640" y="1298448"/>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777240" y="1481328"/>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5" name="Text 3"/>
          <p:cNvSpPr/>
          <p:nvPr/>
        </p:nvSpPr>
        <p:spPr>
          <a:xfrm>
            <a:off x="1645920" y="1371600"/>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FOB destination + cold chain: $1M recognizes only at Geneva acceptance (ETA Jan 10).</a:t>
            </a:r>
            <a:endParaRPr lang="en-US" sz="1100" dirty="0"/>
          </a:p>
        </p:txBody>
      </p:sp>
      <p:sp>
        <p:nvSpPr>
          <p:cNvPr id="6" name="Text 4"/>
          <p:cNvSpPr/>
          <p:nvPr/>
        </p:nvSpPr>
        <p:spPr>
          <a:xfrm>
            <a:off x="6035040" y="1371600"/>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$1,000,000</a:t>
            </a:r>
            <a:endParaRPr lang="en-US" sz="1250" dirty="0"/>
          </a:p>
        </p:txBody>
      </p:sp>
      <p:sp>
        <p:nvSpPr>
          <p:cNvPr id="7" name="Shape 5"/>
          <p:cNvSpPr/>
          <p:nvPr/>
        </p:nvSpPr>
        <p:spPr>
          <a:xfrm>
            <a:off x="548640" y="2103120"/>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777240" y="2286000"/>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9" name="Text 7"/>
          <p:cNvSpPr/>
          <p:nvPr/>
        </p:nvSpPr>
        <p:spPr>
          <a:xfrm>
            <a:off x="1645920" y="2176272"/>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DAP delivery lands Jan 4 — invoice dated Dec 30. Revenue belongs to FY2027.</a:t>
            </a:r>
            <a:endParaRPr lang="en-US" sz="1100" dirty="0"/>
          </a:p>
        </p:txBody>
      </p:sp>
      <p:sp>
        <p:nvSpPr>
          <p:cNvPr id="10" name="Text 8"/>
          <p:cNvSpPr/>
          <p:nvPr/>
        </p:nvSpPr>
        <p:spPr>
          <a:xfrm>
            <a:off x="6035040" y="2176272"/>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$186,000</a:t>
            </a:r>
            <a:endParaRPr lang="en-US" sz="1250" dirty="0"/>
          </a:p>
        </p:txBody>
      </p:sp>
      <p:sp>
        <p:nvSpPr>
          <p:cNvPr id="11" name="Shape 9"/>
          <p:cNvSpPr/>
          <p:nvPr/>
        </p:nvSpPr>
        <p:spPr>
          <a:xfrm>
            <a:off x="548640" y="2907792"/>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777240" y="3090672"/>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13" name="Text 11"/>
          <p:cNvSpPr/>
          <p:nvPr/>
        </p:nvSpPr>
        <p:spPr>
          <a:xfrm>
            <a:off x="1645920" y="2980944"/>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Customs value (price list) is $39K under the invoice — method must be documented.</a:t>
            </a:r>
            <a:endParaRPr lang="en-US" sz="1100" dirty="0"/>
          </a:p>
        </p:txBody>
      </p:sp>
      <p:sp>
        <p:nvSpPr>
          <p:cNvPr id="14" name="Text 12"/>
          <p:cNvSpPr/>
          <p:nvPr/>
        </p:nvSpPr>
        <p:spPr>
          <a:xfrm>
            <a:off x="6035040" y="2980944"/>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$39,000</a:t>
            </a:r>
            <a:endParaRPr lang="en-US" sz="1250" dirty="0"/>
          </a:p>
        </p:txBody>
      </p:sp>
      <p:sp>
        <p:nvSpPr>
          <p:cNvPr id="15" name="Shape 13"/>
          <p:cNvSpPr/>
          <p:nvPr/>
        </p:nvSpPr>
        <p:spPr>
          <a:xfrm>
            <a:off x="548640" y="3712464"/>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6" name="Text 14"/>
          <p:cNvSpPr/>
          <p:nvPr/>
        </p:nvSpPr>
        <p:spPr>
          <a:xfrm>
            <a:off x="777240" y="3895344"/>
            <a:ext cx="713232" cy="347472"/>
          </a:xfrm>
          <a:prstGeom prst="roundRect">
            <a:avLst>
              <a:gd name="adj" fmla="val 50000"/>
            </a:avLst>
          </a:prstGeom>
          <a:solidFill>
            <a:srgbClr val="FEF3C7"/>
          </a:solidFill>
          <a:ln/>
        </p:spPr>
        <p:txBody>
          <a:bodyPr wrap="square" rtlCol="0" anchor="ctr"/>
          <a:lstStyle/>
          <a:p>
            <a:pPr algn="ctr" indent="0" marL="0">
              <a:buNone/>
            </a:pPr>
            <a:r>
              <a:rPr lang="en-US" sz="1050" b="1" dirty="0">
                <a:solidFill>
                  <a:srgbClr val="B45309"/>
                </a:solidFill>
                <a:latin typeface="Calibri" pitchFamily="34" charset="0"/>
                <a:ea typeface="Calibri" pitchFamily="34" charset="-122"/>
                <a:cs typeface="Calibri" pitchFamily="34" charset="-120"/>
              </a:rPr>
              <a:t>MED</a:t>
            </a:r>
            <a:endParaRPr lang="en-US" sz="1050" dirty="0"/>
          </a:p>
        </p:txBody>
      </p:sp>
      <p:sp>
        <p:nvSpPr>
          <p:cNvPr id="17" name="Text 15"/>
          <p:cNvSpPr/>
          <p:nvPr/>
        </p:nvSpPr>
        <p:spPr>
          <a:xfrm>
            <a:off x="1645920" y="3785616"/>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RMA on the water at year-end — sales return not yet accrued.</a:t>
            </a:r>
            <a:endParaRPr lang="en-US" sz="1100" dirty="0"/>
          </a:p>
        </p:txBody>
      </p:sp>
      <p:sp>
        <p:nvSpPr>
          <p:cNvPr id="18" name="Text 16"/>
          <p:cNvSpPr/>
          <p:nvPr/>
        </p:nvSpPr>
        <p:spPr>
          <a:xfrm>
            <a:off x="6035040" y="3785616"/>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$43,000</a:t>
            </a:r>
            <a:endParaRPr lang="en-US" sz="1250" dirty="0"/>
          </a:p>
        </p:txBody>
      </p:sp>
      <p:sp>
        <p:nvSpPr>
          <p:cNvPr id="19" name="Shape 17"/>
          <p:cNvSpPr/>
          <p:nvPr/>
        </p:nvSpPr>
        <p:spPr>
          <a:xfrm>
            <a:off x="548640" y="4517136"/>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0" name="Text 18"/>
          <p:cNvSpPr/>
          <p:nvPr/>
        </p:nvSpPr>
        <p:spPr>
          <a:xfrm>
            <a:off x="777240" y="4700016"/>
            <a:ext cx="713232" cy="347472"/>
          </a:xfrm>
          <a:prstGeom prst="roundRect">
            <a:avLst>
              <a:gd name="adj" fmla="val 50000"/>
            </a:avLst>
          </a:prstGeom>
          <a:solidFill>
            <a:srgbClr val="FEF3C7"/>
          </a:solidFill>
          <a:ln/>
        </p:spPr>
        <p:txBody>
          <a:bodyPr wrap="square" rtlCol="0" anchor="ctr"/>
          <a:lstStyle/>
          <a:p>
            <a:pPr algn="ctr" indent="0" marL="0">
              <a:buNone/>
            </a:pPr>
            <a:r>
              <a:rPr lang="en-US" sz="1050" b="1" dirty="0">
                <a:solidFill>
                  <a:srgbClr val="B45309"/>
                </a:solidFill>
                <a:latin typeface="Calibri" pitchFamily="34" charset="0"/>
                <a:ea typeface="Calibri" pitchFamily="34" charset="-122"/>
                <a:cs typeface="Calibri" pitchFamily="34" charset="-120"/>
              </a:rPr>
              <a:t>MED</a:t>
            </a:r>
            <a:endParaRPr lang="en-US" sz="1050" dirty="0"/>
          </a:p>
        </p:txBody>
      </p:sp>
      <p:sp>
        <p:nvSpPr>
          <p:cNvPr id="21" name="Text 19"/>
          <p:cNvSpPr/>
          <p:nvPr/>
        </p:nvSpPr>
        <p:spPr>
          <a:xfrm>
            <a:off x="1645920" y="4590288"/>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Nine days at the boatyard — still owned, must be in the Dec 31 count.</a:t>
            </a:r>
            <a:endParaRPr lang="en-US" sz="1100" dirty="0"/>
          </a:p>
        </p:txBody>
      </p:sp>
      <p:sp>
        <p:nvSpPr>
          <p:cNvPr id="22" name="Text 20"/>
          <p:cNvSpPr/>
          <p:nvPr/>
        </p:nvSpPr>
        <p:spPr>
          <a:xfrm>
            <a:off x="6035040" y="4590288"/>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$86,000</a:t>
            </a:r>
            <a:endParaRPr lang="en-US" sz="1250" dirty="0"/>
          </a:p>
        </p:txBody>
      </p:sp>
      <p:sp>
        <p:nvSpPr>
          <p:cNvPr id="23" name="Shape 21"/>
          <p:cNvSpPr/>
          <p:nvPr/>
        </p:nvSpPr>
        <p:spPr>
          <a:xfrm>
            <a:off x="548640" y="5321808"/>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Text 22"/>
          <p:cNvSpPr/>
          <p:nvPr/>
        </p:nvSpPr>
        <p:spPr>
          <a:xfrm>
            <a:off x="777240" y="5504688"/>
            <a:ext cx="713232" cy="347472"/>
          </a:xfrm>
          <a:prstGeom prst="roundRect">
            <a:avLst>
              <a:gd name="adj" fmla="val 50000"/>
            </a:avLst>
          </a:prstGeom>
          <a:solidFill>
            <a:srgbClr val="E0F2FE"/>
          </a:solidFill>
          <a:ln/>
        </p:spPr>
        <p:txBody>
          <a:bodyPr wrap="square" rtlCol="0" anchor="ctr"/>
          <a:lstStyle/>
          <a:p>
            <a:pPr algn="ctr" indent="0" marL="0">
              <a:buNone/>
            </a:pPr>
            <a:r>
              <a:rPr lang="en-US" sz="1050" b="1" dirty="0">
                <a:solidFill>
                  <a:srgbClr val="0369A1"/>
                </a:solidFill>
                <a:latin typeface="Calibri" pitchFamily="34" charset="0"/>
                <a:ea typeface="Calibri" pitchFamily="34" charset="-122"/>
                <a:cs typeface="Calibri" pitchFamily="34" charset="-120"/>
              </a:rPr>
              <a:t>PLAN</a:t>
            </a:r>
            <a:endParaRPr lang="en-US" sz="1050" dirty="0"/>
          </a:p>
        </p:txBody>
      </p:sp>
      <p:sp>
        <p:nvSpPr>
          <p:cNvPr id="25" name="Text 23"/>
          <p:cNvSpPr/>
          <p:nvPr/>
        </p:nvSpPr>
        <p:spPr>
          <a:xfrm>
            <a:off x="1645920" y="5394960"/>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Shift a $500K stock receipt Dec 30 → Jan 2: off the property-tax assessment date.</a:t>
            </a:r>
            <a:endParaRPr lang="en-US" sz="1100" dirty="0"/>
          </a:p>
        </p:txBody>
      </p:sp>
      <p:sp>
        <p:nvSpPr>
          <p:cNvPr id="26" name="Text 24"/>
          <p:cNvSpPr/>
          <p:nvPr/>
        </p:nvSpPr>
        <p:spPr>
          <a:xfrm>
            <a:off x="6035040" y="5394960"/>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 $6,500</a:t>
            </a:r>
            <a:endParaRPr lang="en-US" sz="1250" dirty="0"/>
          </a:p>
        </p:txBody>
      </p:sp>
      <p:sp>
        <p:nvSpPr>
          <p:cNvPr id="27" name="Shape 25"/>
          <p:cNvSpPr/>
          <p:nvPr/>
        </p:nvSpPr>
        <p:spPr>
          <a:xfrm>
            <a:off x="7818120" y="1298448"/>
            <a:ext cx="3794760" cy="4846320"/>
          </a:xfrm>
          <a:prstGeom prst="roundRect">
            <a:avLst>
              <a:gd name="adj" fmla="val 2410"/>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8" name="Text 26"/>
          <p:cNvSpPr/>
          <p:nvPr/>
        </p:nvSpPr>
        <p:spPr>
          <a:xfrm>
            <a:off x="8183880" y="1691640"/>
            <a:ext cx="3108960" cy="868680"/>
          </a:xfrm>
          <a:prstGeom prst="rect">
            <a:avLst/>
          </a:prstGeom>
          <a:noFill/>
          <a:ln/>
        </p:spPr>
        <p:txBody>
          <a:bodyPr wrap="square" lIns="0" tIns="0" rIns="0" bIns="0" rtlCol="0" anchor="ctr"/>
          <a:lstStyle/>
          <a:p>
            <a:pPr indent="0" marL="0">
              <a:buNone/>
            </a:pPr>
            <a:r>
              <a:rPr lang="en-US" sz="5200" b="1" dirty="0">
                <a:solidFill>
                  <a:srgbClr val="34D399"/>
                </a:solidFill>
                <a:latin typeface="Calibri" pitchFamily="34" charset="0"/>
                <a:ea typeface="Calibri" pitchFamily="34" charset="-122"/>
                <a:cs typeface="Calibri" pitchFamily="34" charset="-120"/>
              </a:rPr>
              <a:t>$1.23M</a:t>
            </a:r>
            <a:endParaRPr lang="en-US" sz="5200" dirty="0"/>
          </a:p>
        </p:txBody>
      </p:sp>
      <p:sp>
        <p:nvSpPr>
          <p:cNvPr id="29" name="Text 27"/>
          <p:cNvSpPr/>
          <p:nvPr/>
        </p:nvSpPr>
        <p:spPr>
          <a:xfrm>
            <a:off x="8183880" y="2578608"/>
            <a:ext cx="3063240" cy="73152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of FY2026 revenue exposure flagged from custody events in the demo dataset alone</a:t>
            </a:r>
            <a:endParaRPr lang="en-US" sz="1300" dirty="0"/>
          </a:p>
        </p:txBody>
      </p:sp>
      <p:sp>
        <p:nvSpPr>
          <p:cNvPr id="30" name="Text 28"/>
          <p:cNvSpPr/>
          <p:nvPr/>
        </p:nvSpPr>
        <p:spPr>
          <a:xfrm>
            <a:off x="8183880" y="3456432"/>
            <a:ext cx="3063240" cy="457200"/>
          </a:xfrm>
          <a:prstGeom prst="rect">
            <a:avLst/>
          </a:prstGeom>
          <a:noFill/>
          <a:ln/>
        </p:spPr>
        <p:txBody>
          <a:bodyPr wrap="square" lIns="0" tIns="0" rIns="0" bIns="0" rtlCol="0" anchor="ctr"/>
          <a:lstStyle/>
          <a:p>
            <a:pPr indent="0" marL="0">
              <a:buNone/>
            </a:pPr>
            <a:r>
              <a:rPr lang="en-US" sz="1400" b="1" i="1" dirty="0">
                <a:solidFill>
                  <a:srgbClr val="FFFFFF"/>
                </a:solidFill>
                <a:latin typeface="Calibri" pitchFamily="34" charset="0"/>
                <a:ea typeface="Calibri" pitchFamily="34" charset="-122"/>
                <a:cs typeface="Calibri" pitchFamily="34" charset="-120"/>
              </a:rPr>
              <a:t>“AI investigates. Controllers conclude.”</a:t>
            </a:r>
            <a:endParaRPr lang="en-US" sz="1400" dirty="0"/>
          </a:p>
        </p:txBody>
      </p:sp>
      <p:sp>
        <p:nvSpPr>
          <p:cNvPr id="31" name="Text 29"/>
          <p:cNvSpPr/>
          <p:nvPr/>
        </p:nvSpPr>
        <p:spPr>
          <a:xfrm>
            <a:off x="8183880" y="3950208"/>
            <a:ext cx="3063240" cy="77724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Materiality decides what gets AI attention. Every flag routes to a human. Nothing auto-posts — ever.</a:t>
            </a:r>
            <a:endParaRPr lang="en-US" sz="1150" dirty="0"/>
          </a:p>
        </p:txBody>
      </p:sp>
      <p:sp>
        <p:nvSpPr>
          <p:cNvPr id="32" name="Text 30"/>
          <p:cNvSpPr/>
          <p:nvPr/>
        </p:nvSpPr>
        <p:spPr>
          <a:xfrm>
            <a:off x="8183880" y="4864608"/>
            <a:ext cx="3063240" cy="1005840"/>
          </a:xfrm>
          <a:prstGeom prst="rect">
            <a:avLst/>
          </a:prstGeom>
          <a:noFill/>
          <a:ln/>
        </p:spPr>
        <p:txBody>
          <a:bodyPr wrap="square" lIns="0" tIns="0" rIns="0" bIns="0" rtlCol="0" anchor="ctr"/>
          <a:lstStyle/>
          <a:p>
            <a:pPr indent="0" marL="0">
              <a:buNone/>
            </a:pPr>
            <a:r>
              <a:rPr lang="en-US" sz="1150" dirty="0">
                <a:solidFill>
                  <a:srgbClr val="D1FAE5"/>
                </a:solidFill>
                <a:latin typeface="Calibri" pitchFamily="34" charset="0"/>
                <a:ea typeface="Calibri" pitchFamily="34" charset="-122"/>
                <a:cs typeface="Calibri" pitchFamily="34" charset="-120"/>
              </a:rPr>
              <a:t>✦ The AI vendor search closes the loop: it ranks routes against the need-by date and watches customs bulletins for changes.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Agents coordinate. Humans stay in control.</a:t>
            </a:r>
            <a:endParaRPr lang="en-US" sz="3400" dirty="0"/>
          </a:p>
        </p:txBody>
      </p:sp>
      <p:sp>
        <p:nvSpPr>
          <p:cNvPr id="3" name="Text 1"/>
          <p:cNvSpPr/>
          <p:nvPr/>
        </p:nvSpPr>
        <p:spPr>
          <a:xfrm>
            <a:off x="548640" y="1078992"/>
            <a:ext cx="10881360" cy="41148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Routes are defined by carrier acceptance of availability — matched on weights &amp; measures through each freight vendor’s availability API.</a:t>
            </a:r>
            <a:endParaRPr lang="en-US" sz="1400" dirty="0"/>
          </a:p>
        </p:txBody>
      </p:sp>
      <p:sp>
        <p:nvSpPr>
          <p:cNvPr id="4" name="Shape 2"/>
          <p:cNvSpPr/>
          <p:nvPr/>
        </p:nvSpPr>
        <p:spPr>
          <a:xfrm>
            <a:off x="548640" y="1755648"/>
            <a:ext cx="475488" cy="475488"/>
          </a:xfrm>
          <a:prstGeom prst="ellipse">
            <a:avLst/>
          </a:prstGeom>
          <a:solidFill>
            <a:srgbClr val="059669"/>
          </a:solidFill>
          <a:ln/>
        </p:spPr>
      </p:sp>
      <p:sp>
        <p:nvSpPr>
          <p:cNvPr id="5" name="Text 3"/>
          <p:cNvSpPr/>
          <p:nvPr/>
        </p:nvSpPr>
        <p:spPr>
          <a:xfrm>
            <a:off x="548640" y="17556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188720" y="1682496"/>
            <a:ext cx="5394960" cy="347472"/>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Match</a:t>
            </a:r>
            <a:endParaRPr lang="en-US" sz="1550" dirty="0"/>
          </a:p>
        </p:txBody>
      </p:sp>
      <p:sp>
        <p:nvSpPr>
          <p:cNvPr id="7" name="Text 5"/>
          <p:cNvSpPr/>
          <p:nvPr/>
        </p:nvSpPr>
        <p:spPr>
          <a:xfrm>
            <a:off x="1188720" y="2011680"/>
            <a:ext cx="5486400" cy="77724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The agent matches load to lane: date window, weights &amp; measures, cost per ton — availability confirmed through the carrier’s API.</a:t>
            </a:r>
            <a:endParaRPr lang="en-US" sz="1150" dirty="0"/>
          </a:p>
        </p:txBody>
      </p:sp>
      <p:sp>
        <p:nvSpPr>
          <p:cNvPr id="8" name="Shape 6"/>
          <p:cNvSpPr/>
          <p:nvPr/>
        </p:nvSpPr>
        <p:spPr>
          <a:xfrm>
            <a:off x="548640" y="2871216"/>
            <a:ext cx="475488" cy="475488"/>
          </a:xfrm>
          <a:prstGeom prst="ellipse">
            <a:avLst/>
          </a:prstGeom>
          <a:solidFill>
            <a:srgbClr val="059669"/>
          </a:solidFill>
          <a:ln/>
        </p:spPr>
      </p:sp>
      <p:sp>
        <p:nvSpPr>
          <p:cNvPr id="9" name="Text 7"/>
          <p:cNvSpPr/>
          <p:nvPr/>
        </p:nvSpPr>
        <p:spPr>
          <a:xfrm>
            <a:off x="548640" y="287121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188720" y="2798064"/>
            <a:ext cx="5394960" cy="347472"/>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Accept</a:t>
            </a:r>
            <a:endParaRPr lang="en-US" sz="1550" dirty="0"/>
          </a:p>
        </p:txBody>
      </p:sp>
      <p:sp>
        <p:nvSpPr>
          <p:cNvPr id="11" name="Text 9"/>
          <p:cNvSpPr/>
          <p:nvPr/>
        </p:nvSpPr>
        <p:spPr>
          <a:xfrm>
            <a:off x="1188720" y="3127248"/>
            <a:ext cx="5486400" cy="77724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The carrier-side agent accepts and locks the leg. One transaction ID; the company-approved docs pack is issued for the stop.</a:t>
            </a:r>
            <a:endParaRPr lang="en-US" sz="1150" dirty="0"/>
          </a:p>
        </p:txBody>
      </p:sp>
      <p:sp>
        <p:nvSpPr>
          <p:cNvPr id="12" name="Shape 10"/>
          <p:cNvSpPr/>
          <p:nvPr/>
        </p:nvSpPr>
        <p:spPr>
          <a:xfrm>
            <a:off x="548640" y="3986784"/>
            <a:ext cx="475488" cy="475488"/>
          </a:xfrm>
          <a:prstGeom prst="ellipse">
            <a:avLst/>
          </a:prstGeom>
          <a:solidFill>
            <a:srgbClr val="059669"/>
          </a:solidFill>
          <a:ln/>
        </p:spPr>
      </p:sp>
      <p:sp>
        <p:nvSpPr>
          <p:cNvPr id="13" name="Text 11"/>
          <p:cNvSpPr/>
          <p:nvPr/>
        </p:nvSpPr>
        <p:spPr>
          <a:xfrm>
            <a:off x="548640" y="398678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188720" y="3913632"/>
            <a:ext cx="5394960" cy="347472"/>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Human rejects?</a:t>
            </a:r>
            <a:endParaRPr lang="en-US" sz="1550" dirty="0"/>
          </a:p>
        </p:txBody>
      </p:sp>
      <p:sp>
        <p:nvSpPr>
          <p:cNvPr id="15" name="Text 13"/>
          <p:cNvSpPr/>
          <p:nvPr/>
        </p:nvSpPr>
        <p:spPr>
          <a:xfrm>
            <a:off x="1188720" y="4242816"/>
            <a:ext cx="5486400" cy="77724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The upstream agent is triggered: it reroutes on availability and re-verifies that the delivery date did not change.</a:t>
            </a:r>
            <a:endParaRPr lang="en-US" sz="1150" dirty="0"/>
          </a:p>
        </p:txBody>
      </p:sp>
      <p:sp>
        <p:nvSpPr>
          <p:cNvPr id="16" name="Shape 14"/>
          <p:cNvSpPr/>
          <p:nvPr/>
        </p:nvSpPr>
        <p:spPr>
          <a:xfrm>
            <a:off x="548640" y="5102352"/>
            <a:ext cx="475488" cy="475488"/>
          </a:xfrm>
          <a:prstGeom prst="ellipse">
            <a:avLst/>
          </a:prstGeom>
          <a:solidFill>
            <a:srgbClr val="B45309"/>
          </a:solidFill>
          <a:ln/>
        </p:spPr>
      </p:sp>
      <p:sp>
        <p:nvSpPr>
          <p:cNvPr id="17" name="Text 15"/>
          <p:cNvSpPr/>
          <p:nvPr/>
        </p:nvSpPr>
        <p:spPr>
          <a:xfrm>
            <a:off x="548640" y="510235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188720" y="5029200"/>
            <a:ext cx="5394960" cy="347472"/>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Tolerance gate</a:t>
            </a:r>
            <a:endParaRPr lang="en-US" sz="1550" dirty="0"/>
          </a:p>
        </p:txBody>
      </p:sp>
      <p:sp>
        <p:nvSpPr>
          <p:cNvPr id="19" name="Text 17"/>
          <p:cNvSpPr/>
          <p:nvPr/>
        </p:nvSpPr>
        <p:spPr>
          <a:xfrm>
            <a:off x="1188720" y="5358384"/>
            <a:ext cx="5486400" cy="77724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Auto-confirm only within ±10% / $200 / 2 days. Anything larger requests approval from the sender — shown live on the $1M lane.</a:t>
            </a:r>
            <a:endParaRPr lang="en-US" sz="1150" dirty="0"/>
          </a:p>
        </p:txBody>
      </p:sp>
      <p:sp>
        <p:nvSpPr>
          <p:cNvPr id="20" name="Shape 18"/>
          <p:cNvSpPr/>
          <p:nvPr/>
        </p:nvSpPr>
        <p:spPr>
          <a:xfrm>
            <a:off x="7040880" y="1737360"/>
            <a:ext cx="4572000" cy="4343400"/>
          </a:xfrm>
          <a:prstGeom prst="roundRect">
            <a:avLst>
              <a:gd name="adj" fmla="val 2105"/>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1" name="Text 19"/>
          <p:cNvSpPr/>
          <p:nvPr/>
        </p:nvSpPr>
        <p:spPr>
          <a:xfrm>
            <a:off x="7360920" y="1993392"/>
            <a:ext cx="393192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Vendor memory profile</a:t>
            </a:r>
            <a:endParaRPr lang="en-US" sz="1600" dirty="0"/>
          </a:p>
        </p:txBody>
      </p:sp>
      <p:sp>
        <p:nvSpPr>
          <p:cNvPr id="22" name="Text 20"/>
          <p:cNvSpPr/>
          <p:nvPr/>
        </p:nvSpPr>
        <p:spPr>
          <a:xfrm>
            <a:off x="7360920" y="2487168"/>
            <a:ext cx="3931920" cy="274320"/>
          </a:xfrm>
          <a:prstGeom prst="rect">
            <a:avLst/>
          </a:prstGeom>
          <a:noFill/>
          <a:ln/>
        </p:spPr>
        <p:txBody>
          <a:bodyPr wrap="square" lIns="0" tIns="0" rIns="0" bIns="0" rtlCol="0" anchor="ctr"/>
          <a:lstStyle/>
          <a:p>
            <a:pPr indent="0" marL="0">
              <a:buNone/>
            </a:pPr>
            <a:r>
              <a:rPr lang="en-US" sz="1050" b="1" spc="100" kern="0" dirty="0">
                <a:solidFill>
                  <a:srgbClr val="94A3B8"/>
                </a:solidFill>
                <a:latin typeface="Calibri" pitchFamily="34" charset="0"/>
                <a:ea typeface="Calibri" pitchFamily="34" charset="-122"/>
                <a:cs typeface="Calibri" pitchFamily="34" charset="-120"/>
              </a:rPr>
              <a:t>CONSTANT — cached in memory</a:t>
            </a:r>
            <a:endParaRPr lang="en-US" sz="1050" dirty="0"/>
          </a:p>
        </p:txBody>
      </p:sp>
      <p:sp>
        <p:nvSpPr>
          <p:cNvPr id="23" name="Text 21"/>
          <p:cNvSpPr/>
          <p:nvPr/>
        </p:nvSpPr>
        <p:spPr>
          <a:xfrm>
            <a:off x="7360920" y="2761488"/>
            <a:ext cx="3931920" cy="685800"/>
          </a:xfrm>
          <a:prstGeom prst="rect">
            <a:avLst/>
          </a:prstGeom>
          <a:noFill/>
          <a:ln/>
        </p:spPr>
        <p:txBody>
          <a:bodyPr wrap="square" lIns="0" tIns="0" rIns="0" bIns="0" rtlCol="0" anchor="ctr"/>
          <a:lstStyle/>
          <a:p>
            <a:pPr indent="0" marL="0">
              <a:buNone/>
            </a:pPr>
            <a:r>
              <a:rPr lang="en-US" sz="1200" dirty="0">
                <a:solidFill>
                  <a:srgbClr val="E2E8F0"/>
                </a:solidFill>
                <a:latin typeface="Calibri" pitchFamily="34" charset="0"/>
                <a:ea typeface="Calibri" pitchFamily="34" charset="-122"/>
                <a:cs typeface="Calibri" pitchFamily="34" charset="-120"/>
              </a:rPr>
              <a:t>Average cost per ton. The business map: lanes each carrier owns and serves. Certifications (reefer, hazmat).</a:t>
            </a:r>
            <a:endParaRPr lang="en-US" sz="1200" dirty="0"/>
          </a:p>
        </p:txBody>
      </p:sp>
      <p:sp>
        <p:nvSpPr>
          <p:cNvPr id="24" name="Text 22"/>
          <p:cNvSpPr/>
          <p:nvPr/>
        </p:nvSpPr>
        <p:spPr>
          <a:xfrm>
            <a:off x="7360920" y="3520440"/>
            <a:ext cx="3931920" cy="274320"/>
          </a:xfrm>
          <a:prstGeom prst="rect">
            <a:avLst/>
          </a:prstGeom>
          <a:noFill/>
          <a:ln/>
        </p:spPr>
        <p:txBody>
          <a:bodyPr wrap="square" lIns="0" tIns="0" rIns="0" bIns="0" rtlCol="0" anchor="ctr"/>
          <a:lstStyle/>
          <a:p>
            <a:pPr indent="0" marL="0">
              <a:buNone/>
            </a:pPr>
            <a:r>
              <a:rPr lang="en-US" sz="1050" b="1" spc="100" kern="0" dirty="0">
                <a:solidFill>
                  <a:srgbClr val="94A3B8"/>
                </a:solidFill>
                <a:latin typeface="Calibri" pitchFamily="34" charset="0"/>
                <a:ea typeface="Calibri" pitchFamily="34" charset="-122"/>
                <a:cs typeface="Calibri" pitchFamily="34" charset="-120"/>
              </a:rPr>
              <a:t>VARIABLE — queried per order</a:t>
            </a:r>
            <a:endParaRPr lang="en-US" sz="1050" dirty="0"/>
          </a:p>
        </p:txBody>
      </p:sp>
      <p:sp>
        <p:nvSpPr>
          <p:cNvPr id="25" name="Text 23"/>
          <p:cNvSpPr/>
          <p:nvPr/>
        </p:nvSpPr>
        <p:spPr>
          <a:xfrm>
            <a:off x="7360920" y="3794760"/>
            <a:ext cx="3931920" cy="731520"/>
          </a:xfrm>
          <a:prstGeom prst="rect">
            <a:avLst/>
          </a:prstGeom>
          <a:noFill/>
          <a:ln/>
        </p:spPr>
        <p:txBody>
          <a:bodyPr wrap="square" lIns="0" tIns="0" rIns="0" bIns="0" rtlCol="0" anchor="ctr"/>
          <a:lstStyle/>
          <a:p>
            <a:pPr indent="0" marL="0">
              <a:buNone/>
            </a:pPr>
            <a:r>
              <a:rPr lang="en-US" sz="1200" dirty="0">
                <a:solidFill>
                  <a:srgbClr val="E2E8F0"/>
                </a:solidFill>
                <a:latin typeface="Calibri" pitchFamily="34" charset="0"/>
                <a:ea typeface="Calibri" pitchFamily="34" charset="-122"/>
                <a:cs typeface="Calibri" pitchFamily="34" charset="-120"/>
              </a:rPr>
              <a:t>Availability between this date and that date — one API call to the vendor. Nothing else recomputes when an order is placed.</a:t>
            </a:r>
            <a:endParaRPr lang="en-US" sz="1200" dirty="0"/>
          </a:p>
        </p:txBody>
      </p:sp>
      <p:sp>
        <p:nvSpPr>
          <p:cNvPr id="26" name="Text 24"/>
          <p:cNvSpPr/>
          <p:nvPr/>
        </p:nvSpPr>
        <p:spPr>
          <a:xfrm>
            <a:off x="7360920" y="4663440"/>
            <a:ext cx="3931920" cy="411480"/>
          </a:xfrm>
          <a:prstGeom prst="rect">
            <a:avLst/>
          </a:prstGeom>
          <a:noFill/>
          <a:ln/>
        </p:spPr>
        <p:txBody>
          <a:bodyPr wrap="square" lIns="0" tIns="0" rIns="0" bIns="0" rtlCol="0" anchor="ctr"/>
          <a:lstStyle/>
          <a:p>
            <a:pPr indent="0" marL="0">
              <a:buNone/>
            </a:pPr>
            <a:r>
              <a:rPr lang="en-US" sz="1250" b="1" i="1" dirty="0">
                <a:solidFill>
                  <a:srgbClr val="FFFFFF"/>
                </a:solidFill>
                <a:latin typeface="Calibri" pitchFamily="34" charset="0"/>
                <a:ea typeface="Calibri" pitchFamily="34" charset="-122"/>
                <a:cs typeface="Calibri" pitchFamily="34" charset="-120"/>
              </a:rPr>
              <a:t>Cheap, fast agent decisions — cost discipline by design.</a:t>
            </a:r>
            <a:endParaRPr lang="en-US" sz="1250" dirty="0"/>
          </a:p>
        </p:txBody>
      </p:sp>
      <p:sp>
        <p:nvSpPr>
          <p:cNvPr id="27" name="Text 25"/>
          <p:cNvSpPr/>
          <p:nvPr/>
        </p:nvSpPr>
        <p:spPr>
          <a:xfrm>
            <a:off x="7360920" y="5166360"/>
            <a:ext cx="3931920" cy="685800"/>
          </a:xfrm>
          <a:prstGeom prst="rect">
            <a:avLst/>
          </a:prstGeom>
          <a:noFill/>
          <a:ln/>
        </p:spPr>
        <p:txBody>
          <a:bodyPr wrap="square" lIns="0" tIns="0" rIns="0" bIns="0" rtlCol="0" anchor="ctr"/>
          <a:lstStyle/>
          <a:p>
            <a:pPr indent="0" marL="0">
              <a:buNone/>
            </a:pPr>
            <a:r>
              <a:rPr lang="en-US" sz="1050" dirty="0">
                <a:solidFill>
                  <a:srgbClr val="D1FAE5"/>
                </a:solidFill>
                <a:latin typeface="Calibri" pitchFamily="34" charset="0"/>
                <a:ea typeface="Calibri" pitchFamily="34" charset="-122"/>
                <a:cs typeface="Calibri" pitchFamily="34" charset="-120"/>
              </a:rPr>
              <a:t>Portable: the vetted workflow ships as an agent prompt + seed memory files — EverOS-ready (docs/EVEROS_AGENT_PROMPT.md).</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Built to complement the stack you already run.</a:t>
            </a:r>
            <a:endParaRPr lang="en-US" sz="3400" dirty="0"/>
          </a:p>
        </p:txBody>
      </p:sp>
      <p:sp>
        <p:nvSpPr>
          <p:cNvPr id="3" name="Shape 1"/>
          <p:cNvSpPr/>
          <p:nvPr/>
        </p:nvSpPr>
        <p:spPr>
          <a:xfrm>
            <a:off x="548640" y="1600200"/>
            <a:ext cx="3383280" cy="2651760"/>
          </a:xfrm>
          <a:prstGeom prst="roundRect">
            <a:avLst>
              <a:gd name="adj" fmla="val 3448"/>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22960" y="1828800"/>
            <a:ext cx="2834640" cy="32004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Systems of record</a:t>
            </a:r>
            <a:endParaRPr lang="en-US" sz="1300" dirty="0"/>
          </a:p>
        </p:txBody>
      </p:sp>
      <p:sp>
        <p:nvSpPr>
          <p:cNvPr id="5" name="Text 3"/>
          <p:cNvSpPr/>
          <p:nvPr/>
        </p:nvSpPr>
        <p:spPr>
          <a:xfrm>
            <a:off x="822960" y="2194560"/>
            <a:ext cx="283464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NetSuite · Oracle · SAP</a:t>
            </a:r>
            <a:endParaRPr lang="en-US" sz="1800" dirty="0"/>
          </a:p>
        </p:txBody>
      </p:sp>
      <p:sp>
        <p:nvSpPr>
          <p:cNvPr id="6" name="Text 4"/>
          <p:cNvSpPr/>
          <p:nvPr/>
        </p:nvSpPr>
        <p:spPr>
          <a:xfrm>
            <a:off x="822960" y="2697480"/>
            <a:ext cx="2880360" cy="13716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Own the books and the item master. Blind between warehouse scans — they record what happened only after someone types it in.</a:t>
            </a:r>
            <a:endParaRPr lang="en-US" sz="1200" dirty="0"/>
          </a:p>
        </p:txBody>
      </p:sp>
      <p:sp>
        <p:nvSpPr>
          <p:cNvPr id="7" name="Shape 5"/>
          <p:cNvSpPr/>
          <p:nvPr/>
        </p:nvSpPr>
        <p:spPr>
          <a:xfrm>
            <a:off x="4389120" y="1417320"/>
            <a:ext cx="3429000" cy="3017520"/>
          </a:xfrm>
          <a:prstGeom prst="roundRect">
            <a:avLst>
              <a:gd name="adj" fmla="val 3030"/>
            </a:avLst>
          </a:prstGeom>
          <a:solidFill>
            <a:srgbClr val="059669"/>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4663440" y="1691640"/>
            <a:ext cx="2926080" cy="365760"/>
          </a:xfrm>
          <a:prstGeom prst="rect">
            <a:avLst/>
          </a:prstGeom>
          <a:noFill/>
          <a:ln/>
        </p:spPr>
        <p:txBody>
          <a:bodyPr wrap="square" lIns="0" tIns="0" rIns="0" bIns="0" rtlCol="0" anchor="ctr"/>
          <a:lstStyle/>
          <a:p>
            <a:pPr indent="0" marL="0">
              <a:buNone/>
            </a:pPr>
            <a:r>
              <a:rPr lang="en-US" sz="1600" b="1" spc="200" kern="0" dirty="0">
                <a:solidFill>
                  <a:srgbClr val="FFFFFF"/>
                </a:solidFill>
                <a:latin typeface="Calibri" pitchFamily="34" charset="0"/>
                <a:ea typeface="Calibri" pitchFamily="34" charset="-122"/>
                <a:cs typeface="Calibri" pitchFamily="34" charset="-120"/>
              </a:rPr>
              <a:t>TRANSIT GUARD</a:t>
            </a:r>
            <a:endParaRPr lang="en-US" sz="1600" dirty="0"/>
          </a:p>
        </p:txBody>
      </p:sp>
      <p:sp>
        <p:nvSpPr>
          <p:cNvPr id="9" name="Text 7"/>
          <p:cNvSpPr/>
          <p:nvPr/>
        </p:nvSpPr>
        <p:spPr>
          <a:xfrm>
            <a:off x="4663440" y="2103120"/>
            <a:ext cx="2926080" cy="365760"/>
          </a:xfrm>
          <a:prstGeom prst="rect">
            <a:avLst/>
          </a:prstGeom>
          <a:noFill/>
          <a:ln/>
        </p:spPr>
        <p:txBody>
          <a:bodyPr wrap="square" lIns="0" tIns="0" rIns="0" bIns="0" rtlCol="0" anchor="ctr"/>
          <a:lstStyle/>
          <a:p>
            <a:pPr indent="0" marL="0">
              <a:buNone/>
            </a:pPr>
            <a:r>
              <a:rPr lang="en-US" sz="1400" i="1" dirty="0">
                <a:solidFill>
                  <a:srgbClr val="D1FAE5"/>
                </a:solidFill>
                <a:latin typeface="Calibri" pitchFamily="34" charset="0"/>
                <a:ea typeface="Calibri" pitchFamily="34" charset="-122"/>
                <a:cs typeface="Calibri" pitchFamily="34" charset="-120"/>
              </a:rPr>
              <a:t>The custody capture layer</a:t>
            </a:r>
            <a:endParaRPr lang="en-US" sz="1400" dirty="0"/>
          </a:p>
        </p:txBody>
      </p:sp>
      <p:sp>
        <p:nvSpPr>
          <p:cNvPr id="10" name="Text 8"/>
          <p:cNvSpPr/>
          <p:nvPr/>
        </p:nvSpPr>
        <p:spPr>
          <a:xfrm>
            <a:off x="4663440" y="2514600"/>
            <a:ext cx="2926080" cy="11887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Scans, hand-offs, customs documents, and transaction dates captured where they happen — in the field, on a phone, in the local language.</a:t>
            </a:r>
            <a:endParaRPr lang="en-US" sz="1250" dirty="0"/>
          </a:p>
        </p:txBody>
      </p:sp>
      <p:sp>
        <p:nvSpPr>
          <p:cNvPr id="11" name="Text 9"/>
          <p:cNvSpPr/>
          <p:nvPr/>
        </p:nvSpPr>
        <p:spPr>
          <a:xfrm>
            <a:off x="4663440" y="3794760"/>
            <a:ext cx="2926080" cy="502920"/>
          </a:xfrm>
          <a:prstGeom prst="rect">
            <a:avLst/>
          </a:prstGeom>
          <a:noFill/>
          <a:ln/>
        </p:spPr>
        <p:txBody>
          <a:bodyPr wrap="square" lIns="0" tIns="0" rIns="0" bIns="0" rtlCol="0" anchor="ctr"/>
          <a:lstStyle/>
          <a:p>
            <a:pPr indent="0" marL="0">
              <a:buNone/>
            </a:pPr>
            <a:r>
              <a:rPr lang="en-US" sz="1100" i="1" dirty="0">
                <a:solidFill>
                  <a:srgbClr val="D1FAE5"/>
                </a:solidFill>
                <a:latin typeface="Calibri" pitchFamily="34" charset="0"/>
                <a:ea typeface="Calibri" pitchFamily="34" charset="-122"/>
                <a:cs typeface="Calibri" pitchFamily="34" charset="-120"/>
              </a:rPr>
              <a:t>clean transaction dates in · audit-ready evidence out</a:t>
            </a:r>
            <a:endParaRPr lang="en-US" sz="1100" dirty="0"/>
          </a:p>
        </p:txBody>
      </p:sp>
      <p:sp>
        <p:nvSpPr>
          <p:cNvPr id="12" name="Shape 10"/>
          <p:cNvSpPr/>
          <p:nvPr/>
        </p:nvSpPr>
        <p:spPr>
          <a:xfrm>
            <a:off x="8275320" y="1600200"/>
            <a:ext cx="3337560" cy="2651760"/>
          </a:xfrm>
          <a:prstGeom prst="roundRect">
            <a:avLst>
              <a:gd name="adj" fmla="val 3448"/>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3" name="Text 11"/>
          <p:cNvSpPr/>
          <p:nvPr/>
        </p:nvSpPr>
        <p:spPr>
          <a:xfrm>
            <a:off x="8549640" y="1828800"/>
            <a:ext cx="2788920" cy="32004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Close &amp; assurance</a:t>
            </a:r>
            <a:endParaRPr lang="en-US" sz="1300" dirty="0"/>
          </a:p>
        </p:txBody>
      </p:sp>
      <p:sp>
        <p:nvSpPr>
          <p:cNvPr id="14" name="Text 12"/>
          <p:cNvSpPr/>
          <p:nvPr/>
        </p:nvSpPr>
        <p:spPr>
          <a:xfrm>
            <a:off x="8549640" y="2194560"/>
            <a:ext cx="2788920" cy="6858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BlackLine · Inventory Close Guard</a:t>
            </a:r>
            <a:endParaRPr lang="en-US" sz="1700" dirty="0"/>
          </a:p>
        </p:txBody>
      </p:sp>
      <p:sp>
        <p:nvSpPr>
          <p:cNvPr id="15" name="Text 13"/>
          <p:cNvSpPr/>
          <p:nvPr/>
        </p:nvSpPr>
        <p:spPr>
          <a:xfrm>
            <a:off x="8549640" y="2926080"/>
            <a:ext cx="2743200" cy="109728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Close automation starts once trustworthy data exists. Transit Guard is where that data is born.</a:t>
            </a:r>
            <a:endParaRPr lang="en-US" sz="1200" dirty="0"/>
          </a:p>
        </p:txBody>
      </p:sp>
      <p:sp>
        <p:nvSpPr>
          <p:cNvPr id="16" name="Shape 14"/>
          <p:cNvSpPr/>
          <p:nvPr/>
        </p:nvSpPr>
        <p:spPr>
          <a:xfrm>
            <a:off x="3950208" y="2743200"/>
            <a:ext cx="457200" cy="365760"/>
          </a:xfrm>
          <a:prstGeom prst="rightArrow">
            <a:avLst/>
          </a:prstGeom>
          <a:solidFill>
            <a:srgbClr val="059669"/>
          </a:solidFill>
          <a:ln/>
        </p:spPr>
      </p:sp>
      <p:sp>
        <p:nvSpPr>
          <p:cNvPr id="17" name="Shape 15"/>
          <p:cNvSpPr/>
          <p:nvPr/>
        </p:nvSpPr>
        <p:spPr>
          <a:xfrm>
            <a:off x="7836408" y="2743200"/>
            <a:ext cx="457200" cy="365760"/>
          </a:xfrm>
          <a:prstGeom prst="rightArrow">
            <a:avLst/>
          </a:prstGeom>
          <a:solidFill>
            <a:srgbClr val="059669"/>
          </a:solidFill>
          <a:ln/>
        </p:spPr>
      </p:sp>
      <p:sp>
        <p:nvSpPr>
          <p:cNvPr id="18" name="Shape 16"/>
          <p:cNvSpPr/>
          <p:nvPr/>
        </p:nvSpPr>
        <p:spPr>
          <a:xfrm>
            <a:off x="548640" y="4709160"/>
            <a:ext cx="5349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Text 17"/>
          <p:cNvSpPr/>
          <p:nvPr/>
        </p:nvSpPr>
        <p:spPr>
          <a:xfrm>
            <a:off x="822960" y="4919472"/>
            <a:ext cx="475488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Carriers plug in, not out</a:t>
            </a:r>
            <a:endParaRPr lang="en-US" sz="1450" dirty="0"/>
          </a:p>
        </p:txBody>
      </p:sp>
      <p:sp>
        <p:nvSpPr>
          <p:cNvPr id="20" name="Text 18"/>
          <p:cNvSpPr/>
          <p:nvPr/>
        </p:nvSpPr>
        <p:spPr>
          <a:xfrm>
            <a:off x="822960" y="5257800"/>
            <a:ext cx="4846320" cy="8229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Partner carrier and 3PL apps log hand-offs through the Transit Guard API — same transaction ID end to end, with QR scans standardizing EU hand-offs. A connector, not a migration.</a:t>
            </a:r>
            <a:endParaRPr lang="en-US" sz="1200" dirty="0"/>
          </a:p>
        </p:txBody>
      </p:sp>
      <p:sp>
        <p:nvSpPr>
          <p:cNvPr id="21" name="Shape 19"/>
          <p:cNvSpPr/>
          <p:nvPr/>
        </p:nvSpPr>
        <p:spPr>
          <a:xfrm>
            <a:off x="6263640" y="4709160"/>
            <a:ext cx="5349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2" name="Text 20"/>
          <p:cNvSpPr/>
          <p:nvPr/>
        </p:nvSpPr>
        <p:spPr>
          <a:xfrm>
            <a:off x="6537960" y="4919472"/>
            <a:ext cx="475488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The suite play</a:t>
            </a:r>
            <a:endParaRPr lang="en-US" sz="1450" dirty="0"/>
          </a:p>
        </p:txBody>
      </p:sp>
      <p:sp>
        <p:nvSpPr>
          <p:cNvPr id="23" name="Text 21"/>
          <p:cNvSpPr/>
          <p:nvPr/>
        </p:nvSpPr>
        <p:spPr>
          <a:xfrm>
            <a:off x="6537960" y="5257800"/>
            <a:ext cx="4846320" cy="8229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At year-end, custody events become Inventory Close Guard’s cutoff and existence evidence. Capture once, close faster.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 focused wedge into a $28B market.</a:t>
            </a:r>
            <a:endParaRPr lang="en-US" sz="3400" dirty="0"/>
          </a:p>
        </p:txBody>
      </p:sp>
      <p:sp>
        <p:nvSpPr>
          <p:cNvPr id="3" name="Shape 1"/>
          <p:cNvSpPr/>
          <p:nvPr/>
        </p:nvSpPr>
        <p:spPr>
          <a:xfrm>
            <a:off x="548640" y="1417320"/>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22960" y="1801368"/>
            <a:ext cx="868680" cy="502920"/>
          </a:xfrm>
          <a:prstGeom prst="roundRect">
            <a:avLst>
              <a:gd name="adj" fmla="val 21818"/>
            </a:avLst>
          </a:prstGeom>
          <a:solidFill>
            <a:srgbClr val="D1FAE5"/>
          </a:solidFill>
          <a:ln/>
        </p:spPr>
        <p:txBody>
          <a:bodyPr wrap="square" rtlCol="0" anchor="ctr"/>
          <a:lstStyle/>
          <a:p>
            <a:pPr algn="ctr" indent="0" marL="0">
              <a:buNone/>
            </a:pPr>
            <a:r>
              <a:rPr lang="en-US" sz="1500" b="1" dirty="0">
                <a:solidFill>
                  <a:srgbClr val="059669"/>
                </a:solidFill>
                <a:latin typeface="Calibri" pitchFamily="34" charset="0"/>
                <a:ea typeface="Calibri" pitchFamily="34" charset="-122"/>
                <a:cs typeface="Calibri" pitchFamily="34" charset="-120"/>
              </a:rPr>
              <a:t>TAM</a:t>
            </a:r>
            <a:endParaRPr lang="en-US" sz="1500" dirty="0"/>
          </a:p>
        </p:txBody>
      </p:sp>
      <p:sp>
        <p:nvSpPr>
          <p:cNvPr id="5" name="Text 3"/>
          <p:cNvSpPr/>
          <p:nvPr/>
        </p:nvSpPr>
        <p:spPr>
          <a:xfrm>
            <a:off x="1874520" y="1581912"/>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$28B</a:t>
            </a:r>
            <a:endParaRPr lang="en-US" sz="3000" dirty="0"/>
          </a:p>
        </p:txBody>
      </p:sp>
      <p:sp>
        <p:nvSpPr>
          <p:cNvPr id="6" name="Text 4"/>
          <p:cNvSpPr/>
          <p:nvPr/>
        </p:nvSpPr>
        <p:spPr>
          <a:xfrm>
            <a:off x="3886200" y="1563624"/>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Global supply chain management software spend, 2025.</a:t>
            </a:r>
            <a:endParaRPr lang="en-US" sz="1100" dirty="0"/>
          </a:p>
        </p:txBody>
      </p:sp>
      <p:sp>
        <p:nvSpPr>
          <p:cNvPr id="7" name="Shape 5"/>
          <p:cNvSpPr/>
          <p:nvPr/>
        </p:nvSpPr>
        <p:spPr>
          <a:xfrm>
            <a:off x="548640" y="2898648"/>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822960" y="3282696"/>
            <a:ext cx="868680" cy="502920"/>
          </a:xfrm>
          <a:prstGeom prst="roundRect">
            <a:avLst>
              <a:gd name="adj" fmla="val 21818"/>
            </a:avLst>
          </a:prstGeom>
          <a:solidFill>
            <a:srgbClr val="CCFBF1"/>
          </a:solidFill>
          <a:ln/>
        </p:spPr>
        <p:txBody>
          <a:bodyPr wrap="square" rtlCol="0" anchor="ctr"/>
          <a:lstStyle/>
          <a:p>
            <a:pPr algn="ctr" indent="0" marL="0">
              <a:buNone/>
            </a:pPr>
            <a:r>
              <a:rPr lang="en-US" sz="1500" b="1" dirty="0">
                <a:solidFill>
                  <a:srgbClr val="0F766E"/>
                </a:solidFill>
                <a:latin typeface="Calibri" pitchFamily="34" charset="0"/>
                <a:ea typeface="Calibri" pitchFamily="34" charset="-122"/>
                <a:cs typeface="Calibri" pitchFamily="34" charset="-120"/>
              </a:rPr>
              <a:t>SAM</a:t>
            </a:r>
            <a:endParaRPr lang="en-US" sz="1500" dirty="0"/>
          </a:p>
        </p:txBody>
      </p:sp>
      <p:sp>
        <p:nvSpPr>
          <p:cNvPr id="9" name="Text 7"/>
          <p:cNvSpPr/>
          <p:nvPr/>
        </p:nvSpPr>
        <p:spPr>
          <a:xfrm>
            <a:off x="1874520" y="3063240"/>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$6.5B</a:t>
            </a:r>
            <a:endParaRPr lang="en-US" sz="3000" dirty="0"/>
          </a:p>
        </p:txBody>
      </p:sp>
      <p:sp>
        <p:nvSpPr>
          <p:cNvPr id="10" name="Text 8"/>
          <p:cNvSpPr/>
          <p:nvPr/>
        </p:nvSpPr>
        <p:spPr>
          <a:xfrm>
            <a:off x="3886200" y="3044952"/>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Supply chain visibility (~$3.3B) + inventory management software (~$3.2B) — the goods-in-motion layer, growing 13%+ per year.</a:t>
            </a:r>
            <a:endParaRPr lang="en-US" sz="1100" dirty="0"/>
          </a:p>
        </p:txBody>
      </p:sp>
      <p:sp>
        <p:nvSpPr>
          <p:cNvPr id="11" name="Shape 9"/>
          <p:cNvSpPr/>
          <p:nvPr/>
        </p:nvSpPr>
        <p:spPr>
          <a:xfrm>
            <a:off x="548640" y="4379976"/>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822960" y="4764024"/>
            <a:ext cx="868680" cy="502920"/>
          </a:xfrm>
          <a:prstGeom prst="roundRect">
            <a:avLst>
              <a:gd name="adj" fmla="val 21818"/>
            </a:avLst>
          </a:prstGeom>
          <a:solidFill>
            <a:srgbClr val="FEF3C7"/>
          </a:solidFill>
          <a:ln/>
        </p:spPr>
        <p:txBody>
          <a:bodyPr wrap="square" rtlCol="0" anchor="ctr"/>
          <a:lstStyle/>
          <a:p>
            <a:pPr algn="ctr" indent="0" marL="0">
              <a:buNone/>
            </a:pPr>
            <a:r>
              <a:rPr lang="en-US" sz="1500" b="1" dirty="0">
                <a:solidFill>
                  <a:srgbClr val="B45309"/>
                </a:solidFill>
                <a:latin typeface="Calibri" pitchFamily="34" charset="0"/>
                <a:ea typeface="Calibri" pitchFamily="34" charset="-122"/>
                <a:cs typeface="Calibri" pitchFamily="34" charset="-120"/>
              </a:rPr>
              <a:t>SOM</a:t>
            </a:r>
            <a:endParaRPr lang="en-US" sz="1500" dirty="0"/>
          </a:p>
        </p:txBody>
      </p:sp>
      <p:sp>
        <p:nvSpPr>
          <p:cNvPr id="13" name="Text 11"/>
          <p:cNvSpPr/>
          <p:nvPr/>
        </p:nvSpPr>
        <p:spPr>
          <a:xfrm>
            <a:off x="1874520" y="4544568"/>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$48M ARR</a:t>
            </a:r>
            <a:endParaRPr lang="en-US" sz="3000" dirty="0"/>
          </a:p>
        </p:txBody>
      </p:sp>
      <p:sp>
        <p:nvSpPr>
          <p:cNvPr id="14" name="Text 12"/>
          <p:cNvSpPr/>
          <p:nvPr/>
        </p:nvSpPr>
        <p:spPr>
          <a:xfrm>
            <a:off x="3886200" y="4526280"/>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Beachhead: ~4,000 U.S. mid-market serialized-hardware exporters × $12K average contract.</a:t>
            </a:r>
            <a:endParaRPr lang="en-US" sz="1100" dirty="0"/>
          </a:p>
        </p:txBody>
      </p:sp>
      <p:sp>
        <p:nvSpPr>
          <p:cNvPr id="15" name="Shape 13"/>
          <p:cNvSpPr/>
          <p:nvPr/>
        </p:nvSpPr>
        <p:spPr>
          <a:xfrm>
            <a:off x="7178040" y="1417320"/>
            <a:ext cx="4434840" cy="4526280"/>
          </a:xfrm>
          <a:prstGeom prst="roundRect">
            <a:avLst>
              <a:gd name="adj" fmla="val 20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graphicFrame>
        <p:nvGraphicFramePr>
          <p:cNvPr id="16" name="Chart 0" descr=""/>
          <p:cNvGraphicFramePr/>
          <p:nvPr/>
        </p:nvGraphicFramePr>
        <p:xfrm>
          <a:off x="7452360" y="1783080"/>
          <a:ext cx="3886200" cy="329184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7452360" y="5120640"/>
            <a:ext cx="3886200" cy="365760"/>
          </a:xfrm>
          <a:prstGeom prst="rect">
            <a:avLst/>
          </a:prstGeom>
          <a:noFill/>
          <a:ln/>
        </p:spPr>
        <p:txBody>
          <a:bodyPr wrap="square" lIns="0" tIns="0" rIns="0" bIns="0" rtlCol="0" anchor="ctr"/>
          <a:lstStyle/>
          <a:p>
            <a:pPr algn="ctr" indent="0" marL="0">
              <a:buNone/>
            </a:pPr>
            <a:r>
              <a:rPr lang="en-US" sz="1400" b="1" dirty="0">
                <a:solidFill>
                  <a:srgbClr val="059669"/>
                </a:solidFill>
                <a:latin typeface="Calibri" pitchFamily="34" charset="0"/>
                <a:ea typeface="Calibri" pitchFamily="34" charset="-122"/>
                <a:cs typeface="Calibri" pitchFamily="34" charset="-120"/>
              </a:rPr>
              <a:t>13%+ CAGR</a:t>
            </a:r>
            <a:endParaRPr lang="en-US" sz="1400" dirty="0"/>
          </a:p>
        </p:txBody>
      </p:sp>
      <p:sp>
        <p:nvSpPr>
          <p:cNvPr id="18" name="Text 15"/>
          <p:cNvSpPr/>
          <p:nvPr/>
        </p:nvSpPr>
        <p:spPr>
          <a:xfrm>
            <a:off x="548640" y="6172200"/>
            <a:ext cx="11064240" cy="4572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Sources: Technavio (SCM software, 2025); GM Insights &amp; Mordor Intelligence (supply chain visibility, 2025); Grand View Research (inventory management software, 2025). SOM is an internal estimate.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Visibility tools see trucks. We see accounting truth.</a:t>
            </a:r>
            <a:endParaRPr lang="en-US" sz="3400" dirty="0"/>
          </a:p>
        </p:txBody>
      </p:sp>
      <p:sp>
        <p:nvSpPr>
          <p:cNvPr id="3" name="Shape 1"/>
          <p:cNvSpPr/>
          <p:nvPr/>
        </p:nvSpPr>
        <p:spPr>
          <a:xfrm>
            <a:off x="548640" y="141732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04672" y="164592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project44 · FourKites</a:t>
            </a:r>
            <a:endParaRPr lang="en-US" sz="1500" dirty="0"/>
          </a:p>
        </p:txBody>
      </p:sp>
      <p:sp>
        <p:nvSpPr>
          <p:cNvPr id="5" name="Text 3"/>
          <p:cNvSpPr/>
          <p:nvPr/>
        </p:nvSpPr>
        <p:spPr>
          <a:xfrm>
            <a:off x="804672" y="224028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Carrier telemetry: where the truck is — not who has custody, or what that means for revenue.</a:t>
            </a:r>
            <a:endParaRPr lang="en-US" sz="1150" dirty="0"/>
          </a:p>
        </p:txBody>
      </p:sp>
      <p:sp>
        <p:nvSpPr>
          <p:cNvPr id="6" name="Shape 4"/>
          <p:cNvSpPr/>
          <p:nvPr/>
        </p:nvSpPr>
        <p:spPr>
          <a:xfrm>
            <a:off x="4069080" y="141732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7" name="Text 5"/>
          <p:cNvSpPr/>
          <p:nvPr/>
        </p:nvSpPr>
        <p:spPr>
          <a:xfrm>
            <a:off x="4325112" y="164592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ERP inventory modules</a:t>
            </a:r>
            <a:endParaRPr lang="en-US" sz="1500" dirty="0"/>
          </a:p>
        </p:txBody>
      </p:sp>
      <p:sp>
        <p:nvSpPr>
          <p:cNvPr id="8" name="Text 6"/>
          <p:cNvSpPr/>
          <p:nvPr/>
        </p:nvSpPr>
        <p:spPr>
          <a:xfrm>
            <a:off x="4325112" y="224028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Records after the fact. Blind between warehouse scans; nothing captures the hand-off itself.</a:t>
            </a:r>
            <a:endParaRPr lang="en-US" sz="1150" dirty="0"/>
          </a:p>
        </p:txBody>
      </p:sp>
      <p:sp>
        <p:nvSpPr>
          <p:cNvPr id="9" name="Shape 7"/>
          <p:cNvSpPr/>
          <p:nvPr/>
        </p:nvSpPr>
        <p:spPr>
          <a:xfrm>
            <a:off x="548640" y="374904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0" name="Text 8"/>
          <p:cNvSpPr/>
          <p:nvPr/>
        </p:nvSpPr>
        <p:spPr>
          <a:xfrm>
            <a:off x="804672" y="397764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BlackLine &amp; close tools</a:t>
            </a:r>
            <a:endParaRPr lang="en-US" sz="1500" dirty="0"/>
          </a:p>
        </p:txBody>
      </p:sp>
      <p:sp>
        <p:nvSpPr>
          <p:cNvPr id="11" name="Text 9"/>
          <p:cNvSpPr/>
          <p:nvPr/>
        </p:nvSpPr>
        <p:spPr>
          <a:xfrm>
            <a:off x="804672" y="457200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Automation begins once data exists. They inherit whatever the field failed to capture.</a:t>
            </a:r>
            <a:endParaRPr lang="en-US" sz="1150" dirty="0"/>
          </a:p>
        </p:txBody>
      </p:sp>
      <p:sp>
        <p:nvSpPr>
          <p:cNvPr id="12" name="Shape 10"/>
          <p:cNvSpPr/>
          <p:nvPr/>
        </p:nvSpPr>
        <p:spPr>
          <a:xfrm>
            <a:off x="4069080" y="374904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3" name="Text 11"/>
          <p:cNvSpPr/>
          <p:nvPr/>
        </p:nvSpPr>
        <p:spPr>
          <a:xfrm>
            <a:off x="4325112" y="397764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Spreadsheets + email</a:t>
            </a:r>
            <a:endParaRPr lang="en-US" sz="1500" dirty="0"/>
          </a:p>
        </p:txBody>
      </p:sp>
      <p:sp>
        <p:nvSpPr>
          <p:cNvPr id="14" name="Text 12"/>
          <p:cNvSpPr/>
          <p:nvPr/>
        </p:nvSpPr>
        <p:spPr>
          <a:xfrm>
            <a:off x="4325112" y="457200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The actual incumbent. Transaction dates live in inboxes until an auditor asks.</a:t>
            </a:r>
            <a:endParaRPr lang="en-US" sz="1150" dirty="0"/>
          </a:p>
        </p:txBody>
      </p:sp>
      <p:sp>
        <p:nvSpPr>
          <p:cNvPr id="15" name="Shape 13"/>
          <p:cNvSpPr/>
          <p:nvPr/>
        </p:nvSpPr>
        <p:spPr>
          <a:xfrm>
            <a:off x="7772400" y="1417320"/>
            <a:ext cx="3840480" cy="4663440"/>
          </a:xfrm>
          <a:prstGeom prst="roundRect">
            <a:avLst>
              <a:gd name="adj" fmla="val 2381"/>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6" name="Text 14"/>
          <p:cNvSpPr/>
          <p:nvPr/>
        </p:nvSpPr>
        <p:spPr>
          <a:xfrm>
            <a:off x="8092440" y="1691640"/>
            <a:ext cx="3200400" cy="411480"/>
          </a:xfrm>
          <a:prstGeom prst="rect">
            <a:avLst/>
          </a:prstGeom>
          <a:noFill/>
          <a:ln/>
        </p:spPr>
        <p:txBody>
          <a:bodyPr wrap="square" lIns="0" tIns="0" rIns="0" bIns="0" rtlCol="0" anchor="ctr"/>
          <a:lstStyle/>
          <a:p>
            <a:pPr indent="0" marL="0">
              <a:buNone/>
            </a:pPr>
            <a:r>
              <a:rPr lang="en-US" sz="1800" b="1" dirty="0">
                <a:solidFill>
                  <a:srgbClr val="34D399"/>
                </a:solidFill>
                <a:latin typeface="Calibri" pitchFamily="34" charset="0"/>
                <a:ea typeface="Calibri" pitchFamily="34" charset="-122"/>
                <a:cs typeface="Calibri" pitchFamily="34" charset="-120"/>
              </a:rPr>
              <a:t>Only Transit Guard</a:t>
            </a:r>
            <a:endParaRPr lang="en-US" sz="1800" dirty="0"/>
          </a:p>
        </p:txBody>
      </p:sp>
      <p:sp>
        <p:nvSpPr>
          <p:cNvPr id="17" name="Text 15"/>
          <p:cNvSpPr/>
          <p:nvPr/>
        </p:nvSpPr>
        <p:spPr>
          <a:xfrm>
            <a:off x="8092440" y="2286000"/>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8458200" y="2286000"/>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Accounting-grade custody ledger — every hand-off dated, vendor-signed, exportable</a:t>
            </a:r>
            <a:endParaRPr lang="en-US" sz="1150" dirty="0"/>
          </a:p>
        </p:txBody>
      </p:sp>
      <p:sp>
        <p:nvSpPr>
          <p:cNvPr id="19" name="Text 17"/>
          <p:cNvSpPr/>
          <p:nvPr/>
        </p:nvSpPr>
        <p:spPr>
          <a:xfrm>
            <a:off x="8092440" y="3218688"/>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8458200" y="3218688"/>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Customs document engine with valuation-method evidence</a:t>
            </a:r>
            <a:endParaRPr lang="en-US" sz="1150" dirty="0"/>
          </a:p>
        </p:txBody>
      </p:sp>
      <p:sp>
        <p:nvSpPr>
          <p:cNvPr id="21" name="Text 19"/>
          <p:cNvSpPr/>
          <p:nvPr/>
        </p:nvSpPr>
        <p:spPr>
          <a:xfrm>
            <a:off x="8092440" y="4151376"/>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8458200" y="4151376"/>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AI flags tied to materiality: cutoff, accruals, count scope, tax timing</a:t>
            </a:r>
            <a:endParaRPr lang="en-US" sz="1150" dirty="0"/>
          </a:p>
        </p:txBody>
      </p:sp>
      <p:sp>
        <p:nvSpPr>
          <p:cNvPr id="23" name="Text 21"/>
          <p:cNvSpPr/>
          <p:nvPr/>
        </p:nvSpPr>
        <p:spPr>
          <a:xfrm>
            <a:off x="8092440" y="5084064"/>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4" name="Text 22"/>
          <p:cNvSpPr/>
          <p:nvPr/>
        </p:nvSpPr>
        <p:spPr>
          <a:xfrm>
            <a:off x="8458200" y="5084064"/>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Built for the warehouse: mobile-first, multilingual, on-device OCR</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From hackathon to pilot.</a:t>
            </a:r>
            <a:endParaRPr lang="en-US" sz="3400" dirty="0"/>
          </a:p>
        </p:txBody>
      </p:sp>
      <p:sp>
        <p:nvSpPr>
          <p:cNvPr id="3" name="Shape 1"/>
          <p:cNvSpPr/>
          <p:nvPr/>
        </p:nvSpPr>
        <p:spPr>
          <a:xfrm>
            <a:off x="548640"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Shape 2"/>
          <p:cNvSpPr/>
          <p:nvPr/>
        </p:nvSpPr>
        <p:spPr>
          <a:xfrm>
            <a:off x="804672" y="1691640"/>
            <a:ext cx="512064" cy="512064"/>
          </a:xfrm>
          <a:prstGeom prst="ellipse">
            <a:avLst/>
          </a:prstGeom>
          <a:solidFill>
            <a:srgbClr val="D1FAE5"/>
          </a:solidFill>
          <a:ln/>
        </p:spPr>
      </p:sp>
      <p:pic>
        <p:nvPicPr>
          <p:cNvPr id="5" name="Image 0" descr="preencoded.png">    </p:cNvPr>
          <p:cNvPicPr>
            <a:picLocks noChangeAspect="1"/>
          </p:cNvPicPr>
          <p:nvPr/>
        </p:nvPicPr>
        <p:blipFill>
          <a:blip r:embed="rId1"/>
          <a:stretch>
            <a:fillRect/>
          </a:stretch>
        </p:blipFill>
        <p:spPr>
          <a:xfrm>
            <a:off x="937809" y="1824777"/>
            <a:ext cx="245791" cy="245791"/>
          </a:xfrm>
          <a:prstGeom prst="rect">
            <a:avLst/>
          </a:prstGeom>
        </p:spPr>
      </p:pic>
      <p:sp>
        <p:nvSpPr>
          <p:cNvPr id="6" name="Text 3"/>
          <p:cNvSpPr/>
          <p:nvPr/>
        </p:nvSpPr>
        <p:spPr>
          <a:xfrm>
            <a:off x="804672"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Now — built this week</a:t>
            </a:r>
            <a:endParaRPr lang="en-US" sz="1550" dirty="0"/>
          </a:p>
        </p:txBody>
      </p:sp>
      <p:sp>
        <p:nvSpPr>
          <p:cNvPr id="7" name="Text 4"/>
          <p:cNvSpPr/>
          <p:nvPr/>
        </p:nvSpPr>
        <p:spPr>
          <a:xfrm>
            <a:off x="804672"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Working phone-frame demo: AI vendor search, scan intake, custody chains, EU hand-off QR, customs engine, AI flags, audit export, EN/ES/FR, on-device OCR.</a:t>
            </a:r>
            <a:endParaRPr lang="en-US" sz="1150" dirty="0"/>
          </a:p>
        </p:txBody>
      </p:sp>
      <p:sp>
        <p:nvSpPr>
          <p:cNvPr id="8" name="Shape 5"/>
          <p:cNvSpPr/>
          <p:nvPr/>
        </p:nvSpPr>
        <p:spPr>
          <a:xfrm>
            <a:off x="4370832"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9" name="Shape 6"/>
          <p:cNvSpPr/>
          <p:nvPr/>
        </p:nvSpPr>
        <p:spPr>
          <a:xfrm>
            <a:off x="4626864" y="1691640"/>
            <a:ext cx="512064" cy="512064"/>
          </a:xfrm>
          <a:prstGeom prst="ellipse">
            <a:avLst/>
          </a:prstGeom>
          <a:solidFill>
            <a:srgbClr val="D1FAE5"/>
          </a:solidFill>
          <a:ln/>
        </p:spPr>
      </p:sp>
      <p:pic>
        <p:nvPicPr>
          <p:cNvPr id="10" name="Image 1" descr="preencoded.png">    </p:cNvPr>
          <p:cNvPicPr>
            <a:picLocks noChangeAspect="1"/>
          </p:cNvPicPr>
          <p:nvPr/>
        </p:nvPicPr>
        <p:blipFill>
          <a:blip r:embed="rId2"/>
          <a:stretch>
            <a:fillRect/>
          </a:stretch>
        </p:blipFill>
        <p:spPr>
          <a:xfrm>
            <a:off x="4760001" y="1824777"/>
            <a:ext cx="245791" cy="245791"/>
          </a:xfrm>
          <a:prstGeom prst="rect">
            <a:avLst/>
          </a:prstGeom>
        </p:spPr>
      </p:pic>
      <p:sp>
        <p:nvSpPr>
          <p:cNvPr id="11" name="Text 7"/>
          <p:cNvSpPr/>
          <p:nvPr/>
        </p:nvSpPr>
        <p:spPr>
          <a:xfrm>
            <a:off x="4626864"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Next two quarters</a:t>
            </a:r>
            <a:endParaRPr lang="en-US" sz="1550" dirty="0"/>
          </a:p>
        </p:txBody>
      </p:sp>
      <p:sp>
        <p:nvSpPr>
          <p:cNvPr id="12" name="Text 8"/>
          <p:cNvSpPr/>
          <p:nvPr/>
        </p:nvSpPr>
        <p:spPr>
          <a:xfrm>
            <a:off x="4626864"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NetSuite SuiteApp connector first, then SAP/Oracle. Carrier partner API GA + EU QR hand-off standard. Auditor read-only portal. Camera scanning hardened for warehouse light.</a:t>
            </a:r>
            <a:endParaRPr lang="en-US" sz="1150" dirty="0"/>
          </a:p>
        </p:txBody>
      </p:sp>
      <p:sp>
        <p:nvSpPr>
          <p:cNvPr id="13" name="Shape 9"/>
          <p:cNvSpPr/>
          <p:nvPr/>
        </p:nvSpPr>
        <p:spPr>
          <a:xfrm>
            <a:off x="8193024"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4" name="Shape 10"/>
          <p:cNvSpPr/>
          <p:nvPr/>
        </p:nvSpPr>
        <p:spPr>
          <a:xfrm>
            <a:off x="8449056" y="1691640"/>
            <a:ext cx="512064" cy="512064"/>
          </a:xfrm>
          <a:prstGeom prst="ellipse">
            <a:avLst/>
          </a:prstGeom>
          <a:solidFill>
            <a:srgbClr val="CCFBF1"/>
          </a:solidFill>
          <a:ln/>
        </p:spPr>
      </p:sp>
      <p:pic>
        <p:nvPicPr>
          <p:cNvPr id="15" name="Image 2" descr="preencoded.png">    </p:cNvPr>
          <p:cNvPicPr>
            <a:picLocks noChangeAspect="1"/>
          </p:cNvPicPr>
          <p:nvPr/>
        </p:nvPicPr>
        <p:blipFill>
          <a:blip r:embed="rId3"/>
          <a:stretch>
            <a:fillRect/>
          </a:stretch>
        </p:blipFill>
        <p:spPr>
          <a:xfrm>
            <a:off x="8582193" y="1824777"/>
            <a:ext cx="245791" cy="245791"/>
          </a:xfrm>
          <a:prstGeom prst="rect">
            <a:avLst/>
          </a:prstGeom>
        </p:spPr>
      </p:pic>
      <p:sp>
        <p:nvSpPr>
          <p:cNvPr id="16" name="Text 11"/>
          <p:cNvSpPr/>
          <p:nvPr/>
        </p:nvSpPr>
        <p:spPr>
          <a:xfrm>
            <a:off x="8449056"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Later</a:t>
            </a:r>
            <a:endParaRPr lang="en-US" sz="1550" dirty="0"/>
          </a:p>
        </p:txBody>
      </p:sp>
      <p:sp>
        <p:nvSpPr>
          <p:cNvPr id="17" name="Text 12"/>
          <p:cNvSpPr/>
          <p:nvPr/>
        </p:nvSpPr>
        <p:spPr>
          <a:xfrm>
            <a:off x="8449056"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Duty and tax-timing optimizer (the Dec-vs-Jan purchase planner, productized). Multi-entity and multi-currency. SOC 2.</a:t>
            </a:r>
            <a:endParaRPr lang="en-US" sz="1150" dirty="0"/>
          </a:p>
        </p:txBody>
      </p:sp>
      <p:sp>
        <p:nvSpPr>
          <p:cNvPr id="18" name="Shape 13"/>
          <p:cNvSpPr/>
          <p:nvPr/>
        </p:nvSpPr>
        <p:spPr>
          <a:xfrm>
            <a:off x="548640" y="4526280"/>
            <a:ext cx="11064240" cy="1600200"/>
          </a:xfrm>
          <a:prstGeom prst="roundRect">
            <a:avLst>
              <a:gd name="adj" fmla="val 5714"/>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Text 14"/>
          <p:cNvSpPr/>
          <p:nvPr/>
        </p:nvSpPr>
        <p:spPr>
          <a:xfrm>
            <a:off x="914400" y="4754880"/>
            <a:ext cx="274320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The ask</a:t>
            </a:r>
            <a:endParaRPr lang="en-US" sz="1600" dirty="0"/>
          </a:p>
        </p:txBody>
      </p:sp>
      <p:sp>
        <p:nvSpPr>
          <p:cNvPr id="20" name="Text 15"/>
          <p:cNvSpPr/>
          <p:nvPr/>
        </p:nvSpPr>
        <p:spPr>
          <a:xfrm>
            <a:off x="914400" y="5138928"/>
            <a:ext cx="10332720" cy="868680"/>
          </a:xfrm>
          <a:prstGeom prst="rect">
            <a:avLst/>
          </a:prstGeom>
          <a:noFill/>
          <a:ln/>
        </p:spPr>
        <p:txBody>
          <a:bodyPr wrap="square" lIns="0" tIns="0" rIns="0" bIns="0" rtlCol="0" anchor="ctr"/>
          <a:lstStyle/>
          <a:p>
            <a:pPr indent="0" marL="0">
              <a:buNone/>
            </a:pPr>
            <a:r>
              <a:rPr lang="en-US" sz="1300" dirty="0">
                <a:solidFill>
                  <a:srgbClr val="E2E8F0"/>
                </a:solidFill>
                <a:latin typeface="Calibri" pitchFamily="34" charset="0"/>
                <a:ea typeface="Calibri" pitchFamily="34" charset="-122"/>
                <a:cs typeface="Calibri" pitchFamily="34" charset="-120"/>
              </a:rPr>
              <a:t>Three design-partner pilots: hardware companies shipping serialized product internationally on NetSuite or SAP. We instrument one real shipment lane end-to-end and hand your controller the December cutoff file — free, in exchange for feedback and a case study.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Track 2 — Value of Intelligence.</a:t>
            </a:r>
            <a:endParaRPr lang="en-US" sz="3400" dirty="0"/>
          </a:p>
        </p:txBody>
      </p:sp>
      <p:sp>
        <p:nvSpPr>
          <p:cNvPr id="3" name="Text 1"/>
          <p:cNvSpPr/>
          <p:nvPr/>
        </p:nvSpPr>
        <p:spPr>
          <a:xfrm>
            <a:off x="548640" y="1078992"/>
            <a:ext cx="10881360" cy="41148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Real willingness-to-pay, demonstrated in the demo — with Track 1 economics built into the suite’s DNA.</a:t>
            </a:r>
            <a:endParaRPr lang="en-US" sz="1400" dirty="0"/>
          </a:p>
        </p:txBody>
      </p:sp>
      <p:sp>
        <p:nvSpPr>
          <p:cNvPr id="4" name="Shape 2"/>
          <p:cNvSpPr/>
          <p:nvPr/>
        </p:nvSpPr>
        <p:spPr>
          <a:xfrm>
            <a:off x="548640" y="1691640"/>
            <a:ext cx="5577840" cy="2743200"/>
          </a:xfrm>
          <a:prstGeom prst="roundRect">
            <a:avLst>
              <a:gd name="adj" fmla="val 3333"/>
            </a:avLst>
          </a:prstGeom>
          <a:solidFill>
            <a:srgbClr val="059669"/>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5" name="Text 3"/>
          <p:cNvSpPr/>
          <p:nvPr/>
        </p:nvSpPr>
        <p:spPr>
          <a:xfrm>
            <a:off x="868680" y="1920240"/>
            <a:ext cx="5029200" cy="320040"/>
          </a:xfrm>
          <a:prstGeom prst="rect">
            <a:avLst/>
          </a:prstGeom>
          <a:noFill/>
          <a:ln/>
        </p:spPr>
        <p:txBody>
          <a:bodyPr wrap="square" lIns="0" tIns="0" rIns="0" bIns="0" rtlCol="0" anchor="ctr"/>
          <a:lstStyle/>
          <a:p>
            <a:pPr indent="0" marL="0">
              <a:buNone/>
            </a:pPr>
            <a:r>
              <a:rPr lang="en-US" sz="1200" b="1" spc="100" kern="0" dirty="0">
                <a:solidFill>
                  <a:srgbClr val="FFFFFF"/>
                </a:solidFill>
                <a:latin typeface="Calibri" pitchFamily="34" charset="0"/>
                <a:ea typeface="Calibri" pitchFamily="34" charset="-122"/>
                <a:cs typeface="Calibri" pitchFamily="34" charset="-120"/>
              </a:rPr>
              <a:t>PRIMARY · TRACK 2 — VALUE OF INTELLIGENCE</a:t>
            </a:r>
            <a:endParaRPr lang="en-US" sz="1200" dirty="0"/>
          </a:p>
        </p:txBody>
      </p:sp>
      <p:sp>
        <p:nvSpPr>
          <p:cNvPr id="6" name="Text 4"/>
          <p:cNvSpPr/>
          <p:nvPr/>
        </p:nvSpPr>
        <p:spPr>
          <a:xfrm>
            <a:off x="868680" y="2331720"/>
            <a:ext cx="4983480" cy="19659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Company side: $12K/yr ACV — the controller buys audit-ready revenue recognition (SOM model: 4,000 exporters × $12K).</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Carrier side: free add-in + ~2% take rate per accepted load — $29 on the $1,450 demo load, marketplace economics.</a:t>
            </a:r>
            <a:endParaRPr lang="en-US" sz="1150" dirty="0"/>
          </a:p>
          <a:p>
            <a:pPr marL="342900" indent="-342900">
              <a:buSzPct val="100000"/>
              <a:buChar char="•"/>
            </a:pPr>
            <a:r>
              <a:rPr lang="en-US" sz="1150" dirty="0">
                <a:solidFill>
                  <a:srgbClr val="FFFFFF"/>
                </a:solidFill>
                <a:latin typeface="Calibri" pitchFamily="34" charset="0"/>
                <a:ea typeface="Calibri" pitchFamily="34" charset="-122"/>
                <a:cs typeface="Calibri" pitchFamily="34" charset="-120"/>
              </a:rPr>
              <a:t>The $10 ARR-per-user bar is cleared ~1,000× per seat. Willingness-to-pay is the demo itself: the $1M flag no CFO wants to miss.</a:t>
            </a:r>
            <a:endParaRPr lang="en-US" sz="1150" dirty="0"/>
          </a:p>
        </p:txBody>
      </p:sp>
      <p:sp>
        <p:nvSpPr>
          <p:cNvPr id="7" name="Shape 5"/>
          <p:cNvSpPr/>
          <p:nvPr/>
        </p:nvSpPr>
        <p:spPr>
          <a:xfrm>
            <a:off x="6400800" y="1691640"/>
            <a:ext cx="5212080" cy="2743200"/>
          </a:xfrm>
          <a:prstGeom prst="roundRect">
            <a:avLst>
              <a:gd name="adj" fmla="val 3333"/>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6720840" y="1920240"/>
            <a:ext cx="4663440" cy="320040"/>
          </a:xfrm>
          <a:prstGeom prst="rect">
            <a:avLst/>
          </a:prstGeom>
          <a:noFill/>
          <a:ln/>
        </p:spPr>
        <p:txBody>
          <a:bodyPr wrap="square" lIns="0" tIns="0" rIns="0" bIns="0" rtlCol="0" anchor="ctr"/>
          <a:lstStyle/>
          <a:p>
            <a:pPr indent="0" marL="0">
              <a:buNone/>
            </a:pPr>
            <a:r>
              <a:rPr lang="en-US" sz="1200" b="1" spc="100" kern="0" dirty="0">
                <a:solidFill>
                  <a:srgbClr val="0F766E"/>
                </a:solidFill>
                <a:latin typeface="Calibri" pitchFamily="34" charset="0"/>
                <a:ea typeface="Calibri" pitchFamily="34" charset="-122"/>
                <a:cs typeface="Calibri" pitchFamily="34" charset="-120"/>
              </a:rPr>
              <a:t>CROSS-CREDIT · TRACK 1 — COST OF INTELLIGENCE</a:t>
            </a:r>
            <a:endParaRPr lang="en-US" sz="1200" dirty="0"/>
          </a:p>
        </p:txBody>
      </p:sp>
      <p:sp>
        <p:nvSpPr>
          <p:cNvPr id="9" name="Text 7"/>
          <p:cNvSpPr/>
          <p:nvPr/>
        </p:nvSpPr>
        <p:spPr>
          <a:xfrm>
            <a:off x="6720840" y="2286000"/>
            <a:ext cx="4663440" cy="365760"/>
          </a:xfrm>
          <a:prstGeom prst="rect">
            <a:avLst/>
          </a:prstGeom>
          <a:noFill/>
          <a:ln/>
        </p:spPr>
        <p:txBody>
          <a:bodyPr wrap="square" lIns="0" tIns="0" rIns="0" bIns="0" rtlCol="0" anchor="ctr"/>
          <a:lstStyle/>
          <a:p>
            <a:pPr indent="0" marL="0">
              <a:buNone/>
            </a:pPr>
            <a:r>
              <a:rPr lang="en-US" sz="1300" b="1" i="1" dirty="0">
                <a:solidFill>
                  <a:srgbClr val="0F172A"/>
                </a:solidFill>
                <a:latin typeface="Calibri" pitchFamily="34" charset="0"/>
                <a:ea typeface="Calibri" pitchFamily="34" charset="-122"/>
                <a:cs typeface="Calibri" pitchFamily="34" charset="-120"/>
              </a:rPr>
              <a:t>“Materiality determines AI spend.”</a:t>
            </a:r>
            <a:endParaRPr lang="en-US" sz="1300" dirty="0"/>
          </a:p>
        </p:txBody>
      </p:sp>
      <p:sp>
        <p:nvSpPr>
          <p:cNvPr id="10" name="Text 8"/>
          <p:cNvSpPr/>
          <p:nvPr/>
        </p:nvSpPr>
        <p:spPr>
          <a:xfrm>
            <a:off x="6720840" y="2697480"/>
            <a:ext cx="4709160" cy="164592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75569"/>
                </a:solidFill>
                <a:latin typeface="Calibri" pitchFamily="34" charset="0"/>
                <a:ea typeface="Calibri" pitchFamily="34" charset="-122"/>
                <a:cs typeface="Calibri" pitchFamily="34" charset="-120"/>
              </a:rPr>
              <a:t>The Guard suite routes AI attention by materiality: rules clear the bulk, economy AI screens the middle, premium AI investigates only material exceptions like the $1M lane.</a:t>
            </a:r>
            <a:endParaRPr lang="en-US" sz="1150" dirty="0"/>
          </a:p>
          <a:p>
            <a:pPr marL="342900" indent="-342900">
              <a:buSzPct val="100000"/>
              <a:buChar char="•"/>
            </a:pPr>
            <a:r>
              <a:rPr lang="en-US" sz="1150" dirty="0">
                <a:solidFill>
                  <a:srgbClr val="475569"/>
                </a:solidFill>
                <a:latin typeface="Calibri" pitchFamily="34" charset="0"/>
                <a:ea typeface="Calibri" pitchFamily="34" charset="-122"/>
                <a:cs typeface="Calibri" pitchFamily="34" charset="-120"/>
              </a:rPr>
              <a:t>Suite result shown live: 85% less AI consumption — 410K → 63K tokens, $1.84 → $0.28 per close. A real percentage cost reduction, in the demo.</a:t>
            </a:r>
            <a:endParaRPr lang="en-US" sz="1150" dirty="0"/>
          </a:p>
        </p:txBody>
      </p:sp>
      <p:sp>
        <p:nvSpPr>
          <p:cNvPr id="11" name="Shape 9"/>
          <p:cNvSpPr/>
          <p:nvPr/>
        </p:nvSpPr>
        <p:spPr>
          <a:xfrm>
            <a:off x="548640" y="4709160"/>
            <a:ext cx="5577840" cy="1463040"/>
          </a:xfrm>
          <a:prstGeom prst="roundRect">
            <a:avLst>
              <a:gd name="adj" fmla="val 6250"/>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868680" y="4919472"/>
            <a:ext cx="5029200" cy="32004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Optional sponsor tools — wiring plan (demo setup)</a:t>
            </a:r>
            <a:endParaRPr lang="en-US" sz="1300" dirty="0"/>
          </a:p>
        </p:txBody>
      </p:sp>
      <p:sp>
        <p:nvSpPr>
          <p:cNvPr id="13" name="Text 11"/>
          <p:cNvSpPr/>
          <p:nvPr/>
        </p:nvSpPr>
        <p:spPr>
          <a:xfrm>
            <a:off x="868680" y="5257800"/>
            <a:ext cx="5029200" cy="8686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Evermind → persistent agent memory of vendor performance, feeding route rankings and on-time scores. Voice Cursor → hands-free custody logging at the dock (“hand-off to Cascade — signed”). Both drop into hooks that already exist: the route ranker and the scan intake.</a:t>
            </a:r>
            <a:endParaRPr lang="en-US" sz="1050" dirty="0"/>
          </a:p>
        </p:txBody>
      </p:sp>
      <p:sp>
        <p:nvSpPr>
          <p:cNvPr id="14" name="Shape 12"/>
          <p:cNvSpPr/>
          <p:nvPr/>
        </p:nvSpPr>
        <p:spPr>
          <a:xfrm>
            <a:off x="6400800" y="4709160"/>
            <a:ext cx="5212080" cy="1463040"/>
          </a:xfrm>
          <a:prstGeom prst="roundRect">
            <a:avLst>
              <a:gd name="adj" fmla="val 6250"/>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5" name="Text 13"/>
          <p:cNvSpPr/>
          <p:nvPr/>
        </p:nvSpPr>
        <p:spPr>
          <a:xfrm>
            <a:off x="6720840" y="4919472"/>
            <a:ext cx="4663440" cy="320040"/>
          </a:xfrm>
          <a:prstGeom prst="rect">
            <a:avLst/>
          </a:prstGeom>
          <a:noFill/>
          <a:ln/>
        </p:spPr>
        <p:txBody>
          <a:bodyPr wrap="square" lIns="0" tIns="0" rIns="0" bIns="0" rtlCol="0" anchor="ctr"/>
          <a:lstStyle/>
          <a:p>
            <a:pPr indent="0" marL="0">
              <a:buNone/>
            </a:pPr>
            <a:r>
              <a:rPr lang="en-US" sz="1300" b="1" dirty="0">
                <a:solidFill>
                  <a:srgbClr val="34D399"/>
                </a:solidFill>
                <a:latin typeface="Calibri" pitchFamily="34" charset="0"/>
                <a:ea typeface="Calibri" pitchFamily="34" charset="-122"/>
                <a:cs typeface="Calibri" pitchFamily="34" charset="-120"/>
              </a:rPr>
              <a:t>The 3-minute demo</a:t>
            </a:r>
            <a:endParaRPr lang="en-US" sz="1300" dirty="0"/>
          </a:p>
        </p:txBody>
      </p:sp>
      <p:sp>
        <p:nvSpPr>
          <p:cNvPr id="16" name="Text 14"/>
          <p:cNvSpPr/>
          <p:nvPr/>
        </p:nvSpPr>
        <p:spPr>
          <a:xfrm>
            <a:off x="6720840" y="5257800"/>
            <a:ext cx="4709160" cy="86868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Label scan → AI route + need-by override → carrier accepts Uber-style → docs-pack PDF → label scan flips it to received → the $1M FOB-destination flag. Submit by 3:55 — the deadline docks points.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68680" y="1613916"/>
            <a:ext cx="10424160" cy="0"/>
          </a:xfrm>
          <a:prstGeom prst="line">
            <a:avLst/>
          </a:prstGeom>
          <a:noFill/>
          <a:ln w="22225">
            <a:solidFill>
              <a:srgbClr val="0F766E"/>
            </a:solidFill>
            <a:prstDash val="solid"/>
          </a:ln>
        </p:spPr>
      </p:sp>
      <p:sp>
        <p:nvSpPr>
          <p:cNvPr id="3" name="Shape 1"/>
          <p:cNvSpPr/>
          <p:nvPr/>
        </p:nvSpPr>
        <p:spPr>
          <a:xfrm>
            <a:off x="809244" y="1554480"/>
            <a:ext cx="118872" cy="118872"/>
          </a:xfrm>
          <a:prstGeom prst="ellipse">
            <a:avLst/>
          </a:prstGeom>
          <a:solidFill>
            <a:srgbClr val="0F766E"/>
          </a:solidFill>
          <a:ln/>
        </p:spPr>
      </p:sp>
      <p:sp>
        <p:nvSpPr>
          <p:cNvPr id="4" name="Shape 2"/>
          <p:cNvSpPr/>
          <p:nvPr/>
        </p:nvSpPr>
        <p:spPr>
          <a:xfrm>
            <a:off x="2298410" y="1554480"/>
            <a:ext cx="118872" cy="118872"/>
          </a:xfrm>
          <a:prstGeom prst="ellipse">
            <a:avLst/>
          </a:prstGeom>
          <a:solidFill>
            <a:srgbClr val="0F766E"/>
          </a:solidFill>
          <a:ln/>
        </p:spPr>
      </p:sp>
      <p:sp>
        <p:nvSpPr>
          <p:cNvPr id="5" name="Shape 3"/>
          <p:cNvSpPr/>
          <p:nvPr/>
        </p:nvSpPr>
        <p:spPr>
          <a:xfrm>
            <a:off x="3787575" y="1554480"/>
            <a:ext cx="118872" cy="118872"/>
          </a:xfrm>
          <a:prstGeom prst="ellipse">
            <a:avLst/>
          </a:prstGeom>
          <a:solidFill>
            <a:srgbClr val="0F766E"/>
          </a:solidFill>
          <a:ln/>
        </p:spPr>
      </p:sp>
      <p:sp>
        <p:nvSpPr>
          <p:cNvPr id="6" name="Shape 4"/>
          <p:cNvSpPr/>
          <p:nvPr/>
        </p:nvSpPr>
        <p:spPr>
          <a:xfrm>
            <a:off x="5276741" y="1554480"/>
            <a:ext cx="118872" cy="118872"/>
          </a:xfrm>
          <a:prstGeom prst="ellipse">
            <a:avLst/>
          </a:prstGeom>
          <a:solidFill>
            <a:srgbClr val="0F766E"/>
          </a:solidFill>
          <a:ln/>
        </p:spPr>
      </p:sp>
      <p:sp>
        <p:nvSpPr>
          <p:cNvPr id="7" name="Shape 5"/>
          <p:cNvSpPr/>
          <p:nvPr/>
        </p:nvSpPr>
        <p:spPr>
          <a:xfrm>
            <a:off x="6765907" y="1554480"/>
            <a:ext cx="118872" cy="118872"/>
          </a:xfrm>
          <a:prstGeom prst="ellipse">
            <a:avLst/>
          </a:prstGeom>
          <a:solidFill>
            <a:srgbClr val="0F766E"/>
          </a:solidFill>
          <a:ln/>
        </p:spPr>
      </p:sp>
      <p:sp>
        <p:nvSpPr>
          <p:cNvPr id="8" name="Shape 6"/>
          <p:cNvSpPr/>
          <p:nvPr/>
        </p:nvSpPr>
        <p:spPr>
          <a:xfrm>
            <a:off x="8255073" y="1554480"/>
            <a:ext cx="118872" cy="118872"/>
          </a:xfrm>
          <a:prstGeom prst="ellipse">
            <a:avLst/>
          </a:prstGeom>
          <a:solidFill>
            <a:srgbClr val="0F766E"/>
          </a:solidFill>
          <a:ln/>
        </p:spPr>
      </p:sp>
      <p:sp>
        <p:nvSpPr>
          <p:cNvPr id="9" name="Shape 7"/>
          <p:cNvSpPr/>
          <p:nvPr/>
        </p:nvSpPr>
        <p:spPr>
          <a:xfrm>
            <a:off x="9744238" y="1554480"/>
            <a:ext cx="118872" cy="118872"/>
          </a:xfrm>
          <a:prstGeom prst="ellipse">
            <a:avLst/>
          </a:prstGeom>
          <a:solidFill>
            <a:srgbClr val="0F766E"/>
          </a:solidFill>
          <a:ln/>
        </p:spPr>
      </p:sp>
      <p:sp>
        <p:nvSpPr>
          <p:cNvPr id="10" name="Shape 8"/>
          <p:cNvSpPr/>
          <p:nvPr/>
        </p:nvSpPr>
        <p:spPr>
          <a:xfrm>
            <a:off x="11233404" y="1554480"/>
            <a:ext cx="118872" cy="118872"/>
          </a:xfrm>
          <a:prstGeom prst="ellipse">
            <a:avLst/>
          </a:prstGeom>
          <a:solidFill>
            <a:srgbClr val="0F766E"/>
          </a:solidFill>
          <a:ln/>
        </p:spPr>
      </p:sp>
      <p:sp>
        <p:nvSpPr>
          <p:cNvPr id="11" name="Text 9"/>
          <p:cNvSpPr/>
          <p:nvPr/>
        </p:nvSpPr>
        <p:spPr>
          <a:xfrm>
            <a:off x="822960" y="2148840"/>
            <a:ext cx="10515600" cy="1828800"/>
          </a:xfrm>
          <a:prstGeom prst="rect">
            <a:avLst/>
          </a:prstGeom>
          <a:noFill/>
          <a:ln/>
        </p:spPr>
        <p:txBody>
          <a:bodyPr wrap="square" lIns="0" tIns="0" rIns="0" bIns="0" rtlCol="0" anchor="ctr"/>
          <a:lstStyle/>
          <a:p>
            <a:pPr indent="0" marL="0">
              <a:buNone/>
            </a:pPr>
            <a:r>
              <a:rPr lang="en-US" sz="5200" b="1" dirty="0">
                <a:solidFill>
                  <a:srgbClr val="FFFFFF"/>
                </a:solidFill>
                <a:latin typeface="Calibri" pitchFamily="34" charset="0"/>
                <a:ea typeface="Calibri" pitchFamily="34" charset="-122"/>
                <a:cs typeface="Calibri" pitchFamily="34" charset="-120"/>
              </a:rPr>
              <a:t>Every hand-off.</a:t>
            </a:r>
            <a:endParaRPr lang="en-US" sz="5200" dirty="0"/>
          </a:p>
          <a:p>
            <a:pPr indent="0" marL="0">
              <a:buNone/>
            </a:pPr>
            <a:r>
              <a:rPr lang="en-US" sz="5200" b="1" dirty="0">
                <a:solidFill>
                  <a:srgbClr val="FFFFFF"/>
                </a:solidFill>
                <a:latin typeface="Calibri" pitchFamily="34" charset="0"/>
                <a:ea typeface="Calibri" pitchFamily="34" charset="-122"/>
                <a:cs typeface="Calibri" pitchFamily="34" charset="-120"/>
              </a:rPr>
              <a:t>One transaction truth.</a:t>
            </a:r>
            <a:endParaRPr lang="en-US" sz="5200" dirty="0"/>
          </a:p>
        </p:txBody>
      </p:sp>
      <p:sp>
        <p:nvSpPr>
          <p:cNvPr id="12" name="Text 10"/>
          <p:cNvSpPr/>
          <p:nvPr/>
        </p:nvSpPr>
        <p:spPr>
          <a:xfrm>
            <a:off x="822960" y="4206240"/>
            <a:ext cx="10515600" cy="457200"/>
          </a:xfrm>
          <a:prstGeom prst="rect">
            <a:avLst/>
          </a:prstGeom>
          <a:noFill/>
          <a:ln/>
        </p:spPr>
        <p:txBody>
          <a:bodyPr wrap="square" lIns="0" tIns="0" rIns="0" bIns="0" rtlCol="0" anchor="ctr"/>
          <a:lstStyle/>
          <a:p>
            <a:pPr indent="0" marL="0">
              <a:buNone/>
            </a:pPr>
            <a:r>
              <a:rPr lang="en-US" sz="1800" b="1" dirty="0">
                <a:solidFill>
                  <a:srgbClr val="34D399"/>
                </a:solidFill>
                <a:latin typeface="Calibri" pitchFamily="34" charset="0"/>
                <a:ea typeface="Calibri" pitchFamily="34" charset="-122"/>
                <a:cs typeface="Calibri" pitchFamily="34" charset="-120"/>
              </a:rPr>
              <a:t>Transit Guard — Fast Insights Guard Suite</a:t>
            </a:r>
            <a:endParaRPr lang="en-US" sz="1800" dirty="0"/>
          </a:p>
        </p:txBody>
      </p:sp>
      <p:sp>
        <p:nvSpPr>
          <p:cNvPr id="13" name="Text 11"/>
          <p:cNvSpPr/>
          <p:nvPr/>
        </p:nvSpPr>
        <p:spPr>
          <a:xfrm>
            <a:off x="822960" y="4709160"/>
            <a:ext cx="10515600" cy="411480"/>
          </a:xfrm>
          <a:prstGeom prst="rect">
            <a:avLst/>
          </a:prstGeom>
          <a:noFill/>
          <a:ln/>
        </p:spPr>
        <p:txBody>
          <a:bodyPr wrap="square" lIns="0" tIns="0" rIns="0" bIns="0" rtlCol="0" anchor="ctr"/>
          <a:lstStyle/>
          <a:p>
            <a:pPr indent="0" marL="0">
              <a:buNone/>
            </a:pPr>
            <a:r>
              <a:rPr lang="en-US" sz="1350" dirty="0">
                <a:solidFill>
                  <a:srgbClr val="CBD5E1"/>
                </a:solidFill>
                <a:latin typeface="Calibri" pitchFamily="34" charset="0"/>
                <a:ea typeface="Calibri" pitchFamily="34" charset="-122"/>
                <a:cs typeface="Calibri" pitchFamily="34" charset="-120"/>
              </a:rPr>
              <a:t>Transparency for tax planning · delivery dates for revenue recognition · audit-ready documentation · stock planning · returns management.</a:t>
            </a:r>
            <a:endParaRPr lang="en-US" sz="1350" dirty="0"/>
          </a:p>
        </p:txBody>
      </p:sp>
      <p:sp>
        <p:nvSpPr>
          <p:cNvPr id="14" name="Text 12"/>
          <p:cNvSpPr/>
          <p:nvPr/>
        </p:nvSpPr>
        <p:spPr>
          <a:xfrm>
            <a:off x="822960" y="5212080"/>
            <a:ext cx="105156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Live demo: localhost:5174 · All data synthetic · Thank you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2026-08-07T21:09:54Z</dcterms:created>
  <dcterms:modified xsi:type="dcterms:W3CDTF">2026-08-07T21:09:54Z</dcterms:modified>
</cp:coreProperties>
</file>