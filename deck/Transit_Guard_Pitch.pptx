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75569"/>
                </a:solidFill>
                <a:latin typeface="Arial"/>
              </a:defRPr>
            </a:pPr>
            <a:r>
              <a:rPr sz="1300" b="0" i="0" u="none" strike="noStrike">
                <a:solidFill>
                  <a:srgbClr val="475569"/>
                </a:solidFill>
                <a:latin typeface="Arial"/>
              </a:rPr>
              <a:t>Supply chain visibility software, $B</a:t>
            </a:r>
          </a:p>
        </c:rich>
      </c:tx>
      <c:layout/>
      <c:overlay val="0"/>
    </c:title>
    <c:autoTitleDeleted val="0"/>
    <c:plotArea>
      <c:layout/>
      <c:barChart>
        <c:barDir val="col"/>
        <c:grouping val="clustered"/>
        <c:varyColors val="0"/>
        <c:ser>
          <c:idx val="0"/>
          <c:order val="0"/>
          <c:tx>
            <c:strRef>
              <c:f>Sheet1!$B$1</c:f>
              <c:strCache>
                <c:ptCount val="1"/>
                <c:pt idx="0">
                  <c:v>Market size ($B)</c:v>
                </c:pt>
              </c:strCache>
            </c:strRef>
          </c:tx>
          <c:spPr>
            <a:solidFill>
              <a:srgbClr val="059669"/>
            </a:solidFill>
            <a:effectLst/>
          </c:spPr>
          <c:invertIfNegative val="0"/>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2025</c:v>
                  </c:pt>
                  <c:pt idx="1">
                    <c:v>2030</c:v>
                  </c:pt>
                  <c:pt idx="2">
                    <c:v>2035</c:v>
                  </c:pt>
                </c:lvl>
              </c:multiLvlStrCache>
            </c:multiLvlStrRef>
          </c:cat>
          <c:val>
            <c:numRef>
              <c:f>Sheet1!$B$2:$B$4</c:f>
              <c:numCache>
                <c:formatCode>General</c:formatCode>
                <c:ptCount val="3"/>
                <c:pt idx="0">
                  <c:v>3.3</c:v>
                </c:pt>
                <c:pt idx="1">
                  <c:v>6.3</c:v>
                </c:pt>
                <c:pt idx="2">
                  <c:v>10.9</c:v>
                </c:pt>
              </c:numCache>
            </c:numRef>
          </c:val>
        </c:ser>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Guard is the second product in the Fast Insights Guard suite. Inventory Close Guard proves the close; Transit Guard captures the custody truth that makes the close provable.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a unit leaves the shelf, the reason it left and the dates it changed hands stop being captured anywhere systematic. That is precisely the data revenue recognition and audit existence testing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mechanic: one transaction ID travels the whole chain. Accounting and the warehouse look at the same record. The RMA flow is the sale flow reversed — no new process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hero lane, live in the app as TX-20499: a $1M perishable shipment from Palo Alto through New York, across the Atlantic to the UK, EU entry in Poland, delivered in Switzerland. FOB destination plus a −2 °C cold chain makes it the hardest revenue-recognition case we could pick — and the custody chain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exists and runs today. Live wow-moments: the AI route override; the carrier DECLINING a load and the agent rerouting it to Redline in seconds (Uber-style availability matching); one-click per-stage documents; the label scan flipping docs to received; the auto vendor substitution. Toggle the 📱/🖥️ switch above the demo to show the same app as desktop web and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flags live in the demo, led by the $1M FOB-destination cold-chain lane. The point is not anomaly-detection theater — each flag cites the custody events that prove it, and each one ends in a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coordination contract judges should remember: agents do the matching and rerouting on availability plus weights &amp; measures; humans only see decisions that cross the tolerance gate (±10% / $200 / 2-day). The memory split is the Track 1 tie-in: constants are cached (cost per ton, owned lanes), only the date-window availability is queried per order — so agent decisions stay cheap. The same workflow is packaged as an EverOS prompt with seed memory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matters to judges who know the space: we are not competing with NetSuite, SAP, Oracle, or BlackLine. We are the capture layer between them — and the Guard suite gives us a built-in consumer of the evidence at close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is total SCM software spend. SAM narrows to the goods-in-motion layer where we live: visibility plus inventory software. SOM is the concrete beachhead: US mid-market companies exporting serialized hardware — exactly the Fast Insights profile — at a $12K land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transportation visibility platforms answer “where is my truck.” We answer “who has custody, since when, with what documents, and what does that mean for December revenue.” Different question, different buyer — the controller, not the logistics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design is deliberately small: one shipment lane, one quarter, one deliverable the controller already wants — the cutoff evidence file at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2 is the primary entry: the product monetizes on both sides of the marketplace and clears the $10 ARR/user bar by orders of magnitude. Track 1 cross-credit comes from the suite economics — the 85% AI-consumption reduction is a real, demoable percentage. Sponsor tools are positioned as wiring, not shipped integrations — be precise about that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then switch straight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22960" y="1234440"/>
            <a:ext cx="10515600" cy="365760"/>
          </a:xfrm>
          <a:prstGeom prst="rect">
            <a:avLst/>
          </a:prstGeom>
          <a:noFill/>
          <a:ln/>
        </p:spPr>
        <p:txBody>
          <a:bodyPr wrap="square" lIns="0" tIns="0" rIns="0" bIns="0" rtlCol="0" anchor="ctr"/>
          <a:lstStyle/>
          <a:p>
            <a:pPr indent="0" marL="0">
              <a:buNone/>
            </a:pPr>
            <a:r>
              <a:rPr lang="en-US" sz="1500" b="1" spc="400" kern="0" dirty="0">
                <a:solidFill>
                  <a:srgbClr val="34D399"/>
                </a:solidFill>
                <a:latin typeface="Calibri" pitchFamily="34" charset="0"/>
                <a:ea typeface="Calibri" pitchFamily="34" charset="-122"/>
                <a:cs typeface="Calibri" pitchFamily="34" charset="-120"/>
              </a:rPr>
              <a:t>FAST INSIGHTS GUARD SUITE</a:t>
            </a:r>
            <a:endParaRPr lang="en-US" sz="1500" dirty="0"/>
          </a:p>
        </p:txBody>
      </p:sp>
      <p:sp>
        <p:nvSpPr>
          <p:cNvPr id="3" name="Text 1"/>
          <p:cNvSpPr/>
          <p:nvPr/>
        </p:nvSpPr>
        <p:spPr>
          <a:xfrm>
            <a:off x="822960" y="16002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Transit Guard</a:t>
            </a:r>
            <a:endParaRPr lang="en-US" sz="6400" dirty="0"/>
          </a:p>
        </p:txBody>
      </p:sp>
      <p:sp>
        <p:nvSpPr>
          <p:cNvPr id="4" name="Text 2"/>
          <p:cNvSpPr/>
          <p:nvPr/>
        </p:nvSpPr>
        <p:spPr>
          <a:xfrm>
            <a:off x="822960" y="2788920"/>
            <a:ext cx="10515600" cy="548640"/>
          </a:xfrm>
          <a:prstGeom prst="rect">
            <a:avLst/>
          </a:prstGeom>
          <a:noFill/>
          <a:ln/>
        </p:spPr>
        <p:txBody>
          <a:bodyPr wrap="square" lIns="0" tIns="0" rIns="0" bIns="0" rtlCol="0" anchor="ctr"/>
          <a:lstStyle/>
          <a:p>
            <a:pPr indent="0" marL="0">
              <a:buNone/>
            </a:pPr>
            <a:r>
              <a:rPr lang="en-US" sz="2600" i="1" dirty="0">
                <a:solidFill>
                  <a:srgbClr val="CBD5E1"/>
                </a:solidFill>
                <a:latin typeface="Calibri" pitchFamily="34" charset="0"/>
                <a:ea typeface="Calibri" pitchFamily="34" charset="-122"/>
                <a:cs typeface="Calibri" pitchFamily="34" charset="-120"/>
              </a:rPr>
              <a:t>Every hand-off. One transaction truth.</a:t>
            </a:r>
            <a:endParaRPr lang="en-US" sz="2600" dirty="0"/>
          </a:p>
        </p:txBody>
      </p:sp>
      <p:sp>
        <p:nvSpPr>
          <p:cNvPr id="5" name="Text 3"/>
          <p:cNvSpPr/>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Chain-of-custody inventory tracking from the warehouse shelf to the customer — and back again.</a:t>
            </a:r>
            <a:endParaRPr lang="en-US" sz="1600" dirty="0"/>
          </a:p>
        </p:txBody>
      </p:sp>
      <p:sp>
        <p:nvSpPr>
          <p:cNvPr id="6" name="Shape 4"/>
          <p:cNvSpPr/>
          <p:nvPr/>
        </p:nvSpPr>
        <p:spPr>
          <a:xfrm>
            <a:off x="868680" y="4517136"/>
            <a:ext cx="10424160" cy="0"/>
          </a:xfrm>
          <a:prstGeom prst="line">
            <a:avLst/>
          </a:prstGeom>
          <a:noFill/>
          <a:ln w="22225">
            <a:solidFill>
              <a:srgbClr val="34D399"/>
            </a:solidFill>
            <a:prstDash val="solid"/>
          </a:ln>
        </p:spPr>
      </p:sp>
      <p:sp>
        <p:nvSpPr>
          <p:cNvPr id="7" name="Shape 5"/>
          <p:cNvSpPr/>
          <p:nvPr/>
        </p:nvSpPr>
        <p:spPr>
          <a:xfrm>
            <a:off x="786384" y="4434840"/>
            <a:ext cx="164592" cy="164592"/>
          </a:xfrm>
          <a:prstGeom prst="ellipse">
            <a:avLst/>
          </a:prstGeom>
          <a:solidFill>
            <a:srgbClr val="34D399"/>
          </a:solidFill>
          <a:ln/>
        </p:spPr>
      </p:sp>
      <p:sp>
        <p:nvSpPr>
          <p:cNvPr id="8" name="Shape 6"/>
          <p:cNvSpPr/>
          <p:nvPr/>
        </p:nvSpPr>
        <p:spPr>
          <a:xfrm>
            <a:off x="2275550" y="4434840"/>
            <a:ext cx="164592" cy="164592"/>
          </a:xfrm>
          <a:prstGeom prst="ellipse">
            <a:avLst/>
          </a:prstGeom>
          <a:solidFill>
            <a:srgbClr val="34D399"/>
          </a:solidFill>
          <a:ln/>
        </p:spPr>
      </p:sp>
      <p:sp>
        <p:nvSpPr>
          <p:cNvPr id="9" name="Shape 7"/>
          <p:cNvSpPr/>
          <p:nvPr/>
        </p:nvSpPr>
        <p:spPr>
          <a:xfrm>
            <a:off x="3764715" y="4434840"/>
            <a:ext cx="164592" cy="164592"/>
          </a:xfrm>
          <a:prstGeom prst="ellipse">
            <a:avLst/>
          </a:prstGeom>
          <a:solidFill>
            <a:srgbClr val="34D399"/>
          </a:solidFill>
          <a:ln/>
        </p:spPr>
      </p:sp>
      <p:sp>
        <p:nvSpPr>
          <p:cNvPr id="10" name="Shape 8"/>
          <p:cNvSpPr/>
          <p:nvPr/>
        </p:nvSpPr>
        <p:spPr>
          <a:xfrm>
            <a:off x="5253881" y="4434840"/>
            <a:ext cx="164592" cy="164592"/>
          </a:xfrm>
          <a:prstGeom prst="ellipse">
            <a:avLst/>
          </a:prstGeom>
          <a:solidFill>
            <a:srgbClr val="34D399"/>
          </a:solidFill>
          <a:ln/>
        </p:spPr>
      </p:sp>
      <p:sp>
        <p:nvSpPr>
          <p:cNvPr id="11" name="Shape 9"/>
          <p:cNvSpPr/>
          <p:nvPr/>
        </p:nvSpPr>
        <p:spPr>
          <a:xfrm>
            <a:off x="6743047" y="4434840"/>
            <a:ext cx="164592" cy="164592"/>
          </a:xfrm>
          <a:prstGeom prst="ellipse">
            <a:avLst/>
          </a:prstGeom>
          <a:solidFill>
            <a:srgbClr val="34D399"/>
          </a:solidFill>
          <a:ln/>
        </p:spPr>
      </p:sp>
      <p:sp>
        <p:nvSpPr>
          <p:cNvPr id="12" name="Shape 10"/>
          <p:cNvSpPr/>
          <p:nvPr/>
        </p:nvSpPr>
        <p:spPr>
          <a:xfrm>
            <a:off x="8232213" y="4434840"/>
            <a:ext cx="164592" cy="164592"/>
          </a:xfrm>
          <a:prstGeom prst="ellipse">
            <a:avLst/>
          </a:prstGeom>
          <a:solidFill>
            <a:srgbClr val="34D399"/>
          </a:solidFill>
          <a:ln/>
        </p:spPr>
      </p:sp>
      <p:sp>
        <p:nvSpPr>
          <p:cNvPr id="13" name="Shape 11"/>
          <p:cNvSpPr/>
          <p:nvPr/>
        </p:nvSpPr>
        <p:spPr>
          <a:xfrm>
            <a:off x="9721378" y="4434840"/>
            <a:ext cx="164592" cy="164592"/>
          </a:xfrm>
          <a:prstGeom prst="ellipse">
            <a:avLst/>
          </a:prstGeom>
          <a:solidFill>
            <a:srgbClr val="34D399"/>
          </a:solidFill>
          <a:ln/>
        </p:spPr>
      </p:sp>
      <p:sp>
        <p:nvSpPr>
          <p:cNvPr id="14" name="Shape 12"/>
          <p:cNvSpPr/>
          <p:nvPr/>
        </p:nvSpPr>
        <p:spPr>
          <a:xfrm>
            <a:off x="11210544" y="4434840"/>
            <a:ext cx="164592" cy="164592"/>
          </a:xfrm>
          <a:prstGeom prst="ellipse">
            <a:avLst/>
          </a:prstGeom>
          <a:solidFill>
            <a:srgbClr val="34D399"/>
          </a:solidFill>
          <a:ln/>
        </p:spPr>
      </p:sp>
      <p:sp>
        <p:nvSpPr>
          <p:cNvPr id="15" name="Text 13"/>
          <p:cNvSpPr/>
          <p:nvPr/>
        </p:nvSpPr>
        <p:spPr>
          <a:xfrm>
            <a:off x="18288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Warehouse</a:t>
            </a:r>
            <a:endParaRPr lang="en-US" sz="1100" dirty="0"/>
          </a:p>
        </p:txBody>
      </p:sp>
      <p:sp>
        <p:nvSpPr>
          <p:cNvPr id="16" name="Text 14"/>
          <p:cNvSpPr/>
          <p:nvPr/>
        </p:nvSpPr>
        <p:spPr>
          <a:xfrm>
            <a:off x="1672046"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Truck</a:t>
            </a:r>
            <a:endParaRPr lang="en-US" sz="1100" dirty="0"/>
          </a:p>
        </p:txBody>
      </p:sp>
      <p:sp>
        <p:nvSpPr>
          <p:cNvPr id="17" name="Text 15"/>
          <p:cNvSpPr/>
          <p:nvPr/>
        </p:nvSpPr>
        <p:spPr>
          <a:xfrm>
            <a:off x="3161211"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Boatyard</a:t>
            </a:r>
            <a:endParaRPr lang="en-US" sz="1100" dirty="0"/>
          </a:p>
        </p:txBody>
      </p:sp>
      <p:sp>
        <p:nvSpPr>
          <p:cNvPr id="18" name="Text 16"/>
          <p:cNvSpPr/>
          <p:nvPr/>
        </p:nvSpPr>
        <p:spPr>
          <a:xfrm>
            <a:off x="4650377"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Ocean</a:t>
            </a:r>
            <a:endParaRPr lang="en-US" sz="1100" dirty="0"/>
          </a:p>
        </p:txBody>
      </p:sp>
      <p:sp>
        <p:nvSpPr>
          <p:cNvPr id="19" name="Text 17"/>
          <p:cNvSpPr/>
          <p:nvPr/>
        </p:nvSpPr>
        <p:spPr>
          <a:xfrm>
            <a:off x="6139543"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Port</a:t>
            </a:r>
            <a:endParaRPr lang="en-US" sz="1100" dirty="0"/>
          </a:p>
        </p:txBody>
      </p:sp>
      <p:sp>
        <p:nvSpPr>
          <p:cNvPr id="20" name="Text 18"/>
          <p:cNvSpPr/>
          <p:nvPr/>
        </p:nvSpPr>
        <p:spPr>
          <a:xfrm>
            <a:off x="7628709"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Customs</a:t>
            </a:r>
            <a:endParaRPr lang="en-US" sz="1100" dirty="0"/>
          </a:p>
        </p:txBody>
      </p:sp>
      <p:sp>
        <p:nvSpPr>
          <p:cNvPr id="21" name="Text 19"/>
          <p:cNvSpPr/>
          <p:nvPr/>
        </p:nvSpPr>
        <p:spPr>
          <a:xfrm>
            <a:off x="9117874"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Customer</a:t>
            </a:r>
            <a:endParaRPr lang="en-US" sz="1100" dirty="0"/>
          </a:p>
        </p:txBody>
      </p:sp>
      <p:sp>
        <p:nvSpPr>
          <p:cNvPr id="22" name="Text 20"/>
          <p:cNvSpPr/>
          <p:nvPr/>
        </p:nvSpPr>
        <p:spPr>
          <a:xfrm>
            <a:off x="1060704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RMA</a:t>
            </a:r>
            <a:endParaRPr lang="en-US" sz="1100" dirty="0"/>
          </a:p>
        </p:txBody>
      </p:sp>
      <p:sp>
        <p:nvSpPr>
          <p:cNvPr id="23" name="Text 21"/>
          <p:cNvSpPr/>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Hackathon demo · FY2026 year-end close · Jessica Dougherty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8580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Counts are perfect on the shelf. Truth is lost in motion.</a:t>
            </a:r>
            <a:endParaRPr lang="en-US" sz="3400" dirty="0"/>
          </a:p>
        </p:txBody>
      </p:sp>
      <p:sp>
        <p:nvSpPr>
          <p:cNvPr id="3" name="Shape 1"/>
          <p:cNvSpPr/>
          <p:nvPr/>
        </p:nvSpPr>
        <p:spPr>
          <a:xfrm>
            <a:off x="548640" y="1298448"/>
            <a:ext cx="457200" cy="457200"/>
          </a:xfrm>
          <a:prstGeom prst="ellipse">
            <a:avLst/>
          </a:prstGeom>
          <a:solidFill>
            <a:srgbClr val="D1FAE5"/>
          </a:solidFill>
          <a:ln/>
        </p:spPr>
      </p:sp>
      <p:pic>
        <p:nvPicPr>
          <p:cNvPr id="4" name="Image 0" descr="preencoded.png">    </p:cNvPr>
          <p:cNvPicPr>
            <a:picLocks noChangeAspect="1"/>
          </p:cNvPicPr>
          <p:nvPr/>
        </p:nvPicPr>
        <p:blipFill>
          <a:blip r:embed="rId1"/>
          <a:stretch>
            <a:fillRect/>
          </a:stretch>
        </p:blipFill>
        <p:spPr>
          <a:xfrm>
            <a:off x="667512" y="1417320"/>
            <a:ext cx="219456" cy="219456"/>
          </a:xfrm>
          <a:prstGeom prst="rect">
            <a:avLst/>
          </a:prstGeom>
        </p:spPr>
      </p:pic>
      <p:sp>
        <p:nvSpPr>
          <p:cNvPr id="5" name="Text 2"/>
          <p:cNvSpPr/>
          <p:nvPr/>
        </p:nvSpPr>
        <p:spPr>
          <a:xfrm>
            <a:off x="1188720" y="1225296"/>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Multi-leg hand-offs</a:t>
            </a:r>
            <a:endParaRPr lang="en-US" sz="1500" dirty="0"/>
          </a:p>
        </p:txBody>
      </p:sp>
      <p:sp>
        <p:nvSpPr>
          <p:cNvPr id="6" name="Text 3"/>
          <p:cNvSpPr/>
          <p:nvPr/>
        </p:nvSpPr>
        <p:spPr>
          <a:xfrm>
            <a:off x="1188720" y="1536192"/>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Warehouse → truck → boatyard → vessel → port → customs → customer. Every leg is a different vendor with its own dates and paperwork.</a:t>
            </a:r>
            <a:endParaRPr lang="en-US" sz="1100" dirty="0"/>
          </a:p>
        </p:txBody>
      </p:sp>
      <p:sp>
        <p:nvSpPr>
          <p:cNvPr id="7" name="Shape 4"/>
          <p:cNvSpPr/>
          <p:nvPr/>
        </p:nvSpPr>
        <p:spPr>
          <a:xfrm>
            <a:off x="548640" y="2276856"/>
            <a:ext cx="457200" cy="457200"/>
          </a:xfrm>
          <a:prstGeom prst="ellipse">
            <a:avLst/>
          </a:prstGeom>
          <a:solidFill>
            <a:srgbClr val="E0F2FE"/>
          </a:solidFill>
          <a:ln/>
        </p:spPr>
      </p:sp>
      <p:pic>
        <p:nvPicPr>
          <p:cNvPr id="8" name="Image 1" descr="preencoded.png">    </p:cNvPr>
          <p:cNvPicPr>
            <a:picLocks noChangeAspect="1"/>
          </p:cNvPicPr>
          <p:nvPr/>
        </p:nvPicPr>
        <p:blipFill>
          <a:blip r:embed="rId2"/>
          <a:stretch>
            <a:fillRect/>
          </a:stretch>
        </p:blipFill>
        <p:spPr>
          <a:xfrm>
            <a:off x="667512" y="2395728"/>
            <a:ext cx="219456" cy="219456"/>
          </a:xfrm>
          <a:prstGeom prst="rect">
            <a:avLst/>
          </a:prstGeom>
        </p:spPr>
      </p:pic>
      <p:sp>
        <p:nvSpPr>
          <p:cNvPr id="9" name="Text 5"/>
          <p:cNvSpPr/>
          <p:nvPr/>
        </p:nvSpPr>
        <p:spPr>
          <a:xfrm>
            <a:off x="1188720" y="2203704"/>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Nobody knows who ships this</a:t>
            </a:r>
            <a:endParaRPr lang="en-US" sz="1500" dirty="0"/>
          </a:p>
        </p:txBody>
      </p:sp>
      <p:sp>
        <p:nvSpPr>
          <p:cNvPr id="10" name="Text 6"/>
          <p:cNvSpPr/>
          <p:nvPr/>
        </p:nvSpPr>
        <p:spPr>
          <a:xfrm>
            <a:off x="1188720" y="2514600"/>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 startup lands the sale, then burns days finding carriers, boatyards, and brokers — while the customer’s need-by date slips away.</a:t>
            </a:r>
            <a:endParaRPr lang="en-US" sz="1100" dirty="0"/>
          </a:p>
        </p:txBody>
      </p:sp>
      <p:sp>
        <p:nvSpPr>
          <p:cNvPr id="11" name="Shape 7"/>
          <p:cNvSpPr/>
          <p:nvPr/>
        </p:nvSpPr>
        <p:spPr>
          <a:xfrm>
            <a:off x="548640" y="3255264"/>
            <a:ext cx="457200" cy="457200"/>
          </a:xfrm>
          <a:prstGeom prst="ellipse">
            <a:avLst/>
          </a:prstGeom>
          <a:solidFill>
            <a:srgbClr val="FEF3C7"/>
          </a:solidFill>
          <a:ln/>
        </p:spPr>
      </p:sp>
      <p:pic>
        <p:nvPicPr>
          <p:cNvPr id="12" name="Image 2" descr="preencoded.png">    </p:cNvPr>
          <p:cNvPicPr>
            <a:picLocks noChangeAspect="1"/>
          </p:cNvPicPr>
          <p:nvPr/>
        </p:nvPicPr>
        <p:blipFill>
          <a:blip r:embed="rId3"/>
          <a:stretch>
            <a:fillRect/>
          </a:stretch>
        </p:blipFill>
        <p:spPr>
          <a:xfrm>
            <a:off x="667512" y="3374136"/>
            <a:ext cx="219456" cy="219456"/>
          </a:xfrm>
          <a:prstGeom prst="rect">
            <a:avLst/>
          </a:prstGeom>
        </p:spPr>
      </p:pic>
      <p:sp>
        <p:nvSpPr>
          <p:cNvPr id="13" name="Text 8"/>
          <p:cNvSpPr/>
          <p:nvPr/>
        </p:nvSpPr>
        <p:spPr>
          <a:xfrm>
            <a:off x="1188720" y="3182112"/>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Revenue timing unproven</a:t>
            </a:r>
            <a:endParaRPr lang="en-US" sz="1500" dirty="0"/>
          </a:p>
        </p:txBody>
      </p:sp>
      <p:sp>
        <p:nvSpPr>
          <p:cNvPr id="14" name="Text 9"/>
          <p:cNvSpPr/>
          <p:nvPr/>
        </p:nvSpPr>
        <p:spPr>
          <a:xfrm>
            <a:off x="1188720" y="3493008"/>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Invoice dates and Incoterms disagree. Cutoff evidence lives in carrier emails nobody can find at year-end.</a:t>
            </a:r>
            <a:endParaRPr lang="en-US" sz="1100" dirty="0"/>
          </a:p>
        </p:txBody>
      </p:sp>
      <p:sp>
        <p:nvSpPr>
          <p:cNvPr id="15" name="Shape 10"/>
          <p:cNvSpPr/>
          <p:nvPr/>
        </p:nvSpPr>
        <p:spPr>
          <a:xfrm>
            <a:off x="548640" y="4233672"/>
            <a:ext cx="457200" cy="457200"/>
          </a:xfrm>
          <a:prstGeom prst="ellipse">
            <a:avLst/>
          </a:prstGeom>
          <a:solidFill>
            <a:srgbClr val="CCFBF1"/>
          </a:solidFill>
          <a:ln/>
        </p:spPr>
      </p:sp>
      <p:pic>
        <p:nvPicPr>
          <p:cNvPr id="16" name="Image 3" descr="preencoded.png">    </p:cNvPr>
          <p:cNvPicPr>
            <a:picLocks noChangeAspect="1"/>
          </p:cNvPicPr>
          <p:nvPr/>
        </p:nvPicPr>
        <p:blipFill>
          <a:blip r:embed="rId4"/>
          <a:stretch>
            <a:fillRect/>
          </a:stretch>
        </p:blipFill>
        <p:spPr>
          <a:xfrm>
            <a:off x="667512" y="4352544"/>
            <a:ext cx="219456" cy="219456"/>
          </a:xfrm>
          <a:prstGeom prst="rect">
            <a:avLst/>
          </a:prstGeom>
        </p:spPr>
      </p:pic>
      <p:sp>
        <p:nvSpPr>
          <p:cNvPr id="17" name="Text 11"/>
          <p:cNvSpPr/>
          <p:nvPr/>
        </p:nvSpPr>
        <p:spPr>
          <a:xfrm>
            <a:off x="1188720" y="4160520"/>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Customs is its own maze</a:t>
            </a:r>
            <a:endParaRPr lang="en-US" sz="1500" dirty="0"/>
          </a:p>
        </p:txBody>
      </p:sp>
      <p:sp>
        <p:nvSpPr>
          <p:cNvPr id="18" name="Text 12"/>
          <p:cNvSpPr/>
          <p:nvPr/>
        </p:nvSpPr>
        <p:spPr>
          <a:xfrm>
            <a:off x="1188720" y="4471416"/>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Valuation uses a price list that is not the sales price; every country wants different documents, and requirements change mid-quarter.</a:t>
            </a:r>
            <a:endParaRPr lang="en-US" sz="1100" dirty="0"/>
          </a:p>
        </p:txBody>
      </p:sp>
      <p:sp>
        <p:nvSpPr>
          <p:cNvPr id="19" name="Shape 13"/>
          <p:cNvSpPr/>
          <p:nvPr/>
        </p:nvSpPr>
        <p:spPr>
          <a:xfrm>
            <a:off x="548640" y="5212080"/>
            <a:ext cx="457200" cy="457200"/>
          </a:xfrm>
          <a:prstGeom prst="ellipse">
            <a:avLst/>
          </a:prstGeom>
          <a:solidFill>
            <a:srgbClr val="FFE4E6"/>
          </a:solidFill>
          <a:ln/>
        </p:spPr>
      </p:sp>
      <p:pic>
        <p:nvPicPr>
          <p:cNvPr id="20" name="Image 4" descr="preencoded.png">    </p:cNvPr>
          <p:cNvPicPr>
            <a:picLocks noChangeAspect="1"/>
          </p:cNvPicPr>
          <p:nvPr/>
        </p:nvPicPr>
        <p:blipFill>
          <a:blip r:embed="rId5"/>
          <a:stretch>
            <a:fillRect/>
          </a:stretch>
        </p:blipFill>
        <p:spPr>
          <a:xfrm>
            <a:off x="667512" y="5330952"/>
            <a:ext cx="219456" cy="219456"/>
          </a:xfrm>
          <a:prstGeom prst="rect">
            <a:avLst/>
          </a:prstGeom>
        </p:spPr>
      </p:pic>
      <p:sp>
        <p:nvSpPr>
          <p:cNvPr id="21" name="Text 14"/>
          <p:cNvSpPr/>
          <p:nvPr/>
        </p:nvSpPr>
        <p:spPr>
          <a:xfrm>
            <a:off x="1188720" y="5138928"/>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Returns vanish</a:t>
            </a:r>
            <a:endParaRPr lang="en-US" sz="1500" dirty="0"/>
          </a:p>
        </p:txBody>
      </p:sp>
      <p:sp>
        <p:nvSpPr>
          <p:cNvPr id="22" name="Text 15"/>
          <p:cNvSpPr/>
          <p:nvPr/>
        </p:nvSpPr>
        <p:spPr>
          <a:xfrm>
            <a:off x="1188720" y="5449824"/>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RMAs retrace the same route with none of the tracking — and the credit memo never gets accrued on time.</a:t>
            </a:r>
            <a:endParaRPr lang="en-US" sz="1100" dirty="0"/>
          </a:p>
        </p:txBody>
      </p:sp>
      <p:sp>
        <p:nvSpPr>
          <p:cNvPr id="23" name="Shape 16"/>
          <p:cNvSpPr/>
          <p:nvPr/>
        </p:nvSpPr>
        <p:spPr>
          <a:xfrm>
            <a:off x="6903720" y="1371600"/>
            <a:ext cx="4709160" cy="2926080"/>
          </a:xfrm>
          <a:prstGeom prst="roundRect">
            <a:avLst>
              <a:gd name="adj" fmla="val 312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17"/>
          <p:cNvSpPr/>
          <p:nvPr/>
        </p:nvSpPr>
        <p:spPr>
          <a:xfrm>
            <a:off x="7269480" y="1627632"/>
            <a:ext cx="4114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typical international shipment</a:t>
            </a:r>
            <a:endParaRPr lang="en-US" sz="1500" dirty="0"/>
          </a:p>
        </p:txBody>
      </p:sp>
      <p:sp>
        <p:nvSpPr>
          <p:cNvPr id="25" name="Text 18"/>
          <p:cNvSpPr/>
          <p:nvPr/>
        </p:nvSpPr>
        <p:spPr>
          <a:xfrm>
            <a:off x="726948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7</a:t>
            </a:r>
            <a:endParaRPr lang="en-US" sz="4000" dirty="0"/>
          </a:p>
        </p:txBody>
      </p:sp>
      <p:sp>
        <p:nvSpPr>
          <p:cNvPr id="26" name="Text 19"/>
          <p:cNvSpPr/>
          <p:nvPr/>
        </p:nvSpPr>
        <p:spPr>
          <a:xfrm>
            <a:off x="726948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custody hand-offs</a:t>
            </a:r>
            <a:endParaRPr lang="en-US" sz="1150" dirty="0"/>
          </a:p>
        </p:txBody>
      </p:sp>
      <p:sp>
        <p:nvSpPr>
          <p:cNvPr id="27" name="Text 20"/>
          <p:cNvSpPr/>
          <p:nvPr/>
        </p:nvSpPr>
        <p:spPr>
          <a:xfrm>
            <a:off x="950976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5</a:t>
            </a:r>
            <a:endParaRPr lang="en-US" sz="4000" dirty="0"/>
          </a:p>
        </p:txBody>
      </p:sp>
      <p:sp>
        <p:nvSpPr>
          <p:cNvPr id="28" name="Text 21"/>
          <p:cNvSpPr/>
          <p:nvPr/>
        </p:nvSpPr>
        <p:spPr>
          <a:xfrm>
            <a:off x="950976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different vendors</a:t>
            </a:r>
            <a:endParaRPr lang="en-US" sz="1150" dirty="0"/>
          </a:p>
        </p:txBody>
      </p:sp>
      <p:sp>
        <p:nvSpPr>
          <p:cNvPr id="29" name="Text 22"/>
          <p:cNvSpPr/>
          <p:nvPr/>
        </p:nvSpPr>
        <p:spPr>
          <a:xfrm>
            <a:off x="7269480" y="3127248"/>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2</a:t>
            </a:r>
            <a:endParaRPr lang="en-US" sz="4000" dirty="0"/>
          </a:p>
        </p:txBody>
      </p:sp>
      <p:sp>
        <p:nvSpPr>
          <p:cNvPr id="30" name="Text 23"/>
          <p:cNvSpPr/>
          <p:nvPr/>
        </p:nvSpPr>
        <p:spPr>
          <a:xfrm>
            <a:off x="726948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customs regimes</a:t>
            </a:r>
            <a:endParaRPr lang="en-US" sz="1150" dirty="0"/>
          </a:p>
        </p:txBody>
      </p:sp>
      <p:sp>
        <p:nvSpPr>
          <p:cNvPr id="31" name="Text 24"/>
          <p:cNvSpPr/>
          <p:nvPr/>
        </p:nvSpPr>
        <p:spPr>
          <a:xfrm>
            <a:off x="9509760" y="3127248"/>
            <a:ext cx="2103120" cy="59436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1</a:t>
            </a:r>
            <a:endParaRPr lang="en-US" sz="4000" dirty="0"/>
          </a:p>
        </p:txBody>
      </p:sp>
      <p:sp>
        <p:nvSpPr>
          <p:cNvPr id="32" name="Text 25"/>
          <p:cNvSpPr/>
          <p:nvPr/>
        </p:nvSpPr>
        <p:spPr>
          <a:xfrm>
            <a:off x="950976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spreadsheet holding it together</a:t>
            </a:r>
            <a:endParaRPr lang="en-US" sz="1150" dirty="0"/>
          </a:p>
        </p:txBody>
      </p:sp>
      <p:sp>
        <p:nvSpPr>
          <p:cNvPr id="33" name="Shape 26"/>
          <p:cNvSpPr/>
          <p:nvPr/>
        </p:nvSpPr>
        <p:spPr>
          <a:xfrm>
            <a:off x="6903720" y="4526280"/>
            <a:ext cx="470916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7"/>
          <p:cNvSpPr/>
          <p:nvPr/>
        </p:nvSpPr>
        <p:spPr>
          <a:xfrm>
            <a:off x="7269480" y="4736592"/>
            <a:ext cx="4114800" cy="320040"/>
          </a:xfrm>
          <a:prstGeom prst="rect">
            <a:avLst/>
          </a:prstGeom>
          <a:noFill/>
          <a:ln/>
        </p:spPr>
        <p:txBody>
          <a:bodyPr wrap="square" lIns="0" tIns="0" rIns="0" bIns="0"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What it costs</a:t>
            </a:r>
            <a:endParaRPr lang="en-US" sz="1300" dirty="0"/>
          </a:p>
        </p:txBody>
      </p:sp>
      <p:sp>
        <p:nvSpPr>
          <p:cNvPr id="35" name="Text 28"/>
          <p:cNvSpPr/>
          <p:nvPr/>
        </p:nvSpPr>
        <p:spPr>
          <a:xfrm>
            <a:off x="7269480" y="5047488"/>
            <a:ext cx="4069080" cy="105156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Misstated revenue cutoff at year-end. Failed existence testing when auditors count inventory that is “somewhere in transit.” Customs delays and duty surprises.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transaction ID follows every hand-off.</a:t>
            </a:r>
            <a:endParaRPr lang="en-US" sz="3400" dirty="0"/>
          </a:p>
        </p:txBody>
      </p:sp>
      <p:sp>
        <p:nvSpPr>
          <p:cNvPr id="3" name="Text 1"/>
          <p:cNvSpPr/>
          <p:nvPr/>
        </p:nvSpPr>
        <p:spPr>
          <a:xfrm>
            <a:off x="548640" y="1078992"/>
            <a:ext cx="10789920" cy="41148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Scan it out of the warehouse. Ask why it is leaving. Log every custody transfer with a dropdown. Prove revenue with the chain.</a:t>
            </a:r>
            <a:endParaRPr lang="en-US" sz="1500" dirty="0"/>
          </a:p>
        </p:txBody>
      </p:sp>
      <p:sp>
        <p:nvSpPr>
          <p:cNvPr id="4" name="Text 2"/>
          <p:cNvSpPr/>
          <p:nvPr/>
        </p:nvSpPr>
        <p:spPr>
          <a:xfrm>
            <a:off x="5257800" y="1691640"/>
            <a:ext cx="1737360" cy="384048"/>
          </a:xfrm>
          <a:prstGeom prst="roundRect">
            <a:avLst>
              <a:gd name="adj" fmla="val 47619"/>
            </a:avLst>
          </a:prstGeom>
          <a:solidFill>
            <a:srgbClr val="059669"/>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TX-20481</a:t>
            </a:r>
            <a:endParaRPr lang="en-US" sz="1400" dirty="0"/>
          </a:p>
        </p:txBody>
      </p:sp>
      <p:sp>
        <p:nvSpPr>
          <p:cNvPr id="5" name="Shape 3"/>
          <p:cNvSpPr/>
          <p:nvPr/>
        </p:nvSpPr>
        <p:spPr>
          <a:xfrm>
            <a:off x="1143000" y="2816352"/>
            <a:ext cx="9875520" cy="0"/>
          </a:xfrm>
          <a:prstGeom prst="line">
            <a:avLst/>
          </a:prstGeom>
          <a:noFill/>
          <a:ln w="31750">
            <a:solidFill>
              <a:srgbClr val="059669"/>
            </a:solidFill>
            <a:prstDash val="solid"/>
          </a:ln>
        </p:spPr>
      </p:sp>
      <p:sp>
        <p:nvSpPr>
          <p:cNvPr id="6" name="Shape 4"/>
          <p:cNvSpPr/>
          <p:nvPr/>
        </p:nvSpPr>
        <p:spPr>
          <a:xfrm>
            <a:off x="566928" y="2514600"/>
            <a:ext cx="603504" cy="603504"/>
          </a:xfrm>
          <a:prstGeom prst="ellipse">
            <a:avLst/>
          </a:prstGeom>
          <a:solidFill>
            <a:srgbClr val="059669"/>
          </a:solidFill>
          <a:ln w="254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722376" y="2670048"/>
            <a:ext cx="292608" cy="292608"/>
          </a:xfrm>
          <a:prstGeom prst="rect">
            <a:avLst/>
          </a:prstGeom>
        </p:spPr>
      </p:pic>
      <p:sp>
        <p:nvSpPr>
          <p:cNvPr id="8" name="Text 5"/>
          <p:cNvSpPr/>
          <p:nvPr/>
        </p:nvSpPr>
        <p:spPr>
          <a:xfrm>
            <a:off x="1828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Warehouse</a:t>
            </a:r>
            <a:endParaRPr lang="en-US" sz="1200" dirty="0"/>
          </a:p>
        </p:txBody>
      </p:sp>
      <p:sp>
        <p:nvSpPr>
          <p:cNvPr id="9" name="Text 6"/>
          <p:cNvSpPr/>
          <p:nvPr/>
        </p:nvSpPr>
        <p:spPr>
          <a:xfrm>
            <a:off x="1828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Pick + scan</a:t>
            </a:r>
            <a:endParaRPr lang="en-US" sz="1000" dirty="0"/>
          </a:p>
        </p:txBody>
      </p:sp>
      <p:sp>
        <p:nvSpPr>
          <p:cNvPr id="10" name="Shape 7"/>
          <p:cNvSpPr/>
          <p:nvPr/>
        </p:nvSpPr>
        <p:spPr>
          <a:xfrm>
            <a:off x="2304288" y="2514600"/>
            <a:ext cx="603504" cy="603504"/>
          </a:xfrm>
          <a:prstGeom prst="ellipse">
            <a:avLst/>
          </a:prstGeom>
          <a:solidFill>
            <a:srgbClr val="059669"/>
          </a:solidFill>
          <a:ln w="254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459736" y="2670048"/>
            <a:ext cx="292608" cy="292608"/>
          </a:xfrm>
          <a:prstGeom prst="rect">
            <a:avLst/>
          </a:prstGeom>
        </p:spPr>
      </p:pic>
      <p:sp>
        <p:nvSpPr>
          <p:cNvPr id="12" name="Text 8"/>
          <p:cNvSpPr/>
          <p:nvPr/>
        </p:nvSpPr>
        <p:spPr>
          <a:xfrm>
            <a:off x="19202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Truck</a:t>
            </a:r>
            <a:endParaRPr lang="en-US" sz="1200" dirty="0"/>
          </a:p>
        </p:txBody>
      </p:sp>
      <p:sp>
        <p:nvSpPr>
          <p:cNvPr id="13" name="Text 9"/>
          <p:cNvSpPr/>
          <p:nvPr/>
        </p:nvSpPr>
        <p:spPr>
          <a:xfrm>
            <a:off x="19202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boatyard</a:t>
            </a:r>
            <a:endParaRPr lang="en-US" sz="1000" dirty="0"/>
          </a:p>
        </p:txBody>
      </p:sp>
      <p:sp>
        <p:nvSpPr>
          <p:cNvPr id="14" name="Shape 10"/>
          <p:cNvSpPr/>
          <p:nvPr/>
        </p:nvSpPr>
        <p:spPr>
          <a:xfrm>
            <a:off x="4041648" y="2514600"/>
            <a:ext cx="603504" cy="603504"/>
          </a:xfrm>
          <a:prstGeom prst="ellipse">
            <a:avLst/>
          </a:prstGeom>
          <a:solidFill>
            <a:srgbClr val="059669"/>
          </a:solidFill>
          <a:ln w="25400">
            <a:solidFill>
              <a:srgbClr val="FFFFFF"/>
            </a:solidFill>
            <a:prstDash val="solid"/>
          </a:ln>
        </p:spPr>
      </p:sp>
      <p:pic>
        <p:nvPicPr>
          <p:cNvPr id="15" name="Image 2" descr="preencoded.png">    </p:cNvPr>
          <p:cNvPicPr>
            <a:picLocks noChangeAspect="1"/>
          </p:cNvPicPr>
          <p:nvPr/>
        </p:nvPicPr>
        <p:blipFill>
          <a:blip r:embed="rId3"/>
          <a:stretch>
            <a:fillRect/>
          </a:stretch>
        </p:blipFill>
        <p:spPr>
          <a:xfrm>
            <a:off x="4197096" y="2670048"/>
            <a:ext cx="292608" cy="292608"/>
          </a:xfrm>
          <a:prstGeom prst="rect">
            <a:avLst/>
          </a:prstGeom>
        </p:spPr>
      </p:pic>
      <p:sp>
        <p:nvSpPr>
          <p:cNvPr id="16" name="Text 11"/>
          <p:cNvSpPr/>
          <p:nvPr/>
        </p:nvSpPr>
        <p:spPr>
          <a:xfrm>
            <a:off x="365760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Boatyard</a:t>
            </a:r>
            <a:endParaRPr lang="en-US" sz="1200" dirty="0"/>
          </a:p>
        </p:txBody>
      </p:sp>
      <p:sp>
        <p:nvSpPr>
          <p:cNvPr id="17" name="Text 12"/>
          <p:cNvSpPr/>
          <p:nvPr/>
        </p:nvSpPr>
        <p:spPr>
          <a:xfrm>
            <a:off x="365760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vessel</a:t>
            </a:r>
            <a:endParaRPr lang="en-US" sz="1000" dirty="0"/>
          </a:p>
        </p:txBody>
      </p:sp>
      <p:sp>
        <p:nvSpPr>
          <p:cNvPr id="18" name="Shape 13"/>
          <p:cNvSpPr/>
          <p:nvPr/>
        </p:nvSpPr>
        <p:spPr>
          <a:xfrm>
            <a:off x="5779008" y="2514600"/>
            <a:ext cx="603504" cy="603504"/>
          </a:xfrm>
          <a:prstGeom prst="ellipse">
            <a:avLst/>
          </a:prstGeom>
          <a:solidFill>
            <a:srgbClr val="059669"/>
          </a:solidFill>
          <a:ln w="2540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5934456" y="2670048"/>
            <a:ext cx="292608" cy="292608"/>
          </a:xfrm>
          <a:prstGeom prst="rect">
            <a:avLst/>
          </a:prstGeom>
        </p:spPr>
      </p:pic>
      <p:sp>
        <p:nvSpPr>
          <p:cNvPr id="20" name="Text 14"/>
          <p:cNvSpPr/>
          <p:nvPr/>
        </p:nvSpPr>
        <p:spPr>
          <a:xfrm>
            <a:off x="539496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Ocean</a:t>
            </a:r>
            <a:endParaRPr lang="en-US" sz="1200" dirty="0"/>
          </a:p>
        </p:txBody>
      </p:sp>
      <p:sp>
        <p:nvSpPr>
          <p:cNvPr id="21" name="Text 15"/>
          <p:cNvSpPr/>
          <p:nvPr/>
        </p:nvSpPr>
        <p:spPr>
          <a:xfrm>
            <a:off x="539496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crossing</a:t>
            </a:r>
            <a:endParaRPr lang="en-US" sz="1000" dirty="0"/>
          </a:p>
        </p:txBody>
      </p:sp>
      <p:sp>
        <p:nvSpPr>
          <p:cNvPr id="22" name="Shape 16"/>
          <p:cNvSpPr/>
          <p:nvPr/>
        </p:nvSpPr>
        <p:spPr>
          <a:xfrm>
            <a:off x="7516368" y="2514600"/>
            <a:ext cx="603504" cy="603504"/>
          </a:xfrm>
          <a:prstGeom prst="ellipse">
            <a:avLst/>
          </a:prstGeom>
          <a:solidFill>
            <a:srgbClr val="059669"/>
          </a:solidFill>
          <a:ln w="254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671816" y="2670048"/>
            <a:ext cx="292608" cy="292608"/>
          </a:xfrm>
          <a:prstGeom prst="rect">
            <a:avLst/>
          </a:prstGeom>
        </p:spPr>
      </p:pic>
      <p:sp>
        <p:nvSpPr>
          <p:cNvPr id="24" name="Text 17"/>
          <p:cNvSpPr/>
          <p:nvPr/>
        </p:nvSpPr>
        <p:spPr>
          <a:xfrm>
            <a:off x="713232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Port</a:t>
            </a:r>
            <a:endParaRPr lang="en-US" sz="1200" dirty="0"/>
          </a:p>
        </p:txBody>
      </p:sp>
      <p:sp>
        <p:nvSpPr>
          <p:cNvPr id="25" name="Text 18"/>
          <p:cNvSpPr/>
          <p:nvPr/>
        </p:nvSpPr>
        <p:spPr>
          <a:xfrm>
            <a:off x="713232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arrival</a:t>
            </a:r>
            <a:endParaRPr lang="en-US" sz="1000" dirty="0"/>
          </a:p>
        </p:txBody>
      </p:sp>
      <p:sp>
        <p:nvSpPr>
          <p:cNvPr id="26" name="Shape 19"/>
          <p:cNvSpPr/>
          <p:nvPr/>
        </p:nvSpPr>
        <p:spPr>
          <a:xfrm>
            <a:off x="9253728" y="2514600"/>
            <a:ext cx="603504" cy="603504"/>
          </a:xfrm>
          <a:prstGeom prst="ellipse">
            <a:avLst/>
          </a:prstGeom>
          <a:solidFill>
            <a:srgbClr val="B45309"/>
          </a:solidFill>
          <a:ln w="25400">
            <a:solidFill>
              <a:srgbClr val="FFFFFF"/>
            </a:solidFill>
            <a:prstDash val="solid"/>
          </a:ln>
        </p:spPr>
      </p:sp>
      <p:pic>
        <p:nvPicPr>
          <p:cNvPr id="27" name="Image 5" descr="preencoded.png">    </p:cNvPr>
          <p:cNvPicPr>
            <a:picLocks noChangeAspect="1"/>
          </p:cNvPicPr>
          <p:nvPr/>
        </p:nvPicPr>
        <p:blipFill>
          <a:blip r:embed="rId6"/>
          <a:stretch>
            <a:fillRect/>
          </a:stretch>
        </p:blipFill>
        <p:spPr>
          <a:xfrm>
            <a:off x="9409176" y="2670048"/>
            <a:ext cx="292608" cy="292608"/>
          </a:xfrm>
          <a:prstGeom prst="rect">
            <a:avLst/>
          </a:prstGeom>
        </p:spPr>
      </p:pic>
      <p:sp>
        <p:nvSpPr>
          <p:cNvPr id="28" name="Text 20"/>
          <p:cNvSpPr/>
          <p:nvPr/>
        </p:nvSpPr>
        <p:spPr>
          <a:xfrm>
            <a:off x="88696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Customs</a:t>
            </a:r>
            <a:endParaRPr lang="en-US" sz="1200" dirty="0"/>
          </a:p>
        </p:txBody>
      </p:sp>
      <p:sp>
        <p:nvSpPr>
          <p:cNvPr id="29" name="Text 21"/>
          <p:cNvSpPr/>
          <p:nvPr/>
        </p:nvSpPr>
        <p:spPr>
          <a:xfrm>
            <a:off x="88696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docs + value</a:t>
            </a:r>
            <a:endParaRPr lang="en-US" sz="1000" dirty="0"/>
          </a:p>
        </p:txBody>
      </p:sp>
      <p:sp>
        <p:nvSpPr>
          <p:cNvPr id="30" name="Shape 22"/>
          <p:cNvSpPr/>
          <p:nvPr/>
        </p:nvSpPr>
        <p:spPr>
          <a:xfrm>
            <a:off x="10991088" y="2514600"/>
            <a:ext cx="603504" cy="603504"/>
          </a:xfrm>
          <a:prstGeom prst="ellipse">
            <a:avLst/>
          </a:prstGeom>
          <a:solidFill>
            <a:srgbClr val="059669"/>
          </a:solidFill>
          <a:ln w="25400">
            <a:solidFill>
              <a:srgbClr val="FFFFFF"/>
            </a:solidFill>
            <a:prstDash val="solid"/>
          </a:ln>
        </p:spPr>
      </p:sp>
      <p:pic>
        <p:nvPicPr>
          <p:cNvPr id="31" name="Image 6" descr="preencoded.png">    </p:cNvPr>
          <p:cNvPicPr>
            <a:picLocks noChangeAspect="1"/>
          </p:cNvPicPr>
          <p:nvPr/>
        </p:nvPicPr>
        <p:blipFill>
          <a:blip r:embed="rId7"/>
          <a:stretch>
            <a:fillRect/>
          </a:stretch>
        </p:blipFill>
        <p:spPr>
          <a:xfrm>
            <a:off x="11146536" y="2670048"/>
            <a:ext cx="292608" cy="292608"/>
          </a:xfrm>
          <a:prstGeom prst="rect">
            <a:avLst/>
          </a:prstGeom>
        </p:spPr>
      </p:pic>
      <p:sp>
        <p:nvSpPr>
          <p:cNvPr id="32" name="Text 23"/>
          <p:cNvSpPr/>
          <p:nvPr/>
        </p:nvSpPr>
        <p:spPr>
          <a:xfrm>
            <a:off x="106070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Customer</a:t>
            </a:r>
            <a:endParaRPr lang="en-US" sz="1200" dirty="0"/>
          </a:p>
        </p:txBody>
      </p:sp>
      <p:sp>
        <p:nvSpPr>
          <p:cNvPr id="33" name="Text 24"/>
          <p:cNvSpPr/>
          <p:nvPr/>
        </p:nvSpPr>
        <p:spPr>
          <a:xfrm>
            <a:off x="106070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delivery</a:t>
            </a:r>
            <a:endParaRPr lang="en-US" sz="1000" dirty="0"/>
          </a:p>
        </p:txBody>
      </p:sp>
      <p:sp>
        <p:nvSpPr>
          <p:cNvPr id="34" name="Text 25"/>
          <p:cNvSpPr/>
          <p:nvPr/>
        </p:nvSpPr>
        <p:spPr>
          <a:xfrm>
            <a:off x="2194560" y="3977640"/>
            <a:ext cx="7772400" cy="457200"/>
          </a:xfrm>
          <a:prstGeom prst="leftArrow">
            <a:avLst/>
          </a:prstGeom>
          <a:solidFill>
            <a:srgbClr val="FEF3C7"/>
          </a:solidFill>
          <a:ln/>
        </p:spPr>
        <p:txBody>
          <a:bodyPr wrap="square"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RMA returns retrace the same chain — same transaction ID, reversed</a:t>
            </a:r>
            <a:endParaRPr lang="en-US" sz="1300" dirty="0"/>
          </a:p>
        </p:txBody>
      </p:sp>
      <p:sp>
        <p:nvSpPr>
          <p:cNvPr id="35" name="Shape 26"/>
          <p:cNvSpPr/>
          <p:nvPr/>
        </p:nvSpPr>
        <p:spPr>
          <a:xfrm>
            <a:off x="548640"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6" name="Text 27"/>
          <p:cNvSpPr/>
          <p:nvPr/>
        </p:nvSpPr>
        <p:spPr>
          <a:xfrm>
            <a:off x="804672"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Scan + questionnaire</a:t>
            </a:r>
            <a:endParaRPr lang="en-US" sz="1450" dirty="0"/>
          </a:p>
        </p:txBody>
      </p:sp>
      <p:sp>
        <p:nvSpPr>
          <p:cNvPr id="37" name="Text 28"/>
          <p:cNvSpPr/>
          <p:nvPr/>
        </p:nvSpPr>
        <p:spPr>
          <a:xfrm>
            <a:off x="804672"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Internal use or customer sale — the “why” is captured at the shelf, before the unit leaves.</a:t>
            </a:r>
            <a:endParaRPr lang="en-US" sz="1150" dirty="0"/>
          </a:p>
        </p:txBody>
      </p:sp>
      <p:sp>
        <p:nvSpPr>
          <p:cNvPr id="38" name="Shape 29"/>
          <p:cNvSpPr/>
          <p:nvPr/>
        </p:nvSpPr>
        <p:spPr>
          <a:xfrm>
            <a:off x="4370832"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9" name="Text 30"/>
          <p:cNvSpPr/>
          <p:nvPr/>
        </p:nvSpPr>
        <p:spPr>
          <a:xfrm>
            <a:off x="4626864"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Dropdown-simple hand-offs</a:t>
            </a:r>
            <a:endParaRPr lang="en-US" sz="1450" dirty="0"/>
          </a:p>
        </p:txBody>
      </p:sp>
      <p:sp>
        <p:nvSpPr>
          <p:cNvPr id="40" name="Text 31"/>
          <p:cNvSpPr/>
          <p:nvPr/>
        </p:nvSpPr>
        <p:spPr>
          <a:xfrm>
            <a:off x="4626864"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Type, vendor, location, transaction date, documents. A truck driver can log a leg in 15 seconds.</a:t>
            </a:r>
            <a:endParaRPr lang="en-US" sz="1150" dirty="0"/>
          </a:p>
        </p:txBody>
      </p:sp>
      <p:sp>
        <p:nvSpPr>
          <p:cNvPr id="41" name="Shape 32"/>
          <p:cNvSpPr/>
          <p:nvPr/>
        </p:nvSpPr>
        <p:spPr>
          <a:xfrm>
            <a:off x="8193024"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2" name="Text 33"/>
          <p:cNvSpPr/>
          <p:nvPr/>
        </p:nvSpPr>
        <p:spPr>
          <a:xfrm>
            <a:off x="8449056"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Customs doc engine</a:t>
            </a:r>
            <a:endParaRPr lang="en-US" sz="1450" dirty="0"/>
          </a:p>
        </p:txBody>
      </p:sp>
      <p:sp>
        <p:nvSpPr>
          <p:cNvPr id="43" name="Text 34"/>
          <p:cNvSpPr/>
          <p:nvPr/>
        </p:nvSpPr>
        <p:spPr>
          <a:xfrm>
            <a:off x="8449056"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Country-by-country checklists plus a valuation worksheet for the customs-price-vs-sales-price gap.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$1M shipment, door to door.</a:t>
            </a:r>
            <a:endParaRPr lang="en-US" sz="3400" dirty="0"/>
          </a:p>
        </p:txBody>
      </p:sp>
      <p:sp>
        <p:nvSpPr>
          <p:cNvPr id="3" name="Text 1"/>
          <p:cNvSpPr/>
          <p:nvPr/>
        </p:nvSpPr>
        <p:spPr>
          <a:xfrm>
            <a:off x="548640" y="1115568"/>
            <a:ext cx="1069848" cy="347472"/>
          </a:xfrm>
          <a:prstGeom prst="roundRect">
            <a:avLst>
              <a:gd name="adj" fmla="val 50000"/>
            </a:avLst>
          </a:prstGeom>
          <a:solidFill>
            <a:srgbClr val="0F172A"/>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$1,000,000</a:t>
            </a:r>
            <a:endParaRPr lang="en-US" sz="1200" dirty="0"/>
          </a:p>
        </p:txBody>
      </p:sp>
      <p:sp>
        <p:nvSpPr>
          <p:cNvPr id="4" name="Text 2"/>
          <p:cNvSpPr/>
          <p:nvPr/>
        </p:nvSpPr>
        <p:spPr>
          <a:xfrm>
            <a:off x="1783080" y="1115568"/>
            <a:ext cx="106984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Perishable</a:t>
            </a:r>
            <a:endParaRPr lang="en-US" sz="1200" dirty="0"/>
          </a:p>
        </p:txBody>
      </p:sp>
      <p:sp>
        <p:nvSpPr>
          <p:cNvPr id="5" name="Text 3"/>
          <p:cNvSpPr/>
          <p:nvPr/>
        </p:nvSpPr>
        <p:spPr>
          <a:xfrm>
            <a:off x="3017520" y="1115568"/>
            <a:ext cx="145846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−2 °C + dry ice</a:t>
            </a:r>
            <a:endParaRPr lang="en-US" sz="1200" dirty="0"/>
          </a:p>
        </p:txBody>
      </p:sp>
      <p:sp>
        <p:nvSpPr>
          <p:cNvPr id="6" name="Text 4"/>
          <p:cNvSpPr/>
          <p:nvPr/>
        </p:nvSpPr>
        <p:spPr>
          <a:xfrm>
            <a:off x="4640580" y="1115568"/>
            <a:ext cx="21579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FOB destination — Geneva</a:t>
            </a:r>
            <a:endParaRPr lang="en-US" sz="1200" dirty="0"/>
          </a:p>
        </p:txBody>
      </p:sp>
      <p:sp>
        <p:nvSpPr>
          <p:cNvPr id="7" name="Text 5"/>
          <p:cNvSpPr/>
          <p:nvPr/>
        </p:nvSpPr>
        <p:spPr>
          <a:xfrm>
            <a:off x="6963156" y="1115568"/>
            <a:ext cx="12435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ourier New" pitchFamily="34" charset="0"/>
                <a:ea typeface="Courier New" pitchFamily="34" charset="-122"/>
                <a:cs typeface="Courier New" pitchFamily="34" charset="-120"/>
              </a:rPr>
              <a:t>TX-20499</a:t>
            </a:r>
            <a:endParaRPr lang="en-US" sz="1200" dirty="0"/>
          </a:p>
        </p:txBody>
      </p:sp>
      <p:sp>
        <p:nvSpPr>
          <p:cNvPr id="8" name="Shape 6"/>
          <p:cNvSpPr/>
          <p:nvPr/>
        </p:nvSpPr>
        <p:spPr>
          <a:xfrm>
            <a:off x="1188720" y="2450592"/>
            <a:ext cx="9784080" cy="0"/>
          </a:xfrm>
          <a:prstGeom prst="line">
            <a:avLst/>
          </a:prstGeom>
          <a:noFill/>
          <a:ln w="31750">
            <a:solidFill>
              <a:srgbClr val="059669"/>
            </a:solidFill>
            <a:prstDash val="solid"/>
          </a:ln>
        </p:spPr>
      </p:sp>
      <p:sp>
        <p:nvSpPr>
          <p:cNvPr id="9" name="Shape 7"/>
          <p:cNvSpPr/>
          <p:nvPr/>
        </p:nvSpPr>
        <p:spPr>
          <a:xfrm>
            <a:off x="612648" y="2148840"/>
            <a:ext cx="603504" cy="603504"/>
          </a:xfrm>
          <a:prstGeom prst="ellipse">
            <a:avLst/>
          </a:prstGeom>
          <a:solidFill>
            <a:srgbClr val="059669"/>
          </a:solidFill>
          <a:ln w="254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768096" y="2304288"/>
            <a:ext cx="292608" cy="292608"/>
          </a:xfrm>
          <a:prstGeom prst="rect">
            <a:avLst/>
          </a:prstGeom>
        </p:spPr>
      </p:pic>
      <p:sp>
        <p:nvSpPr>
          <p:cNvPr id="11" name="Text 8"/>
          <p:cNvSpPr/>
          <p:nvPr/>
        </p:nvSpPr>
        <p:spPr>
          <a:xfrm>
            <a:off x="4572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Palo Alto</a:t>
            </a:r>
            <a:endParaRPr lang="en-US" sz="1300" dirty="0"/>
          </a:p>
        </p:txBody>
      </p:sp>
      <p:sp>
        <p:nvSpPr>
          <p:cNvPr id="12" name="Text 9"/>
          <p:cNvSpPr/>
          <p:nvPr/>
        </p:nvSpPr>
        <p:spPr>
          <a:xfrm>
            <a:off x="4572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Cold Lab pick — reefer + dry ice</a:t>
            </a:r>
            <a:endParaRPr lang="en-US" sz="950" dirty="0"/>
          </a:p>
        </p:txBody>
      </p:sp>
      <p:sp>
        <p:nvSpPr>
          <p:cNvPr id="13" name="Shape 10"/>
          <p:cNvSpPr/>
          <p:nvPr/>
        </p:nvSpPr>
        <p:spPr>
          <a:xfrm>
            <a:off x="2679192" y="2148840"/>
            <a:ext cx="603504" cy="603504"/>
          </a:xfrm>
          <a:prstGeom prst="ellipse">
            <a:avLst/>
          </a:prstGeom>
          <a:solidFill>
            <a:srgbClr val="059669"/>
          </a:solidFill>
          <a:ln w="254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2834640" y="2304288"/>
            <a:ext cx="292608" cy="292608"/>
          </a:xfrm>
          <a:prstGeom prst="rect">
            <a:avLst/>
          </a:prstGeom>
        </p:spPr>
      </p:pic>
      <p:sp>
        <p:nvSpPr>
          <p:cNvPr id="15" name="Text 11"/>
          <p:cNvSpPr/>
          <p:nvPr/>
        </p:nvSpPr>
        <p:spPr>
          <a:xfrm>
            <a:off x="2112264"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New York</a:t>
            </a:r>
            <a:endParaRPr lang="en-US" sz="1300" dirty="0"/>
          </a:p>
        </p:txBody>
      </p:sp>
      <p:sp>
        <p:nvSpPr>
          <p:cNvPr id="16" name="Text 12"/>
          <p:cNvSpPr/>
          <p:nvPr/>
        </p:nvSpPr>
        <p:spPr>
          <a:xfrm>
            <a:off x="2112264"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Reefer truck · re-ice · partner API</a:t>
            </a:r>
            <a:endParaRPr lang="en-US" sz="950" dirty="0"/>
          </a:p>
        </p:txBody>
      </p:sp>
      <p:sp>
        <p:nvSpPr>
          <p:cNvPr id="17" name="Shape 13"/>
          <p:cNvSpPr/>
          <p:nvPr/>
        </p:nvSpPr>
        <p:spPr>
          <a:xfrm>
            <a:off x="4745736" y="2148840"/>
            <a:ext cx="603504" cy="603504"/>
          </a:xfrm>
          <a:prstGeom prst="ellipse">
            <a:avLst/>
          </a:prstGeom>
          <a:solidFill>
            <a:srgbClr val="059669"/>
          </a:solidFill>
          <a:ln w="254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901184" y="2304288"/>
            <a:ext cx="292608" cy="292608"/>
          </a:xfrm>
          <a:prstGeom prst="rect">
            <a:avLst/>
          </a:prstGeom>
        </p:spPr>
      </p:pic>
      <p:sp>
        <p:nvSpPr>
          <p:cNvPr id="19" name="Text 14"/>
          <p:cNvSpPr/>
          <p:nvPr/>
        </p:nvSpPr>
        <p:spPr>
          <a:xfrm>
            <a:off x="4178808"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Atlantic</a:t>
            </a:r>
            <a:endParaRPr lang="en-US" sz="1300" dirty="0"/>
          </a:p>
        </p:txBody>
      </p:sp>
      <p:sp>
        <p:nvSpPr>
          <p:cNvPr id="20" name="Text 15"/>
          <p:cNvSpPr/>
          <p:nvPr/>
        </p:nvSpPr>
        <p:spPr>
          <a:xfrm>
            <a:off x="4178808"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MV Crown Atlantic — hold at −2 °C</a:t>
            </a:r>
            <a:endParaRPr lang="en-US" sz="950" dirty="0"/>
          </a:p>
        </p:txBody>
      </p:sp>
      <p:sp>
        <p:nvSpPr>
          <p:cNvPr id="21" name="Shape 16"/>
          <p:cNvSpPr/>
          <p:nvPr/>
        </p:nvSpPr>
        <p:spPr>
          <a:xfrm>
            <a:off x="6812280" y="2148840"/>
            <a:ext cx="603504" cy="603504"/>
          </a:xfrm>
          <a:prstGeom prst="ellipse">
            <a:avLst/>
          </a:prstGeom>
          <a:solidFill>
            <a:srgbClr val="B45309"/>
          </a:solidFill>
          <a:ln w="254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6967728" y="2304288"/>
            <a:ext cx="292608" cy="292608"/>
          </a:xfrm>
          <a:prstGeom prst="rect">
            <a:avLst/>
          </a:prstGeom>
        </p:spPr>
      </p:pic>
      <p:sp>
        <p:nvSpPr>
          <p:cNvPr id="23" name="Text 17"/>
          <p:cNvSpPr/>
          <p:nvPr/>
        </p:nvSpPr>
        <p:spPr>
          <a:xfrm>
            <a:off x="6245352"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UK</a:t>
            </a:r>
            <a:endParaRPr lang="en-US" sz="1300" dirty="0"/>
          </a:p>
        </p:txBody>
      </p:sp>
      <p:sp>
        <p:nvSpPr>
          <p:cNvPr id="24" name="Text 18"/>
          <p:cNvSpPr/>
          <p:nvPr/>
        </p:nvSpPr>
        <p:spPr>
          <a:xfrm>
            <a:off x="6245352"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Southampton T1 transit + QR scan</a:t>
            </a:r>
            <a:endParaRPr lang="en-US" sz="950" dirty="0"/>
          </a:p>
        </p:txBody>
      </p:sp>
      <p:sp>
        <p:nvSpPr>
          <p:cNvPr id="25" name="Shape 19"/>
          <p:cNvSpPr/>
          <p:nvPr/>
        </p:nvSpPr>
        <p:spPr>
          <a:xfrm>
            <a:off x="8878824" y="2148840"/>
            <a:ext cx="603504" cy="603504"/>
          </a:xfrm>
          <a:prstGeom prst="ellipse">
            <a:avLst/>
          </a:prstGeom>
          <a:solidFill>
            <a:srgbClr val="B45309"/>
          </a:solidFill>
          <a:ln w="254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9034272" y="2304288"/>
            <a:ext cx="292608" cy="292608"/>
          </a:xfrm>
          <a:prstGeom prst="rect">
            <a:avLst/>
          </a:prstGeom>
        </p:spPr>
      </p:pic>
      <p:sp>
        <p:nvSpPr>
          <p:cNvPr id="27" name="Text 20"/>
          <p:cNvSpPr/>
          <p:nvPr/>
        </p:nvSpPr>
        <p:spPr>
          <a:xfrm>
            <a:off x="8311896"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Poland</a:t>
            </a:r>
            <a:endParaRPr lang="en-US" sz="1300" dirty="0"/>
          </a:p>
        </p:txBody>
      </p:sp>
      <p:sp>
        <p:nvSpPr>
          <p:cNvPr id="28" name="Text 21"/>
          <p:cNvSpPr/>
          <p:nvPr/>
        </p:nvSpPr>
        <p:spPr>
          <a:xfrm>
            <a:off x="8311896"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Gdansk EU entry · customs · re-ice</a:t>
            </a:r>
            <a:endParaRPr lang="en-US" sz="950" dirty="0"/>
          </a:p>
        </p:txBody>
      </p:sp>
      <p:sp>
        <p:nvSpPr>
          <p:cNvPr id="29" name="Shape 22"/>
          <p:cNvSpPr/>
          <p:nvPr/>
        </p:nvSpPr>
        <p:spPr>
          <a:xfrm>
            <a:off x="10945368" y="2148840"/>
            <a:ext cx="603504" cy="603504"/>
          </a:xfrm>
          <a:prstGeom prst="ellipse">
            <a:avLst/>
          </a:prstGeom>
          <a:solidFill>
            <a:srgbClr val="059669"/>
          </a:solidFill>
          <a:ln w="25400">
            <a:solidFill>
              <a:srgbClr val="FFFFFF"/>
            </a:solidFill>
            <a:prstDash val="solid"/>
          </a:ln>
        </p:spPr>
      </p:sp>
      <p:pic>
        <p:nvPicPr>
          <p:cNvPr id="30" name="Image 5" descr="preencoded.png">    </p:cNvPr>
          <p:cNvPicPr>
            <a:picLocks noChangeAspect="1"/>
          </p:cNvPicPr>
          <p:nvPr/>
        </p:nvPicPr>
        <p:blipFill>
          <a:blip r:embed="rId6"/>
          <a:stretch>
            <a:fillRect/>
          </a:stretch>
        </p:blipFill>
        <p:spPr>
          <a:xfrm>
            <a:off x="11100816" y="2304288"/>
            <a:ext cx="292608" cy="292608"/>
          </a:xfrm>
          <a:prstGeom prst="rect">
            <a:avLst/>
          </a:prstGeom>
        </p:spPr>
      </p:pic>
      <p:sp>
        <p:nvSpPr>
          <p:cNvPr id="31" name="Text 23"/>
          <p:cNvSpPr/>
          <p:nvPr/>
        </p:nvSpPr>
        <p:spPr>
          <a:xfrm>
            <a:off x="1037844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Switzerland</a:t>
            </a:r>
            <a:endParaRPr lang="en-US" sz="1300" dirty="0"/>
          </a:p>
        </p:txBody>
      </p:sp>
      <p:sp>
        <p:nvSpPr>
          <p:cNvPr id="32" name="Text 24"/>
          <p:cNvSpPr/>
          <p:nvPr/>
        </p:nvSpPr>
        <p:spPr>
          <a:xfrm>
            <a:off x="1037844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Geneva e-dec — revenue recognizes</a:t>
            </a:r>
            <a:endParaRPr lang="en-US" sz="950" dirty="0"/>
          </a:p>
        </p:txBody>
      </p:sp>
      <p:sp>
        <p:nvSpPr>
          <p:cNvPr id="33" name="Shape 25"/>
          <p:cNvSpPr/>
          <p:nvPr/>
        </p:nvSpPr>
        <p:spPr>
          <a:xfrm>
            <a:off x="548640"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04672"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Cold chain proven</a:t>
            </a:r>
            <a:endParaRPr lang="en-US" sz="1400" dirty="0"/>
          </a:p>
        </p:txBody>
      </p:sp>
      <p:sp>
        <p:nvSpPr>
          <p:cNvPr id="35" name="Text 27"/>
          <p:cNvSpPr/>
          <p:nvPr/>
        </p:nvSpPr>
        <p:spPr>
          <a:xfrm>
            <a:off x="804672"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Every hand-off logs a re-icing event and temperature record against TX-20499 — spoilage risk is visible before it becomes a $1M write-off.</a:t>
            </a:r>
            <a:endParaRPr lang="en-US" sz="1100" dirty="0"/>
          </a:p>
        </p:txBody>
      </p:sp>
      <p:sp>
        <p:nvSpPr>
          <p:cNvPr id="36" name="Shape 28"/>
          <p:cNvSpPr/>
          <p:nvPr/>
        </p:nvSpPr>
        <p:spPr>
          <a:xfrm>
            <a:off x="4370832"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7" name="Text 29"/>
          <p:cNvSpPr/>
          <p:nvPr/>
        </p:nvSpPr>
        <p:spPr>
          <a:xfrm>
            <a:off x="4626864"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Three customs regimes, ready early</a:t>
            </a:r>
            <a:endParaRPr lang="en-US" sz="1400" dirty="0"/>
          </a:p>
        </p:txBody>
      </p:sp>
      <p:sp>
        <p:nvSpPr>
          <p:cNvPr id="38" name="Text 30"/>
          <p:cNvSpPr/>
          <p:nvPr/>
        </p:nvSpPr>
        <p:spPr>
          <a:xfrm>
            <a:off x="4626864"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UK transit, EU entry at Gdansk, Swiss import — each checklist prepared before arrival, and EU hand-off QRs keep every carrier on the same transaction ID.</a:t>
            </a:r>
            <a:endParaRPr lang="en-US" sz="1100" dirty="0"/>
          </a:p>
        </p:txBody>
      </p:sp>
      <p:sp>
        <p:nvSpPr>
          <p:cNvPr id="39" name="Shape 31"/>
          <p:cNvSpPr/>
          <p:nvPr/>
        </p:nvSpPr>
        <p:spPr>
          <a:xfrm>
            <a:off x="8193024"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0" name="Text 32"/>
          <p:cNvSpPr/>
          <p:nvPr/>
        </p:nvSpPr>
        <p:spPr>
          <a:xfrm>
            <a:off x="8449056"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Revenue holds until Geneva</a:t>
            </a:r>
            <a:endParaRPr lang="en-US" sz="1400" dirty="0"/>
          </a:p>
        </p:txBody>
      </p:sp>
      <p:sp>
        <p:nvSpPr>
          <p:cNvPr id="41" name="Text 33"/>
          <p:cNvSpPr/>
          <p:nvPr/>
        </p:nvSpPr>
        <p:spPr>
          <a:xfrm>
            <a:off x="8449056"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FOB destination: the $1M recognizes only at customer acceptance with the temperature log. The custody chain is the cutoff evidence.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300" b="1" dirty="0">
                <a:solidFill>
                  <a:srgbClr val="0F172A"/>
                </a:solidFill>
                <a:latin typeface="Calibri" pitchFamily="34" charset="0"/>
                <a:ea typeface="Calibri" pitchFamily="34" charset="-122"/>
                <a:cs typeface="Calibri" pitchFamily="34" charset="-120"/>
              </a:rPr>
              <a:t>The demo: a phone in the warehouse, truth in the ledger.</a:t>
            </a:r>
            <a:endParaRPr lang="en-US" sz="3300" dirty="0"/>
          </a:p>
        </p:txBody>
      </p:sp>
      <p:sp>
        <p:nvSpPr>
          <p:cNvPr id="3" name="Shape 1"/>
          <p:cNvSpPr/>
          <p:nvPr/>
        </p:nvSpPr>
        <p:spPr>
          <a:xfrm>
            <a:off x="5029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722376" y="164592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855513" y="1779057"/>
            <a:ext cx="245791" cy="245791"/>
          </a:xfrm>
          <a:prstGeom prst="rect">
            <a:avLst/>
          </a:prstGeom>
        </p:spPr>
      </p:pic>
      <p:sp>
        <p:nvSpPr>
          <p:cNvPr id="6" name="Text 3"/>
          <p:cNvSpPr/>
          <p:nvPr/>
        </p:nvSpPr>
        <p:spPr>
          <a:xfrm>
            <a:off x="7223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Scan</a:t>
            </a:r>
            <a:endParaRPr lang="en-US" sz="1600" dirty="0"/>
          </a:p>
        </p:txBody>
      </p:sp>
      <p:sp>
        <p:nvSpPr>
          <p:cNvPr id="7" name="Text 4"/>
          <p:cNvSpPr/>
          <p:nvPr/>
        </p:nvSpPr>
        <p:spPr>
          <a:xfrm>
            <a:off x="7223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Shipping-label scan + order number + the “why is it leaving?” intake.</a:t>
            </a:r>
            <a:endParaRPr lang="en-US" sz="1050" dirty="0"/>
          </a:p>
        </p:txBody>
      </p:sp>
      <p:sp>
        <p:nvSpPr>
          <p:cNvPr id="8" name="Shape 5"/>
          <p:cNvSpPr/>
          <p:nvPr/>
        </p:nvSpPr>
        <p:spPr>
          <a:xfrm>
            <a:off x="237744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2596896" y="164592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2730033" y="1779057"/>
            <a:ext cx="245791" cy="245791"/>
          </a:xfrm>
          <a:prstGeom prst="rect">
            <a:avLst/>
          </a:prstGeom>
        </p:spPr>
      </p:pic>
      <p:sp>
        <p:nvSpPr>
          <p:cNvPr id="11" name="Text 7"/>
          <p:cNvSpPr/>
          <p:nvPr/>
        </p:nvSpPr>
        <p:spPr>
          <a:xfrm>
            <a:off x="259689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Plan</a:t>
            </a:r>
            <a:endParaRPr lang="en-US" sz="1600" dirty="0"/>
          </a:p>
        </p:txBody>
      </p:sp>
      <p:sp>
        <p:nvSpPr>
          <p:cNvPr id="12" name="Text 8"/>
          <p:cNvSpPr/>
          <p:nvPr/>
        </p:nvSpPr>
        <p:spPr>
          <a:xfrm>
            <a:off x="259689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vendor search: ranked routes vs. the need-by date.</a:t>
            </a:r>
            <a:endParaRPr lang="en-US" sz="1050" dirty="0"/>
          </a:p>
        </p:txBody>
      </p:sp>
      <p:sp>
        <p:nvSpPr>
          <p:cNvPr id="13" name="Shape 9"/>
          <p:cNvSpPr/>
          <p:nvPr/>
        </p:nvSpPr>
        <p:spPr>
          <a:xfrm>
            <a:off x="425196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4471416" y="164592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4604553" y="1779057"/>
            <a:ext cx="245791" cy="245791"/>
          </a:xfrm>
          <a:prstGeom prst="rect">
            <a:avLst/>
          </a:prstGeom>
        </p:spPr>
      </p:pic>
      <p:sp>
        <p:nvSpPr>
          <p:cNvPr id="16" name="Text 11"/>
          <p:cNvSpPr/>
          <p:nvPr/>
        </p:nvSpPr>
        <p:spPr>
          <a:xfrm>
            <a:off x="447141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Track</a:t>
            </a:r>
            <a:endParaRPr lang="en-US" sz="1600" dirty="0"/>
          </a:p>
        </p:txBody>
      </p:sp>
      <p:sp>
        <p:nvSpPr>
          <p:cNvPr id="17" name="Text 12"/>
          <p:cNvSpPr/>
          <p:nvPr/>
        </p:nvSpPr>
        <p:spPr>
          <a:xfrm>
            <a:off x="447141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Custody timeline; dropdown hand-offs; one TX ID; EU QR.</a:t>
            </a:r>
            <a:endParaRPr lang="en-US" sz="1050" dirty="0"/>
          </a:p>
        </p:txBody>
      </p:sp>
      <p:sp>
        <p:nvSpPr>
          <p:cNvPr id="18" name="Shape 13"/>
          <p:cNvSpPr/>
          <p:nvPr/>
        </p:nvSpPr>
        <p:spPr>
          <a:xfrm>
            <a:off x="612648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Shape 14"/>
          <p:cNvSpPr/>
          <p:nvPr/>
        </p:nvSpPr>
        <p:spPr>
          <a:xfrm>
            <a:off x="6345936" y="1645920"/>
            <a:ext cx="512064" cy="512064"/>
          </a:xfrm>
          <a:prstGeom prst="ellipse">
            <a:avLst/>
          </a:prstGeom>
          <a:solidFill>
            <a:srgbClr val="FEF3C7"/>
          </a:solidFill>
          <a:ln/>
        </p:spPr>
      </p:sp>
      <p:pic>
        <p:nvPicPr>
          <p:cNvPr id="20" name="Image 3" descr="preencoded.png">    </p:cNvPr>
          <p:cNvPicPr>
            <a:picLocks noChangeAspect="1"/>
          </p:cNvPicPr>
          <p:nvPr/>
        </p:nvPicPr>
        <p:blipFill>
          <a:blip r:embed="rId4"/>
          <a:stretch>
            <a:fillRect/>
          </a:stretch>
        </p:blipFill>
        <p:spPr>
          <a:xfrm>
            <a:off x="6479073" y="1779057"/>
            <a:ext cx="245791" cy="245791"/>
          </a:xfrm>
          <a:prstGeom prst="rect">
            <a:avLst/>
          </a:prstGeom>
        </p:spPr>
      </p:pic>
      <p:sp>
        <p:nvSpPr>
          <p:cNvPr id="21" name="Text 15"/>
          <p:cNvSpPr/>
          <p:nvPr/>
        </p:nvSpPr>
        <p:spPr>
          <a:xfrm>
            <a:off x="634593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Customs</a:t>
            </a:r>
            <a:endParaRPr lang="en-US" sz="1600" dirty="0"/>
          </a:p>
        </p:txBody>
      </p:sp>
      <p:sp>
        <p:nvSpPr>
          <p:cNvPr id="22" name="Text 16"/>
          <p:cNvSpPr/>
          <p:nvPr/>
        </p:nvSpPr>
        <p:spPr>
          <a:xfrm>
            <a:off x="634593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Country doc checklists + declared-vs-invoice valuation.</a:t>
            </a:r>
            <a:endParaRPr lang="en-US" sz="1050" dirty="0"/>
          </a:p>
        </p:txBody>
      </p:sp>
      <p:sp>
        <p:nvSpPr>
          <p:cNvPr id="23" name="Shape 17"/>
          <p:cNvSpPr/>
          <p:nvPr/>
        </p:nvSpPr>
        <p:spPr>
          <a:xfrm>
            <a:off x="800100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Shape 18"/>
          <p:cNvSpPr/>
          <p:nvPr/>
        </p:nvSpPr>
        <p:spPr>
          <a:xfrm>
            <a:off x="8220456" y="1645920"/>
            <a:ext cx="512064" cy="512064"/>
          </a:xfrm>
          <a:prstGeom prst="ellipse">
            <a:avLst/>
          </a:prstGeom>
          <a:solidFill>
            <a:srgbClr val="FFE4E6"/>
          </a:solidFill>
          <a:ln/>
        </p:spPr>
      </p:sp>
      <p:pic>
        <p:nvPicPr>
          <p:cNvPr id="25" name="Image 4" descr="preencoded.png">    </p:cNvPr>
          <p:cNvPicPr>
            <a:picLocks noChangeAspect="1"/>
          </p:cNvPicPr>
          <p:nvPr/>
        </p:nvPicPr>
        <p:blipFill>
          <a:blip r:embed="rId5"/>
          <a:stretch>
            <a:fillRect/>
          </a:stretch>
        </p:blipFill>
        <p:spPr>
          <a:xfrm>
            <a:off x="8353593" y="1779057"/>
            <a:ext cx="245791" cy="245791"/>
          </a:xfrm>
          <a:prstGeom prst="rect">
            <a:avLst/>
          </a:prstGeom>
        </p:spPr>
      </p:pic>
      <p:sp>
        <p:nvSpPr>
          <p:cNvPr id="26" name="Text 19"/>
          <p:cNvSpPr/>
          <p:nvPr/>
        </p:nvSpPr>
        <p:spPr>
          <a:xfrm>
            <a:off x="822045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Flags</a:t>
            </a:r>
            <a:endParaRPr lang="en-US" sz="1600" dirty="0"/>
          </a:p>
        </p:txBody>
      </p:sp>
      <p:sp>
        <p:nvSpPr>
          <p:cNvPr id="27" name="Text 20"/>
          <p:cNvSpPr/>
          <p:nvPr/>
        </p:nvSpPr>
        <p:spPr>
          <a:xfrm>
            <a:off x="822045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rev-rec, valuation, count, and tax-timing flags.</a:t>
            </a:r>
            <a:endParaRPr lang="en-US" sz="1050" dirty="0"/>
          </a:p>
        </p:txBody>
      </p:sp>
      <p:sp>
        <p:nvSpPr>
          <p:cNvPr id="28" name="Shape 21"/>
          <p:cNvSpPr/>
          <p:nvPr/>
        </p:nvSpPr>
        <p:spPr>
          <a:xfrm>
            <a:off x="98755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9" name="Shape 22"/>
          <p:cNvSpPr/>
          <p:nvPr/>
        </p:nvSpPr>
        <p:spPr>
          <a:xfrm>
            <a:off x="10094976" y="1645920"/>
            <a:ext cx="512064" cy="512064"/>
          </a:xfrm>
          <a:prstGeom prst="ellipse">
            <a:avLst/>
          </a:prstGeom>
          <a:solidFill>
            <a:srgbClr val="E0F2FE"/>
          </a:solidFill>
          <a:ln/>
        </p:spPr>
      </p:sp>
      <p:pic>
        <p:nvPicPr>
          <p:cNvPr id="30" name="Image 5" descr="preencoded.png">    </p:cNvPr>
          <p:cNvPicPr>
            <a:picLocks noChangeAspect="1"/>
          </p:cNvPicPr>
          <p:nvPr/>
        </p:nvPicPr>
        <p:blipFill>
          <a:blip r:embed="rId6"/>
          <a:stretch>
            <a:fillRect/>
          </a:stretch>
        </p:blipFill>
        <p:spPr>
          <a:xfrm>
            <a:off x="10228113" y="1779057"/>
            <a:ext cx="245791" cy="245791"/>
          </a:xfrm>
          <a:prstGeom prst="rect">
            <a:avLst/>
          </a:prstGeom>
        </p:spPr>
      </p:pic>
      <p:sp>
        <p:nvSpPr>
          <p:cNvPr id="31" name="Text 23"/>
          <p:cNvSpPr/>
          <p:nvPr/>
        </p:nvSpPr>
        <p:spPr>
          <a:xfrm>
            <a:off x="100949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Audit</a:t>
            </a:r>
            <a:endParaRPr lang="en-US" sz="1600" dirty="0"/>
          </a:p>
        </p:txBody>
      </p:sp>
      <p:sp>
        <p:nvSpPr>
          <p:cNvPr id="32" name="Text 24"/>
          <p:cNvSpPr/>
          <p:nvPr/>
        </p:nvSpPr>
        <p:spPr>
          <a:xfrm>
            <a:off x="100949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Dec 31 count snapshot + custody-ledger CSV export.</a:t>
            </a:r>
            <a:endParaRPr lang="en-US" sz="1050" dirty="0"/>
          </a:p>
        </p:txBody>
      </p:sp>
      <p:sp>
        <p:nvSpPr>
          <p:cNvPr id="33" name="Shape 25"/>
          <p:cNvSpPr/>
          <p:nvPr/>
        </p:nvSpPr>
        <p:spPr>
          <a:xfrm>
            <a:off x="502920" y="4526280"/>
            <a:ext cx="11183112" cy="1783080"/>
          </a:xfrm>
          <a:prstGeom prst="roundRect">
            <a:avLst>
              <a:gd name="adj" fmla="val 5128"/>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68680" y="4718304"/>
            <a:ext cx="4572000" cy="36576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Running now, on stage</a:t>
            </a:r>
            <a:endParaRPr lang="en-US" sz="1500" dirty="0"/>
          </a:p>
        </p:txBody>
      </p:sp>
      <p:sp>
        <p:nvSpPr>
          <p:cNvPr id="35" name="Text 27"/>
          <p:cNvSpPr/>
          <p:nvPr/>
        </p:nvSpPr>
        <p:spPr>
          <a:xfrm>
            <a:off x="868680" y="5084064"/>
            <a:ext cx="10469880" cy="109728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Route and reroute like a rideshare: priorities (fastest · balanced · lowest cost) drive the agent — when a carrier declines, it re-matches the load and the chain still gets its leg. Two profiles: company ops + the carrier add-in, which sees only the shipping transaction.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Every routing stage is clickable — one tap on any stopping point prints its documents as PDF: shipping &amp; receiving docs, customs documents, bill of lading, valuation worksheet.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Responsive web app with a mobile view — vendors open any stage they need from a browser. EN/ES/FR, EU hand-off QR. No backend, demo-safe offline.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AI reads the custody chain like a controller would.</a:t>
            </a:r>
            <a:endParaRPr lang="en-US" sz="3400" dirty="0"/>
          </a:p>
        </p:txBody>
      </p:sp>
      <p:sp>
        <p:nvSpPr>
          <p:cNvPr id="3" name="Shape 1"/>
          <p:cNvSpPr/>
          <p:nvPr/>
        </p:nvSpPr>
        <p:spPr>
          <a:xfrm>
            <a:off x="548640" y="129844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777240" y="1481328"/>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5" name="Text 3"/>
          <p:cNvSpPr/>
          <p:nvPr/>
        </p:nvSpPr>
        <p:spPr>
          <a:xfrm>
            <a:off x="1645920" y="137160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FOB destination + cold chain: $1M recognizes only at Geneva acceptance (ETA Jan 10).</a:t>
            </a:r>
            <a:endParaRPr lang="en-US" sz="1100" dirty="0"/>
          </a:p>
        </p:txBody>
      </p:sp>
      <p:sp>
        <p:nvSpPr>
          <p:cNvPr id="6" name="Text 4"/>
          <p:cNvSpPr/>
          <p:nvPr/>
        </p:nvSpPr>
        <p:spPr>
          <a:xfrm>
            <a:off x="6035040" y="137160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$1,000,000</a:t>
            </a:r>
            <a:endParaRPr lang="en-US" sz="1250" dirty="0"/>
          </a:p>
        </p:txBody>
      </p:sp>
      <p:sp>
        <p:nvSpPr>
          <p:cNvPr id="7" name="Shape 5"/>
          <p:cNvSpPr/>
          <p:nvPr/>
        </p:nvSpPr>
        <p:spPr>
          <a:xfrm>
            <a:off x="548640" y="2103120"/>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777240" y="2286000"/>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9" name="Text 7"/>
          <p:cNvSpPr/>
          <p:nvPr/>
        </p:nvSpPr>
        <p:spPr>
          <a:xfrm>
            <a:off x="1645920" y="2176272"/>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DAP delivery lands Jan 4 — invoice dated Dec 30. Revenue belongs to FY2027.</a:t>
            </a:r>
            <a:endParaRPr lang="en-US" sz="1100" dirty="0"/>
          </a:p>
        </p:txBody>
      </p:sp>
      <p:sp>
        <p:nvSpPr>
          <p:cNvPr id="10" name="Text 8"/>
          <p:cNvSpPr/>
          <p:nvPr/>
        </p:nvSpPr>
        <p:spPr>
          <a:xfrm>
            <a:off x="6035040" y="2176272"/>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$186,000</a:t>
            </a:r>
            <a:endParaRPr lang="en-US" sz="1250" dirty="0"/>
          </a:p>
        </p:txBody>
      </p:sp>
      <p:sp>
        <p:nvSpPr>
          <p:cNvPr id="11" name="Shape 9"/>
          <p:cNvSpPr/>
          <p:nvPr/>
        </p:nvSpPr>
        <p:spPr>
          <a:xfrm>
            <a:off x="548640" y="2907792"/>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777240" y="3090672"/>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13" name="Text 11"/>
          <p:cNvSpPr/>
          <p:nvPr/>
        </p:nvSpPr>
        <p:spPr>
          <a:xfrm>
            <a:off x="1645920" y="2980944"/>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Customs value (price list) is $39K under the invoice — method must be documented.</a:t>
            </a:r>
            <a:endParaRPr lang="en-US" sz="1100" dirty="0"/>
          </a:p>
        </p:txBody>
      </p:sp>
      <p:sp>
        <p:nvSpPr>
          <p:cNvPr id="14" name="Text 12"/>
          <p:cNvSpPr/>
          <p:nvPr/>
        </p:nvSpPr>
        <p:spPr>
          <a:xfrm>
            <a:off x="6035040" y="2980944"/>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$39,000</a:t>
            </a:r>
            <a:endParaRPr lang="en-US" sz="1250" dirty="0"/>
          </a:p>
        </p:txBody>
      </p:sp>
      <p:sp>
        <p:nvSpPr>
          <p:cNvPr id="15" name="Shape 13"/>
          <p:cNvSpPr/>
          <p:nvPr/>
        </p:nvSpPr>
        <p:spPr>
          <a:xfrm>
            <a:off x="548640" y="3712464"/>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777240" y="3895344"/>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7" name="Text 15"/>
          <p:cNvSpPr/>
          <p:nvPr/>
        </p:nvSpPr>
        <p:spPr>
          <a:xfrm>
            <a:off x="1645920" y="3785616"/>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RMA on the water at year-end — sales return not yet accrued.</a:t>
            </a:r>
            <a:endParaRPr lang="en-US" sz="1100" dirty="0"/>
          </a:p>
        </p:txBody>
      </p:sp>
      <p:sp>
        <p:nvSpPr>
          <p:cNvPr id="18" name="Text 16"/>
          <p:cNvSpPr/>
          <p:nvPr/>
        </p:nvSpPr>
        <p:spPr>
          <a:xfrm>
            <a:off x="6035040" y="3785616"/>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$43,000</a:t>
            </a:r>
            <a:endParaRPr lang="en-US" sz="1250" dirty="0"/>
          </a:p>
        </p:txBody>
      </p:sp>
      <p:sp>
        <p:nvSpPr>
          <p:cNvPr id="19" name="Shape 17"/>
          <p:cNvSpPr/>
          <p:nvPr/>
        </p:nvSpPr>
        <p:spPr>
          <a:xfrm>
            <a:off x="548640" y="4517136"/>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8"/>
          <p:cNvSpPr/>
          <p:nvPr/>
        </p:nvSpPr>
        <p:spPr>
          <a:xfrm>
            <a:off x="777240" y="4700016"/>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21" name="Text 19"/>
          <p:cNvSpPr/>
          <p:nvPr/>
        </p:nvSpPr>
        <p:spPr>
          <a:xfrm>
            <a:off x="1645920" y="4590288"/>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Nine days at the boatyard — still owned, must be in the Dec 31 count.</a:t>
            </a:r>
            <a:endParaRPr lang="en-US" sz="1100" dirty="0"/>
          </a:p>
        </p:txBody>
      </p:sp>
      <p:sp>
        <p:nvSpPr>
          <p:cNvPr id="22" name="Text 20"/>
          <p:cNvSpPr/>
          <p:nvPr/>
        </p:nvSpPr>
        <p:spPr>
          <a:xfrm>
            <a:off x="6035040" y="4590288"/>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$86,000</a:t>
            </a:r>
            <a:endParaRPr lang="en-US" sz="1250" dirty="0"/>
          </a:p>
        </p:txBody>
      </p:sp>
      <p:sp>
        <p:nvSpPr>
          <p:cNvPr id="23" name="Shape 21"/>
          <p:cNvSpPr/>
          <p:nvPr/>
        </p:nvSpPr>
        <p:spPr>
          <a:xfrm>
            <a:off x="548640" y="532180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22"/>
          <p:cNvSpPr/>
          <p:nvPr/>
        </p:nvSpPr>
        <p:spPr>
          <a:xfrm>
            <a:off x="777240" y="5504688"/>
            <a:ext cx="713232" cy="347472"/>
          </a:xfrm>
          <a:prstGeom prst="roundRect">
            <a:avLst>
              <a:gd name="adj" fmla="val 50000"/>
            </a:avLst>
          </a:prstGeom>
          <a:solidFill>
            <a:srgbClr val="E0F2FE"/>
          </a:solidFill>
          <a:ln/>
        </p:spPr>
        <p:txBody>
          <a:bodyPr wrap="square" rtlCol="0" anchor="ctr"/>
          <a:lstStyle/>
          <a:p>
            <a:pPr algn="ctr" indent="0" marL="0">
              <a:buNone/>
            </a:pPr>
            <a:r>
              <a:rPr lang="en-US" sz="1050" b="1" dirty="0">
                <a:solidFill>
                  <a:srgbClr val="0369A1"/>
                </a:solidFill>
                <a:latin typeface="Calibri" pitchFamily="34" charset="0"/>
                <a:ea typeface="Calibri" pitchFamily="34" charset="-122"/>
                <a:cs typeface="Calibri" pitchFamily="34" charset="-120"/>
              </a:rPr>
              <a:t>PLAN</a:t>
            </a:r>
            <a:endParaRPr lang="en-US" sz="1050" dirty="0"/>
          </a:p>
        </p:txBody>
      </p:sp>
      <p:sp>
        <p:nvSpPr>
          <p:cNvPr id="25" name="Text 23"/>
          <p:cNvSpPr/>
          <p:nvPr/>
        </p:nvSpPr>
        <p:spPr>
          <a:xfrm>
            <a:off x="1645920" y="539496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Shift a $500K stock receipt Dec 30 → Jan 2: off the property-tax assessment date.</a:t>
            </a:r>
            <a:endParaRPr lang="en-US" sz="1100" dirty="0"/>
          </a:p>
        </p:txBody>
      </p:sp>
      <p:sp>
        <p:nvSpPr>
          <p:cNvPr id="26" name="Text 24"/>
          <p:cNvSpPr/>
          <p:nvPr/>
        </p:nvSpPr>
        <p:spPr>
          <a:xfrm>
            <a:off x="6035040" y="539496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 $6,500</a:t>
            </a:r>
            <a:endParaRPr lang="en-US" sz="1250" dirty="0"/>
          </a:p>
        </p:txBody>
      </p:sp>
      <p:sp>
        <p:nvSpPr>
          <p:cNvPr id="27" name="Shape 25"/>
          <p:cNvSpPr/>
          <p:nvPr/>
        </p:nvSpPr>
        <p:spPr>
          <a:xfrm>
            <a:off x="7818120" y="1298448"/>
            <a:ext cx="3794760" cy="4846320"/>
          </a:xfrm>
          <a:prstGeom prst="roundRect">
            <a:avLst>
              <a:gd name="adj" fmla="val 241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8" name="Text 26"/>
          <p:cNvSpPr/>
          <p:nvPr/>
        </p:nvSpPr>
        <p:spPr>
          <a:xfrm>
            <a:off x="8183880" y="1691640"/>
            <a:ext cx="3108960" cy="868680"/>
          </a:xfrm>
          <a:prstGeom prst="rect">
            <a:avLst/>
          </a:prstGeom>
          <a:noFill/>
          <a:ln/>
        </p:spPr>
        <p:txBody>
          <a:bodyPr wrap="square" lIns="0" tIns="0" rIns="0" bIns="0" rtlCol="0" anchor="ctr"/>
          <a:lstStyle/>
          <a:p>
            <a:pPr indent="0" marL="0">
              <a:buNone/>
            </a:pPr>
            <a:r>
              <a:rPr lang="en-US" sz="5200" b="1" dirty="0">
                <a:solidFill>
                  <a:srgbClr val="34D399"/>
                </a:solidFill>
                <a:latin typeface="Calibri" pitchFamily="34" charset="0"/>
                <a:ea typeface="Calibri" pitchFamily="34" charset="-122"/>
                <a:cs typeface="Calibri" pitchFamily="34" charset="-120"/>
              </a:rPr>
              <a:t>$1.23M</a:t>
            </a:r>
            <a:endParaRPr lang="en-US" sz="5200" dirty="0"/>
          </a:p>
        </p:txBody>
      </p:sp>
      <p:sp>
        <p:nvSpPr>
          <p:cNvPr id="29" name="Text 27"/>
          <p:cNvSpPr/>
          <p:nvPr/>
        </p:nvSpPr>
        <p:spPr>
          <a:xfrm>
            <a:off x="8183880" y="2578608"/>
            <a:ext cx="3063240" cy="7315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of FY2026 revenue exposure flagged from custody events in the demo dataset alone</a:t>
            </a:r>
            <a:endParaRPr lang="en-US" sz="1300" dirty="0"/>
          </a:p>
        </p:txBody>
      </p:sp>
      <p:sp>
        <p:nvSpPr>
          <p:cNvPr id="30" name="Text 28"/>
          <p:cNvSpPr/>
          <p:nvPr/>
        </p:nvSpPr>
        <p:spPr>
          <a:xfrm>
            <a:off x="8183880" y="3456432"/>
            <a:ext cx="3063240" cy="45720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“AI investigates. Controllers conclude.”</a:t>
            </a:r>
            <a:endParaRPr lang="en-US" sz="1400" dirty="0"/>
          </a:p>
        </p:txBody>
      </p:sp>
      <p:sp>
        <p:nvSpPr>
          <p:cNvPr id="31" name="Text 29"/>
          <p:cNvSpPr/>
          <p:nvPr/>
        </p:nvSpPr>
        <p:spPr>
          <a:xfrm>
            <a:off x="8183880" y="3950208"/>
            <a:ext cx="3063240" cy="77724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Materiality decides what gets AI attention. Every flag routes to a human. Nothing auto-posts — ever.</a:t>
            </a:r>
            <a:endParaRPr lang="en-US" sz="1150" dirty="0"/>
          </a:p>
        </p:txBody>
      </p:sp>
      <p:sp>
        <p:nvSpPr>
          <p:cNvPr id="32" name="Text 30"/>
          <p:cNvSpPr/>
          <p:nvPr/>
        </p:nvSpPr>
        <p:spPr>
          <a:xfrm>
            <a:off x="8183880" y="4864608"/>
            <a:ext cx="3063240" cy="1005840"/>
          </a:xfrm>
          <a:prstGeom prst="rect">
            <a:avLst/>
          </a:prstGeom>
          <a:noFill/>
          <a:ln/>
        </p:spPr>
        <p:txBody>
          <a:bodyPr wrap="square" lIns="0" tIns="0" rIns="0" bIns="0" rtlCol="0" anchor="ctr"/>
          <a:lstStyle/>
          <a:p>
            <a:pPr indent="0" marL="0">
              <a:buNone/>
            </a:pPr>
            <a:r>
              <a:rPr lang="en-US" sz="1150" dirty="0">
                <a:solidFill>
                  <a:srgbClr val="D1FAE5"/>
                </a:solidFill>
                <a:latin typeface="Calibri" pitchFamily="34" charset="0"/>
                <a:ea typeface="Calibri" pitchFamily="34" charset="-122"/>
                <a:cs typeface="Calibri" pitchFamily="34" charset="-120"/>
              </a:rPr>
              <a:t>✦ The AI vendor search closes the loop: it ranks routes against the need-by date and watches customs bulletins for changes.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Agents coordinate. Humans stay in control.</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Routes are defined by carrier acceptance of availability — matched on weights &amp; measures through each freight vendor’s availability API.</a:t>
            </a:r>
            <a:endParaRPr lang="en-US" sz="1400" dirty="0"/>
          </a:p>
        </p:txBody>
      </p:sp>
      <p:sp>
        <p:nvSpPr>
          <p:cNvPr id="4" name="Shape 2"/>
          <p:cNvSpPr/>
          <p:nvPr/>
        </p:nvSpPr>
        <p:spPr>
          <a:xfrm>
            <a:off x="548640" y="1755648"/>
            <a:ext cx="475488" cy="475488"/>
          </a:xfrm>
          <a:prstGeom prst="ellipse">
            <a:avLst/>
          </a:prstGeom>
          <a:solidFill>
            <a:srgbClr val="059669"/>
          </a:solidFill>
          <a:ln/>
        </p:spPr>
      </p:sp>
      <p:sp>
        <p:nvSpPr>
          <p:cNvPr id="5" name="Text 3"/>
          <p:cNvSpPr/>
          <p:nvPr/>
        </p:nvSpPr>
        <p:spPr>
          <a:xfrm>
            <a:off x="548640" y="17556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188720" y="1682496"/>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Match</a:t>
            </a:r>
            <a:endParaRPr lang="en-US" sz="1550" dirty="0"/>
          </a:p>
        </p:txBody>
      </p:sp>
      <p:sp>
        <p:nvSpPr>
          <p:cNvPr id="7" name="Text 5"/>
          <p:cNvSpPr/>
          <p:nvPr/>
        </p:nvSpPr>
        <p:spPr>
          <a:xfrm>
            <a:off x="1188720" y="2011680"/>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agent matches load to lane: date window, weights &amp; measures, cost per ton — availability confirmed through the carrier’s API.</a:t>
            </a:r>
            <a:endParaRPr lang="en-US" sz="1150" dirty="0"/>
          </a:p>
        </p:txBody>
      </p:sp>
      <p:sp>
        <p:nvSpPr>
          <p:cNvPr id="8" name="Shape 6"/>
          <p:cNvSpPr/>
          <p:nvPr/>
        </p:nvSpPr>
        <p:spPr>
          <a:xfrm>
            <a:off x="548640" y="2871216"/>
            <a:ext cx="475488" cy="475488"/>
          </a:xfrm>
          <a:prstGeom prst="ellipse">
            <a:avLst/>
          </a:prstGeom>
          <a:solidFill>
            <a:srgbClr val="059669"/>
          </a:solidFill>
          <a:ln/>
        </p:spPr>
      </p:sp>
      <p:sp>
        <p:nvSpPr>
          <p:cNvPr id="9" name="Text 7"/>
          <p:cNvSpPr/>
          <p:nvPr/>
        </p:nvSpPr>
        <p:spPr>
          <a:xfrm>
            <a:off x="548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188720" y="2798064"/>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Accept</a:t>
            </a:r>
            <a:endParaRPr lang="en-US" sz="1550" dirty="0"/>
          </a:p>
        </p:txBody>
      </p:sp>
      <p:sp>
        <p:nvSpPr>
          <p:cNvPr id="11" name="Text 9"/>
          <p:cNvSpPr/>
          <p:nvPr/>
        </p:nvSpPr>
        <p:spPr>
          <a:xfrm>
            <a:off x="1188720" y="3127248"/>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carrier-side agent accepts and locks the leg. One transaction ID; the company-approved docs pack is issued for the stop.</a:t>
            </a:r>
            <a:endParaRPr lang="en-US" sz="1150" dirty="0"/>
          </a:p>
        </p:txBody>
      </p:sp>
      <p:sp>
        <p:nvSpPr>
          <p:cNvPr id="12" name="Shape 10"/>
          <p:cNvSpPr/>
          <p:nvPr/>
        </p:nvSpPr>
        <p:spPr>
          <a:xfrm>
            <a:off x="548640" y="3986784"/>
            <a:ext cx="475488" cy="475488"/>
          </a:xfrm>
          <a:prstGeom prst="ellipse">
            <a:avLst/>
          </a:prstGeom>
          <a:solidFill>
            <a:srgbClr val="059669"/>
          </a:solidFill>
          <a:ln/>
        </p:spPr>
      </p:sp>
      <p:sp>
        <p:nvSpPr>
          <p:cNvPr id="13" name="Text 11"/>
          <p:cNvSpPr/>
          <p:nvPr/>
        </p:nvSpPr>
        <p:spPr>
          <a:xfrm>
            <a:off x="548640" y="39867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188720" y="3913632"/>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Human rejects?</a:t>
            </a:r>
            <a:endParaRPr lang="en-US" sz="1550" dirty="0"/>
          </a:p>
        </p:txBody>
      </p:sp>
      <p:sp>
        <p:nvSpPr>
          <p:cNvPr id="15" name="Text 13"/>
          <p:cNvSpPr/>
          <p:nvPr/>
        </p:nvSpPr>
        <p:spPr>
          <a:xfrm>
            <a:off x="1188720" y="4242816"/>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upstream agent is triggered: it reroutes on availability and re-verifies that the delivery date did not change.</a:t>
            </a:r>
            <a:endParaRPr lang="en-US" sz="1150" dirty="0"/>
          </a:p>
        </p:txBody>
      </p:sp>
      <p:sp>
        <p:nvSpPr>
          <p:cNvPr id="16" name="Shape 14"/>
          <p:cNvSpPr/>
          <p:nvPr/>
        </p:nvSpPr>
        <p:spPr>
          <a:xfrm>
            <a:off x="548640" y="5102352"/>
            <a:ext cx="475488" cy="475488"/>
          </a:xfrm>
          <a:prstGeom prst="ellipse">
            <a:avLst/>
          </a:prstGeom>
          <a:solidFill>
            <a:srgbClr val="B45309"/>
          </a:solidFill>
          <a:ln/>
        </p:spPr>
      </p:sp>
      <p:sp>
        <p:nvSpPr>
          <p:cNvPr id="17" name="Text 15"/>
          <p:cNvSpPr/>
          <p:nvPr/>
        </p:nvSpPr>
        <p:spPr>
          <a:xfrm>
            <a:off x="548640" y="51023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188720" y="5029200"/>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Tolerance gate</a:t>
            </a:r>
            <a:endParaRPr lang="en-US" sz="1550" dirty="0"/>
          </a:p>
        </p:txBody>
      </p:sp>
      <p:sp>
        <p:nvSpPr>
          <p:cNvPr id="19" name="Text 17"/>
          <p:cNvSpPr/>
          <p:nvPr/>
        </p:nvSpPr>
        <p:spPr>
          <a:xfrm>
            <a:off x="1188720" y="5358384"/>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Auto-confirm only within ±10% / $200 / 2 days. Anything larger requests approval from the sender — shown live on the $1M lane.</a:t>
            </a:r>
            <a:endParaRPr lang="en-US" sz="1150" dirty="0"/>
          </a:p>
        </p:txBody>
      </p:sp>
      <p:sp>
        <p:nvSpPr>
          <p:cNvPr id="20" name="Shape 18"/>
          <p:cNvSpPr/>
          <p:nvPr/>
        </p:nvSpPr>
        <p:spPr>
          <a:xfrm>
            <a:off x="7040880" y="1737360"/>
            <a:ext cx="4572000" cy="4343400"/>
          </a:xfrm>
          <a:prstGeom prst="roundRect">
            <a:avLst>
              <a:gd name="adj" fmla="val 210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1" name="Text 19"/>
          <p:cNvSpPr/>
          <p:nvPr/>
        </p:nvSpPr>
        <p:spPr>
          <a:xfrm>
            <a:off x="7360920" y="1993392"/>
            <a:ext cx="393192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Vendor memory profile</a:t>
            </a:r>
            <a:endParaRPr lang="en-US" sz="1600" dirty="0"/>
          </a:p>
        </p:txBody>
      </p:sp>
      <p:sp>
        <p:nvSpPr>
          <p:cNvPr id="22" name="Text 20"/>
          <p:cNvSpPr/>
          <p:nvPr/>
        </p:nvSpPr>
        <p:spPr>
          <a:xfrm>
            <a:off x="7360920" y="2487168"/>
            <a:ext cx="3931920" cy="274320"/>
          </a:xfrm>
          <a:prstGeom prst="rect">
            <a:avLst/>
          </a:prstGeom>
          <a:noFill/>
          <a:ln/>
        </p:spPr>
        <p:txBody>
          <a:bodyPr wrap="square" lIns="0" tIns="0" rIns="0" bIns="0" rtlCol="0" anchor="ctr"/>
          <a:lstStyle/>
          <a:p>
            <a:pPr indent="0" marL="0">
              <a:buNone/>
            </a:pPr>
            <a:r>
              <a:rPr lang="en-US" sz="1050" b="1" spc="100" kern="0" dirty="0">
                <a:solidFill>
                  <a:srgbClr val="94A3B8"/>
                </a:solidFill>
                <a:latin typeface="Calibri" pitchFamily="34" charset="0"/>
                <a:ea typeface="Calibri" pitchFamily="34" charset="-122"/>
                <a:cs typeface="Calibri" pitchFamily="34" charset="-120"/>
              </a:rPr>
              <a:t>CONSTANT — cached in memory</a:t>
            </a:r>
            <a:endParaRPr lang="en-US" sz="1050" dirty="0"/>
          </a:p>
        </p:txBody>
      </p:sp>
      <p:sp>
        <p:nvSpPr>
          <p:cNvPr id="23" name="Text 21"/>
          <p:cNvSpPr/>
          <p:nvPr/>
        </p:nvSpPr>
        <p:spPr>
          <a:xfrm>
            <a:off x="7360920" y="2761488"/>
            <a:ext cx="3931920" cy="685800"/>
          </a:xfrm>
          <a:prstGeom prst="rect">
            <a:avLst/>
          </a:prstGeom>
          <a:noFill/>
          <a:ln/>
        </p:spPr>
        <p:txBody>
          <a:bodyPr wrap="square" lIns="0" tIns="0" rIns="0" bIns="0" rtlCol="0" anchor="ctr"/>
          <a:lstStyle/>
          <a:p>
            <a:pPr indent="0" marL="0">
              <a:buNone/>
            </a:pPr>
            <a:r>
              <a:rPr lang="en-US" sz="1200" dirty="0">
                <a:solidFill>
                  <a:srgbClr val="E2E8F0"/>
                </a:solidFill>
                <a:latin typeface="Calibri" pitchFamily="34" charset="0"/>
                <a:ea typeface="Calibri" pitchFamily="34" charset="-122"/>
                <a:cs typeface="Calibri" pitchFamily="34" charset="-120"/>
              </a:rPr>
              <a:t>Average cost per ton. The business map: lanes each carrier owns and serves. Certifications (reefer, hazmat).</a:t>
            </a:r>
            <a:endParaRPr lang="en-US" sz="1200" dirty="0"/>
          </a:p>
        </p:txBody>
      </p:sp>
      <p:sp>
        <p:nvSpPr>
          <p:cNvPr id="24" name="Text 22"/>
          <p:cNvSpPr/>
          <p:nvPr/>
        </p:nvSpPr>
        <p:spPr>
          <a:xfrm>
            <a:off x="7360920" y="3520440"/>
            <a:ext cx="3931920" cy="274320"/>
          </a:xfrm>
          <a:prstGeom prst="rect">
            <a:avLst/>
          </a:prstGeom>
          <a:noFill/>
          <a:ln/>
        </p:spPr>
        <p:txBody>
          <a:bodyPr wrap="square" lIns="0" tIns="0" rIns="0" bIns="0" rtlCol="0" anchor="ctr"/>
          <a:lstStyle/>
          <a:p>
            <a:pPr indent="0" marL="0">
              <a:buNone/>
            </a:pPr>
            <a:r>
              <a:rPr lang="en-US" sz="1050" b="1" spc="100" kern="0" dirty="0">
                <a:solidFill>
                  <a:srgbClr val="94A3B8"/>
                </a:solidFill>
                <a:latin typeface="Calibri" pitchFamily="34" charset="0"/>
                <a:ea typeface="Calibri" pitchFamily="34" charset="-122"/>
                <a:cs typeface="Calibri" pitchFamily="34" charset="-120"/>
              </a:rPr>
              <a:t>VARIABLE — queried per order</a:t>
            </a:r>
            <a:endParaRPr lang="en-US" sz="1050" dirty="0"/>
          </a:p>
        </p:txBody>
      </p:sp>
      <p:sp>
        <p:nvSpPr>
          <p:cNvPr id="25" name="Text 23"/>
          <p:cNvSpPr/>
          <p:nvPr/>
        </p:nvSpPr>
        <p:spPr>
          <a:xfrm>
            <a:off x="7360920" y="3794760"/>
            <a:ext cx="3931920" cy="731520"/>
          </a:xfrm>
          <a:prstGeom prst="rect">
            <a:avLst/>
          </a:prstGeom>
          <a:noFill/>
          <a:ln/>
        </p:spPr>
        <p:txBody>
          <a:bodyPr wrap="square" lIns="0" tIns="0" rIns="0" bIns="0" rtlCol="0" anchor="ctr"/>
          <a:lstStyle/>
          <a:p>
            <a:pPr indent="0" marL="0">
              <a:buNone/>
            </a:pPr>
            <a:r>
              <a:rPr lang="en-US" sz="1200" dirty="0">
                <a:solidFill>
                  <a:srgbClr val="E2E8F0"/>
                </a:solidFill>
                <a:latin typeface="Calibri" pitchFamily="34" charset="0"/>
                <a:ea typeface="Calibri" pitchFamily="34" charset="-122"/>
                <a:cs typeface="Calibri" pitchFamily="34" charset="-120"/>
              </a:rPr>
              <a:t>Availability between this date and that date — one API call to the vendor. Nothing else recomputes when an order is placed.</a:t>
            </a:r>
            <a:endParaRPr lang="en-US" sz="1200" dirty="0"/>
          </a:p>
        </p:txBody>
      </p:sp>
      <p:sp>
        <p:nvSpPr>
          <p:cNvPr id="26" name="Text 24"/>
          <p:cNvSpPr/>
          <p:nvPr/>
        </p:nvSpPr>
        <p:spPr>
          <a:xfrm>
            <a:off x="7360920" y="4663440"/>
            <a:ext cx="3931920" cy="411480"/>
          </a:xfrm>
          <a:prstGeom prst="rect">
            <a:avLst/>
          </a:prstGeom>
          <a:noFill/>
          <a:ln/>
        </p:spPr>
        <p:txBody>
          <a:bodyPr wrap="square" lIns="0" tIns="0" rIns="0" bIns="0" rtlCol="0" anchor="ctr"/>
          <a:lstStyle/>
          <a:p>
            <a:pPr indent="0" marL="0">
              <a:buNone/>
            </a:pPr>
            <a:r>
              <a:rPr lang="en-US" sz="1250" b="1" i="1" dirty="0">
                <a:solidFill>
                  <a:srgbClr val="FFFFFF"/>
                </a:solidFill>
                <a:latin typeface="Calibri" pitchFamily="34" charset="0"/>
                <a:ea typeface="Calibri" pitchFamily="34" charset="-122"/>
                <a:cs typeface="Calibri" pitchFamily="34" charset="-120"/>
              </a:rPr>
              <a:t>Cheap, fast agent decisions — cost discipline by design.</a:t>
            </a:r>
            <a:endParaRPr lang="en-US" sz="1250" dirty="0"/>
          </a:p>
        </p:txBody>
      </p:sp>
      <p:sp>
        <p:nvSpPr>
          <p:cNvPr id="27" name="Text 25"/>
          <p:cNvSpPr/>
          <p:nvPr/>
        </p:nvSpPr>
        <p:spPr>
          <a:xfrm>
            <a:off x="7360920" y="5166360"/>
            <a:ext cx="3931920" cy="685800"/>
          </a:xfrm>
          <a:prstGeom prst="rect">
            <a:avLst/>
          </a:prstGeom>
          <a:noFill/>
          <a:ln/>
        </p:spPr>
        <p:txBody>
          <a:bodyPr wrap="square" lIns="0" tIns="0" rIns="0" bIns="0" rtlCol="0" anchor="ctr"/>
          <a:lstStyle/>
          <a:p>
            <a:pPr indent="0" marL="0">
              <a:buNone/>
            </a:pPr>
            <a:r>
              <a:rPr lang="en-US" sz="1050" dirty="0">
                <a:solidFill>
                  <a:srgbClr val="D1FAE5"/>
                </a:solidFill>
                <a:latin typeface="Calibri" pitchFamily="34" charset="0"/>
                <a:ea typeface="Calibri" pitchFamily="34" charset="-122"/>
                <a:cs typeface="Calibri" pitchFamily="34" charset="-120"/>
              </a:rPr>
              <a:t>Portable: the vetted workflow ships as an agent prompt + seed memory files — EverOS-ready (docs/EVEROS_AGENT_PROMPT.md).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Built to complement the stack you already run.</a:t>
            </a:r>
            <a:endParaRPr lang="en-US" sz="3400" dirty="0"/>
          </a:p>
        </p:txBody>
      </p:sp>
      <p:sp>
        <p:nvSpPr>
          <p:cNvPr id="3" name="Shape 1"/>
          <p:cNvSpPr/>
          <p:nvPr/>
        </p:nvSpPr>
        <p:spPr>
          <a:xfrm>
            <a:off x="548640" y="1600200"/>
            <a:ext cx="338328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28800"/>
            <a:ext cx="283464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Systems of record</a:t>
            </a:r>
            <a:endParaRPr lang="en-US" sz="1300" dirty="0"/>
          </a:p>
        </p:txBody>
      </p:sp>
      <p:sp>
        <p:nvSpPr>
          <p:cNvPr id="5" name="Text 3"/>
          <p:cNvSpPr/>
          <p:nvPr/>
        </p:nvSpPr>
        <p:spPr>
          <a:xfrm>
            <a:off x="822960" y="2194560"/>
            <a:ext cx="2834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NetSuite · Oracle · SAP</a:t>
            </a:r>
            <a:endParaRPr lang="en-US" sz="1800" dirty="0"/>
          </a:p>
        </p:txBody>
      </p:sp>
      <p:sp>
        <p:nvSpPr>
          <p:cNvPr id="6" name="Text 4"/>
          <p:cNvSpPr/>
          <p:nvPr/>
        </p:nvSpPr>
        <p:spPr>
          <a:xfrm>
            <a:off x="822960" y="2697480"/>
            <a:ext cx="2880360" cy="13716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Own the books and the item master. Blind between warehouse scans — they record what happened only after someone types it in.</a:t>
            </a:r>
            <a:endParaRPr lang="en-US" sz="1200" dirty="0"/>
          </a:p>
        </p:txBody>
      </p:sp>
      <p:sp>
        <p:nvSpPr>
          <p:cNvPr id="7" name="Shape 5"/>
          <p:cNvSpPr/>
          <p:nvPr/>
        </p:nvSpPr>
        <p:spPr>
          <a:xfrm>
            <a:off x="4389120" y="1417320"/>
            <a:ext cx="3429000" cy="3017520"/>
          </a:xfrm>
          <a:prstGeom prst="roundRect">
            <a:avLst>
              <a:gd name="adj" fmla="val 3030"/>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4663440" y="1691640"/>
            <a:ext cx="2926080" cy="365760"/>
          </a:xfrm>
          <a:prstGeom prst="rect">
            <a:avLst/>
          </a:prstGeom>
          <a:noFill/>
          <a:ln/>
        </p:spPr>
        <p:txBody>
          <a:bodyPr wrap="square" lIns="0" tIns="0" rIns="0" bIns="0" rtlCol="0" anchor="ctr"/>
          <a:lstStyle/>
          <a:p>
            <a:pPr indent="0" marL="0">
              <a:buNone/>
            </a:pPr>
            <a:r>
              <a:rPr lang="en-US" sz="1600" b="1" spc="200" kern="0" dirty="0">
                <a:solidFill>
                  <a:srgbClr val="FFFFFF"/>
                </a:solidFill>
                <a:latin typeface="Calibri" pitchFamily="34" charset="0"/>
                <a:ea typeface="Calibri" pitchFamily="34" charset="-122"/>
                <a:cs typeface="Calibri" pitchFamily="34" charset="-120"/>
              </a:rPr>
              <a:t>TRANSIT GUARD</a:t>
            </a:r>
            <a:endParaRPr lang="en-US" sz="1600" dirty="0"/>
          </a:p>
        </p:txBody>
      </p:sp>
      <p:sp>
        <p:nvSpPr>
          <p:cNvPr id="9" name="Text 7"/>
          <p:cNvSpPr/>
          <p:nvPr/>
        </p:nvSpPr>
        <p:spPr>
          <a:xfrm>
            <a:off x="4663440" y="2103120"/>
            <a:ext cx="2926080" cy="365760"/>
          </a:xfrm>
          <a:prstGeom prst="rect">
            <a:avLst/>
          </a:prstGeom>
          <a:noFill/>
          <a:ln/>
        </p:spPr>
        <p:txBody>
          <a:bodyPr wrap="square" lIns="0" tIns="0" rIns="0" bIns="0" rtlCol="0" anchor="ctr"/>
          <a:lstStyle/>
          <a:p>
            <a:pPr indent="0" marL="0">
              <a:buNone/>
            </a:pPr>
            <a:r>
              <a:rPr lang="en-US" sz="1400" i="1" dirty="0">
                <a:solidFill>
                  <a:srgbClr val="D1FAE5"/>
                </a:solidFill>
                <a:latin typeface="Calibri" pitchFamily="34" charset="0"/>
                <a:ea typeface="Calibri" pitchFamily="34" charset="-122"/>
                <a:cs typeface="Calibri" pitchFamily="34" charset="-120"/>
              </a:rPr>
              <a:t>The custody capture layer</a:t>
            </a:r>
            <a:endParaRPr lang="en-US" sz="1400" dirty="0"/>
          </a:p>
        </p:txBody>
      </p:sp>
      <p:sp>
        <p:nvSpPr>
          <p:cNvPr id="10" name="Text 8"/>
          <p:cNvSpPr/>
          <p:nvPr/>
        </p:nvSpPr>
        <p:spPr>
          <a:xfrm>
            <a:off x="4663440" y="2514600"/>
            <a:ext cx="2926080" cy="11887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Scans, hand-offs, customs documents, and transaction dates captured where they happen — in the field, on a phone, in the local language.</a:t>
            </a:r>
            <a:endParaRPr lang="en-US" sz="1250" dirty="0"/>
          </a:p>
        </p:txBody>
      </p:sp>
      <p:sp>
        <p:nvSpPr>
          <p:cNvPr id="11" name="Text 9"/>
          <p:cNvSpPr/>
          <p:nvPr/>
        </p:nvSpPr>
        <p:spPr>
          <a:xfrm>
            <a:off x="4663440" y="3794760"/>
            <a:ext cx="2926080" cy="502920"/>
          </a:xfrm>
          <a:prstGeom prst="rect">
            <a:avLst/>
          </a:prstGeom>
          <a:noFill/>
          <a:ln/>
        </p:spPr>
        <p:txBody>
          <a:bodyPr wrap="square" lIns="0" tIns="0" rIns="0" bIns="0" rtlCol="0" anchor="ctr"/>
          <a:lstStyle/>
          <a:p>
            <a:pPr indent="0" marL="0">
              <a:buNone/>
            </a:pPr>
            <a:r>
              <a:rPr lang="en-US" sz="1100" i="1" dirty="0">
                <a:solidFill>
                  <a:srgbClr val="D1FAE5"/>
                </a:solidFill>
                <a:latin typeface="Calibri" pitchFamily="34" charset="0"/>
                <a:ea typeface="Calibri" pitchFamily="34" charset="-122"/>
                <a:cs typeface="Calibri" pitchFamily="34" charset="-120"/>
              </a:rPr>
              <a:t>clean transaction dates in · audit-ready evidence out</a:t>
            </a:r>
            <a:endParaRPr lang="en-US" sz="1100" dirty="0"/>
          </a:p>
        </p:txBody>
      </p:sp>
      <p:sp>
        <p:nvSpPr>
          <p:cNvPr id="12" name="Shape 10"/>
          <p:cNvSpPr/>
          <p:nvPr/>
        </p:nvSpPr>
        <p:spPr>
          <a:xfrm>
            <a:off x="8275320" y="1600200"/>
            <a:ext cx="333756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8549640" y="1828800"/>
            <a:ext cx="278892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Close &amp; assurance</a:t>
            </a:r>
            <a:endParaRPr lang="en-US" sz="1300" dirty="0"/>
          </a:p>
        </p:txBody>
      </p:sp>
      <p:sp>
        <p:nvSpPr>
          <p:cNvPr id="14" name="Text 12"/>
          <p:cNvSpPr/>
          <p:nvPr/>
        </p:nvSpPr>
        <p:spPr>
          <a:xfrm>
            <a:off x="8549640" y="2194560"/>
            <a:ext cx="2788920" cy="6858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BlackLine · Inventory Close Guard</a:t>
            </a:r>
            <a:endParaRPr lang="en-US" sz="1700" dirty="0"/>
          </a:p>
        </p:txBody>
      </p:sp>
      <p:sp>
        <p:nvSpPr>
          <p:cNvPr id="15" name="Text 13"/>
          <p:cNvSpPr/>
          <p:nvPr/>
        </p:nvSpPr>
        <p:spPr>
          <a:xfrm>
            <a:off x="8549640" y="2926080"/>
            <a:ext cx="2743200" cy="109728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Close automation starts once trustworthy data exists. Transit Guard is where that data is born.</a:t>
            </a:r>
            <a:endParaRPr lang="en-US" sz="1200" dirty="0"/>
          </a:p>
        </p:txBody>
      </p:sp>
      <p:sp>
        <p:nvSpPr>
          <p:cNvPr id="16" name="Shape 14"/>
          <p:cNvSpPr/>
          <p:nvPr/>
        </p:nvSpPr>
        <p:spPr>
          <a:xfrm>
            <a:off x="3950208" y="2743200"/>
            <a:ext cx="457200" cy="365760"/>
          </a:xfrm>
          <a:prstGeom prst="rightArrow">
            <a:avLst/>
          </a:prstGeom>
          <a:solidFill>
            <a:srgbClr val="059669"/>
          </a:solidFill>
          <a:ln/>
        </p:spPr>
      </p:sp>
      <p:sp>
        <p:nvSpPr>
          <p:cNvPr id="17" name="Shape 15"/>
          <p:cNvSpPr/>
          <p:nvPr/>
        </p:nvSpPr>
        <p:spPr>
          <a:xfrm>
            <a:off x="7836408" y="2743200"/>
            <a:ext cx="457200" cy="365760"/>
          </a:xfrm>
          <a:prstGeom prst="rightArrow">
            <a:avLst/>
          </a:prstGeom>
          <a:solidFill>
            <a:srgbClr val="059669"/>
          </a:solidFill>
          <a:ln/>
        </p:spPr>
      </p:sp>
      <p:sp>
        <p:nvSpPr>
          <p:cNvPr id="18" name="Shape 16"/>
          <p:cNvSpPr/>
          <p:nvPr/>
        </p:nvSpPr>
        <p:spPr>
          <a:xfrm>
            <a:off x="548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7"/>
          <p:cNvSpPr/>
          <p:nvPr/>
        </p:nvSpPr>
        <p:spPr>
          <a:xfrm>
            <a:off x="822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Carriers plug in, not out</a:t>
            </a:r>
            <a:endParaRPr lang="en-US" sz="1450" dirty="0"/>
          </a:p>
        </p:txBody>
      </p:sp>
      <p:sp>
        <p:nvSpPr>
          <p:cNvPr id="20" name="Text 18"/>
          <p:cNvSpPr/>
          <p:nvPr/>
        </p:nvSpPr>
        <p:spPr>
          <a:xfrm>
            <a:off x="822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Partner carrier and 3PL apps log hand-offs through the Transit Guard API — same transaction ID end to end, with QR scans standardizing EU hand-offs. A connector, not a migration.</a:t>
            </a:r>
            <a:endParaRPr lang="en-US" sz="1200" dirty="0"/>
          </a:p>
        </p:txBody>
      </p:sp>
      <p:sp>
        <p:nvSpPr>
          <p:cNvPr id="21" name="Shape 19"/>
          <p:cNvSpPr/>
          <p:nvPr/>
        </p:nvSpPr>
        <p:spPr>
          <a:xfrm>
            <a:off x="6263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2" name="Text 20"/>
          <p:cNvSpPr/>
          <p:nvPr/>
        </p:nvSpPr>
        <p:spPr>
          <a:xfrm>
            <a:off x="6537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The suite play</a:t>
            </a:r>
            <a:endParaRPr lang="en-US" sz="1450" dirty="0"/>
          </a:p>
        </p:txBody>
      </p:sp>
      <p:sp>
        <p:nvSpPr>
          <p:cNvPr id="23" name="Text 21"/>
          <p:cNvSpPr/>
          <p:nvPr/>
        </p:nvSpPr>
        <p:spPr>
          <a:xfrm>
            <a:off x="6537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At year-end, custody events become Inventory Close Guard’s cutoff and existence evidence. Capture once, close faster.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 focused wedge into a $28B market.</a:t>
            </a:r>
            <a:endParaRPr lang="en-US" sz="3400" dirty="0"/>
          </a:p>
        </p:txBody>
      </p:sp>
      <p:sp>
        <p:nvSpPr>
          <p:cNvPr id="3" name="Shape 1"/>
          <p:cNvSpPr/>
          <p:nvPr/>
        </p:nvSpPr>
        <p:spPr>
          <a:xfrm>
            <a:off x="548640" y="1417320"/>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01368"/>
            <a:ext cx="868680" cy="502920"/>
          </a:xfrm>
          <a:prstGeom prst="roundRect">
            <a:avLst>
              <a:gd name="adj" fmla="val 21818"/>
            </a:avLst>
          </a:prstGeom>
          <a:solidFill>
            <a:srgbClr val="D1FAE5"/>
          </a:solidFill>
          <a:ln/>
        </p:spPr>
        <p:txBody>
          <a:bodyPr wrap="square" rtlCol="0" anchor="ctr"/>
          <a:lstStyle/>
          <a:p>
            <a:pPr algn="ctr" indent="0" marL="0">
              <a:buNone/>
            </a:pPr>
            <a:r>
              <a:rPr lang="en-US" sz="1500" b="1" dirty="0">
                <a:solidFill>
                  <a:srgbClr val="059669"/>
                </a:solidFill>
                <a:latin typeface="Calibri" pitchFamily="34" charset="0"/>
                <a:ea typeface="Calibri" pitchFamily="34" charset="-122"/>
                <a:cs typeface="Calibri" pitchFamily="34" charset="-120"/>
              </a:rPr>
              <a:t>TAM</a:t>
            </a:r>
            <a:endParaRPr lang="en-US" sz="1500" dirty="0"/>
          </a:p>
        </p:txBody>
      </p:sp>
      <p:sp>
        <p:nvSpPr>
          <p:cNvPr id="5" name="Text 3"/>
          <p:cNvSpPr/>
          <p:nvPr/>
        </p:nvSpPr>
        <p:spPr>
          <a:xfrm>
            <a:off x="1874520" y="1581912"/>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$28B</a:t>
            </a:r>
            <a:endParaRPr lang="en-US" sz="3000" dirty="0"/>
          </a:p>
        </p:txBody>
      </p:sp>
      <p:sp>
        <p:nvSpPr>
          <p:cNvPr id="6" name="Text 4"/>
          <p:cNvSpPr/>
          <p:nvPr/>
        </p:nvSpPr>
        <p:spPr>
          <a:xfrm>
            <a:off x="3886200" y="1563624"/>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Global supply chain management software spend, 2025.</a:t>
            </a:r>
            <a:endParaRPr lang="en-US" sz="1100" dirty="0"/>
          </a:p>
        </p:txBody>
      </p:sp>
      <p:sp>
        <p:nvSpPr>
          <p:cNvPr id="7" name="Shape 5"/>
          <p:cNvSpPr/>
          <p:nvPr/>
        </p:nvSpPr>
        <p:spPr>
          <a:xfrm>
            <a:off x="548640" y="2898648"/>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822960" y="3282696"/>
            <a:ext cx="868680" cy="502920"/>
          </a:xfrm>
          <a:prstGeom prst="roundRect">
            <a:avLst>
              <a:gd name="adj" fmla="val 21818"/>
            </a:avLst>
          </a:prstGeom>
          <a:solidFill>
            <a:srgbClr val="CCFBF1"/>
          </a:solidFill>
          <a:ln/>
        </p:spPr>
        <p:txBody>
          <a:bodyPr wrap="square" rtlCol="0" anchor="ctr"/>
          <a:lstStyle/>
          <a:p>
            <a:pPr algn="ctr" indent="0" marL="0">
              <a:buNone/>
            </a:pPr>
            <a:r>
              <a:rPr lang="en-US" sz="1500" b="1" dirty="0">
                <a:solidFill>
                  <a:srgbClr val="0F766E"/>
                </a:solidFill>
                <a:latin typeface="Calibri" pitchFamily="34" charset="0"/>
                <a:ea typeface="Calibri" pitchFamily="34" charset="-122"/>
                <a:cs typeface="Calibri" pitchFamily="34" charset="-120"/>
              </a:rPr>
              <a:t>SAM</a:t>
            </a:r>
            <a:endParaRPr lang="en-US" sz="1500" dirty="0"/>
          </a:p>
        </p:txBody>
      </p:sp>
      <p:sp>
        <p:nvSpPr>
          <p:cNvPr id="9" name="Text 7"/>
          <p:cNvSpPr/>
          <p:nvPr/>
        </p:nvSpPr>
        <p:spPr>
          <a:xfrm>
            <a:off x="1874520" y="3063240"/>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$6.5B</a:t>
            </a:r>
            <a:endParaRPr lang="en-US" sz="3000" dirty="0"/>
          </a:p>
        </p:txBody>
      </p:sp>
      <p:sp>
        <p:nvSpPr>
          <p:cNvPr id="10" name="Text 8"/>
          <p:cNvSpPr/>
          <p:nvPr/>
        </p:nvSpPr>
        <p:spPr>
          <a:xfrm>
            <a:off x="3886200" y="3044952"/>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Supply chain visibility (~$3.3B) + inventory management software (~$3.2B) — the goods-in-motion layer, growing 13%+ per year.</a:t>
            </a:r>
            <a:endParaRPr lang="en-US" sz="1100" dirty="0"/>
          </a:p>
        </p:txBody>
      </p:sp>
      <p:sp>
        <p:nvSpPr>
          <p:cNvPr id="11" name="Shape 9"/>
          <p:cNvSpPr/>
          <p:nvPr/>
        </p:nvSpPr>
        <p:spPr>
          <a:xfrm>
            <a:off x="548640" y="4379976"/>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22960" y="4764024"/>
            <a:ext cx="868680" cy="502920"/>
          </a:xfrm>
          <a:prstGeom prst="roundRect">
            <a:avLst>
              <a:gd name="adj" fmla="val 21818"/>
            </a:avLst>
          </a:prstGeom>
          <a:solidFill>
            <a:srgbClr val="FEF3C7"/>
          </a:solidFill>
          <a:ln/>
        </p:spPr>
        <p:txBody>
          <a:bodyPr wrap="square" rtlCol="0" anchor="ctr"/>
          <a:lstStyle/>
          <a:p>
            <a:pPr algn="ctr" indent="0" marL="0">
              <a:buNone/>
            </a:pPr>
            <a:r>
              <a:rPr lang="en-US" sz="1500" b="1" dirty="0">
                <a:solidFill>
                  <a:srgbClr val="B45309"/>
                </a:solidFill>
                <a:latin typeface="Calibri" pitchFamily="34" charset="0"/>
                <a:ea typeface="Calibri" pitchFamily="34" charset="-122"/>
                <a:cs typeface="Calibri" pitchFamily="34" charset="-120"/>
              </a:rPr>
              <a:t>SOM</a:t>
            </a:r>
            <a:endParaRPr lang="en-US" sz="1500" dirty="0"/>
          </a:p>
        </p:txBody>
      </p:sp>
      <p:sp>
        <p:nvSpPr>
          <p:cNvPr id="13" name="Text 11"/>
          <p:cNvSpPr/>
          <p:nvPr/>
        </p:nvSpPr>
        <p:spPr>
          <a:xfrm>
            <a:off x="1874520" y="4544568"/>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$48M ARR</a:t>
            </a:r>
            <a:endParaRPr lang="en-US" sz="3000" dirty="0"/>
          </a:p>
        </p:txBody>
      </p:sp>
      <p:sp>
        <p:nvSpPr>
          <p:cNvPr id="14" name="Text 12"/>
          <p:cNvSpPr/>
          <p:nvPr/>
        </p:nvSpPr>
        <p:spPr>
          <a:xfrm>
            <a:off x="3886200" y="4526280"/>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Beachhead: ~4,000 U.S. mid-market serialized-hardware exporters × $12K average contract.</a:t>
            </a:r>
            <a:endParaRPr lang="en-US" sz="1100" dirty="0"/>
          </a:p>
        </p:txBody>
      </p:sp>
      <p:sp>
        <p:nvSpPr>
          <p:cNvPr id="15" name="Shape 13"/>
          <p:cNvSpPr/>
          <p:nvPr/>
        </p:nvSpPr>
        <p:spPr>
          <a:xfrm>
            <a:off x="7178040" y="1417320"/>
            <a:ext cx="4434840" cy="4526280"/>
          </a:xfrm>
          <a:prstGeom prst="roundRect">
            <a:avLst>
              <a:gd name="adj" fmla="val 20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graphicFrame>
        <p:nvGraphicFramePr>
          <p:cNvPr id="16" name="Chart 0" descr=""/>
          <p:cNvGraphicFramePr/>
          <p:nvPr/>
        </p:nvGraphicFramePr>
        <p:xfrm>
          <a:off x="7452360" y="1783080"/>
          <a:ext cx="3886200" cy="32918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7452360" y="5120640"/>
            <a:ext cx="388620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13%+ CAGR</a:t>
            </a:r>
            <a:endParaRPr lang="en-US" sz="1400" dirty="0"/>
          </a:p>
        </p:txBody>
      </p:sp>
      <p:sp>
        <p:nvSpPr>
          <p:cNvPr id="18" name="Text 15"/>
          <p:cNvSpPr/>
          <p:nvPr/>
        </p:nvSpPr>
        <p:spPr>
          <a:xfrm>
            <a:off x="548640" y="6172200"/>
            <a:ext cx="11064240" cy="4572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Sources: Technavio (SCM software, 2025); GM Insights &amp; Mordor Intelligence (supply chain visibility, 2025); Grand View Research (inventory management software, 2025). SOM is an internal estimate.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Visibility tools see trucks. We see accounting truth.</a:t>
            </a:r>
            <a:endParaRPr lang="en-US" sz="3400" dirty="0"/>
          </a:p>
        </p:txBody>
      </p:sp>
      <p:sp>
        <p:nvSpPr>
          <p:cNvPr id="3" name="Shape 1"/>
          <p:cNvSpPr/>
          <p:nvPr/>
        </p:nvSpPr>
        <p:spPr>
          <a:xfrm>
            <a:off x="54864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0467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project44 · FourKites</a:t>
            </a:r>
            <a:endParaRPr lang="en-US" sz="1500" dirty="0"/>
          </a:p>
        </p:txBody>
      </p:sp>
      <p:sp>
        <p:nvSpPr>
          <p:cNvPr id="5" name="Text 3"/>
          <p:cNvSpPr/>
          <p:nvPr/>
        </p:nvSpPr>
        <p:spPr>
          <a:xfrm>
            <a:off x="80467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Carrier telemetry: where the truck is — not who has custody, or what that means for revenue.</a:t>
            </a:r>
            <a:endParaRPr lang="en-US" sz="1150" dirty="0"/>
          </a:p>
        </p:txBody>
      </p:sp>
      <p:sp>
        <p:nvSpPr>
          <p:cNvPr id="6" name="Shape 4"/>
          <p:cNvSpPr/>
          <p:nvPr/>
        </p:nvSpPr>
        <p:spPr>
          <a:xfrm>
            <a:off x="406908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7" name="Text 5"/>
          <p:cNvSpPr/>
          <p:nvPr/>
        </p:nvSpPr>
        <p:spPr>
          <a:xfrm>
            <a:off x="432511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ERP inventory modules</a:t>
            </a:r>
            <a:endParaRPr lang="en-US" sz="1500" dirty="0"/>
          </a:p>
        </p:txBody>
      </p:sp>
      <p:sp>
        <p:nvSpPr>
          <p:cNvPr id="8" name="Text 6"/>
          <p:cNvSpPr/>
          <p:nvPr/>
        </p:nvSpPr>
        <p:spPr>
          <a:xfrm>
            <a:off x="432511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Records after the fact. Blind between warehouse scans; nothing captures the hand-off itself.</a:t>
            </a:r>
            <a:endParaRPr lang="en-US" sz="1150" dirty="0"/>
          </a:p>
        </p:txBody>
      </p:sp>
      <p:sp>
        <p:nvSpPr>
          <p:cNvPr id="9" name="Shape 7"/>
          <p:cNvSpPr/>
          <p:nvPr/>
        </p:nvSpPr>
        <p:spPr>
          <a:xfrm>
            <a:off x="54864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0" name="Text 8"/>
          <p:cNvSpPr/>
          <p:nvPr/>
        </p:nvSpPr>
        <p:spPr>
          <a:xfrm>
            <a:off x="80467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BlackLine &amp; close tools</a:t>
            </a:r>
            <a:endParaRPr lang="en-US" sz="1500" dirty="0"/>
          </a:p>
        </p:txBody>
      </p:sp>
      <p:sp>
        <p:nvSpPr>
          <p:cNvPr id="11" name="Text 9"/>
          <p:cNvSpPr/>
          <p:nvPr/>
        </p:nvSpPr>
        <p:spPr>
          <a:xfrm>
            <a:off x="80467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Automation begins once data exists. They inherit whatever the field failed to capture.</a:t>
            </a:r>
            <a:endParaRPr lang="en-US" sz="1150" dirty="0"/>
          </a:p>
        </p:txBody>
      </p:sp>
      <p:sp>
        <p:nvSpPr>
          <p:cNvPr id="12" name="Shape 10"/>
          <p:cNvSpPr/>
          <p:nvPr/>
        </p:nvSpPr>
        <p:spPr>
          <a:xfrm>
            <a:off x="406908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432511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Spreadsheets + email</a:t>
            </a:r>
            <a:endParaRPr lang="en-US" sz="1500" dirty="0"/>
          </a:p>
        </p:txBody>
      </p:sp>
      <p:sp>
        <p:nvSpPr>
          <p:cNvPr id="14" name="Text 12"/>
          <p:cNvSpPr/>
          <p:nvPr/>
        </p:nvSpPr>
        <p:spPr>
          <a:xfrm>
            <a:off x="432511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actual incumbent. Transaction dates live in inboxes until an auditor asks.</a:t>
            </a:r>
            <a:endParaRPr lang="en-US" sz="1150" dirty="0"/>
          </a:p>
        </p:txBody>
      </p:sp>
      <p:sp>
        <p:nvSpPr>
          <p:cNvPr id="15" name="Shape 13"/>
          <p:cNvSpPr/>
          <p:nvPr/>
        </p:nvSpPr>
        <p:spPr>
          <a:xfrm>
            <a:off x="7772400" y="1417320"/>
            <a:ext cx="3840480" cy="4663440"/>
          </a:xfrm>
          <a:prstGeom prst="roundRect">
            <a:avLst>
              <a:gd name="adj" fmla="val 2381"/>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8092440" y="1691640"/>
            <a:ext cx="3200400" cy="41148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Only Transit Guard</a:t>
            </a:r>
            <a:endParaRPr lang="en-US" sz="1800" dirty="0"/>
          </a:p>
        </p:txBody>
      </p:sp>
      <p:sp>
        <p:nvSpPr>
          <p:cNvPr id="17" name="Text 15"/>
          <p:cNvSpPr/>
          <p:nvPr/>
        </p:nvSpPr>
        <p:spPr>
          <a:xfrm>
            <a:off x="8092440" y="2286000"/>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8458200" y="2286000"/>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Accounting-grade custody ledger — every hand-off dated, vendor-signed, exportable</a:t>
            </a:r>
            <a:endParaRPr lang="en-US" sz="1150" dirty="0"/>
          </a:p>
        </p:txBody>
      </p:sp>
      <p:sp>
        <p:nvSpPr>
          <p:cNvPr id="19" name="Text 17"/>
          <p:cNvSpPr/>
          <p:nvPr/>
        </p:nvSpPr>
        <p:spPr>
          <a:xfrm>
            <a:off x="8092440" y="3218688"/>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8458200" y="3218688"/>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Customs document engine with valuation-method evidence</a:t>
            </a:r>
            <a:endParaRPr lang="en-US" sz="1150" dirty="0"/>
          </a:p>
        </p:txBody>
      </p:sp>
      <p:sp>
        <p:nvSpPr>
          <p:cNvPr id="21" name="Text 19"/>
          <p:cNvSpPr/>
          <p:nvPr/>
        </p:nvSpPr>
        <p:spPr>
          <a:xfrm>
            <a:off x="8092440" y="4151376"/>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458200" y="4151376"/>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AI flags tied to materiality: cutoff, accruals, count scope, tax timing</a:t>
            </a:r>
            <a:endParaRPr lang="en-US" sz="1150" dirty="0"/>
          </a:p>
        </p:txBody>
      </p:sp>
      <p:sp>
        <p:nvSpPr>
          <p:cNvPr id="23" name="Text 21"/>
          <p:cNvSpPr/>
          <p:nvPr/>
        </p:nvSpPr>
        <p:spPr>
          <a:xfrm>
            <a:off x="8092440" y="5084064"/>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8458200" y="5084064"/>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Built for the warehouse: mobile-first, multilingual, QR hand-offs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From hackathon to pilot.</a:t>
            </a:r>
            <a:endParaRPr lang="en-US" sz="3400" dirty="0"/>
          </a:p>
        </p:txBody>
      </p:sp>
      <p:sp>
        <p:nvSpPr>
          <p:cNvPr id="3" name="Shape 1"/>
          <p:cNvSpPr/>
          <p:nvPr/>
        </p:nvSpPr>
        <p:spPr>
          <a:xfrm>
            <a:off x="548640"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37809" y="1824777"/>
            <a:ext cx="245791" cy="245791"/>
          </a:xfrm>
          <a:prstGeom prst="rect">
            <a:avLst/>
          </a:prstGeom>
        </p:spPr>
      </p:pic>
      <p:sp>
        <p:nvSpPr>
          <p:cNvPr id="6" name="Text 3"/>
          <p:cNvSpPr/>
          <p:nvPr/>
        </p:nvSpPr>
        <p:spPr>
          <a:xfrm>
            <a:off x="804672"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Now — built this week</a:t>
            </a:r>
            <a:endParaRPr lang="en-US" sz="1550" dirty="0"/>
          </a:p>
        </p:txBody>
      </p:sp>
      <p:sp>
        <p:nvSpPr>
          <p:cNvPr id="7" name="Text 4"/>
          <p:cNvSpPr/>
          <p:nvPr/>
        </p:nvSpPr>
        <p:spPr>
          <a:xfrm>
            <a:off x="804672"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Working phone-frame demo: AI vendor search, scan intake, custody chains, EU hand-off QR, customs engine, AI flags, audit export, EN/ES/FR.</a:t>
            </a:r>
            <a:endParaRPr lang="en-US" sz="1150" dirty="0"/>
          </a:p>
        </p:txBody>
      </p:sp>
      <p:sp>
        <p:nvSpPr>
          <p:cNvPr id="8" name="Shape 5"/>
          <p:cNvSpPr/>
          <p:nvPr/>
        </p:nvSpPr>
        <p:spPr>
          <a:xfrm>
            <a:off x="4370832"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4626864" y="169164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4760001" y="1824777"/>
            <a:ext cx="245791" cy="245791"/>
          </a:xfrm>
          <a:prstGeom prst="rect">
            <a:avLst/>
          </a:prstGeom>
        </p:spPr>
      </p:pic>
      <p:sp>
        <p:nvSpPr>
          <p:cNvPr id="11" name="Text 7"/>
          <p:cNvSpPr/>
          <p:nvPr/>
        </p:nvSpPr>
        <p:spPr>
          <a:xfrm>
            <a:off x="4626864"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Next two quarters</a:t>
            </a:r>
            <a:endParaRPr lang="en-US" sz="1550" dirty="0"/>
          </a:p>
        </p:txBody>
      </p:sp>
      <p:sp>
        <p:nvSpPr>
          <p:cNvPr id="12" name="Text 8"/>
          <p:cNvSpPr/>
          <p:nvPr/>
        </p:nvSpPr>
        <p:spPr>
          <a:xfrm>
            <a:off x="4626864"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NetSuite SuiteApp connector first, then SAP/Oracle. Carrier partner API GA + EU QR hand-off standard. Auditor read-only portal. Camera scanning hardened for warehouse light.</a:t>
            </a:r>
            <a:endParaRPr lang="en-US" sz="1150" dirty="0"/>
          </a:p>
        </p:txBody>
      </p:sp>
      <p:sp>
        <p:nvSpPr>
          <p:cNvPr id="13" name="Shape 9"/>
          <p:cNvSpPr/>
          <p:nvPr/>
        </p:nvSpPr>
        <p:spPr>
          <a:xfrm>
            <a:off x="8193024"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8449056" y="169164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8582193" y="1824777"/>
            <a:ext cx="245791" cy="245791"/>
          </a:xfrm>
          <a:prstGeom prst="rect">
            <a:avLst/>
          </a:prstGeom>
        </p:spPr>
      </p:pic>
      <p:sp>
        <p:nvSpPr>
          <p:cNvPr id="16" name="Text 11"/>
          <p:cNvSpPr/>
          <p:nvPr/>
        </p:nvSpPr>
        <p:spPr>
          <a:xfrm>
            <a:off x="8449056"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Later</a:t>
            </a:r>
            <a:endParaRPr lang="en-US" sz="1550" dirty="0"/>
          </a:p>
        </p:txBody>
      </p:sp>
      <p:sp>
        <p:nvSpPr>
          <p:cNvPr id="17" name="Text 12"/>
          <p:cNvSpPr/>
          <p:nvPr/>
        </p:nvSpPr>
        <p:spPr>
          <a:xfrm>
            <a:off x="8449056"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Duty and tax-timing optimizer (the Dec-vs-Jan purchase planner, productized). Multi-entity and multi-currency. SOC 2.</a:t>
            </a:r>
            <a:endParaRPr lang="en-US" sz="1150" dirty="0"/>
          </a:p>
        </p:txBody>
      </p:sp>
      <p:sp>
        <p:nvSpPr>
          <p:cNvPr id="18" name="Shape 13"/>
          <p:cNvSpPr/>
          <p:nvPr/>
        </p:nvSpPr>
        <p:spPr>
          <a:xfrm>
            <a:off x="548640" y="452628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4"/>
          <p:cNvSpPr/>
          <p:nvPr/>
        </p:nvSpPr>
        <p:spPr>
          <a:xfrm>
            <a:off x="914400" y="4754880"/>
            <a:ext cx="274320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The ask</a:t>
            </a:r>
            <a:endParaRPr lang="en-US" sz="1600" dirty="0"/>
          </a:p>
        </p:txBody>
      </p:sp>
      <p:sp>
        <p:nvSpPr>
          <p:cNvPr id="20" name="Text 15"/>
          <p:cNvSpPr/>
          <p:nvPr/>
        </p:nvSpPr>
        <p:spPr>
          <a:xfrm>
            <a:off x="914400" y="5138928"/>
            <a:ext cx="10332720" cy="868680"/>
          </a:xfrm>
          <a:prstGeom prst="rect">
            <a:avLst/>
          </a:prstGeom>
          <a:noFill/>
          <a:ln/>
        </p:spPr>
        <p:txBody>
          <a:bodyPr wrap="square" lIns="0" tIns="0" rIns="0" bIns="0" rtlCol="0" anchor="ctr"/>
          <a:lstStyle/>
          <a:p>
            <a:pPr indent="0" marL="0">
              <a:buNone/>
            </a:pPr>
            <a:r>
              <a:rPr lang="en-US" sz="1300" dirty="0">
                <a:solidFill>
                  <a:srgbClr val="E2E8F0"/>
                </a:solidFill>
                <a:latin typeface="Calibri" pitchFamily="34" charset="0"/>
                <a:ea typeface="Calibri" pitchFamily="34" charset="-122"/>
                <a:cs typeface="Calibri" pitchFamily="34" charset="-120"/>
              </a:rPr>
              <a:t>Three design-partner pilots: hardware companies shipping serialized product internationally on NetSuite or SAP. We instrument one real shipment lane end-to-end and hand your controller the December cutoff file — free, in exchange for feedback and a case study.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Track 2 — Value of Intelligence.</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Real willingness-to-pay, demonstrated in the demo — with Track 1 economics built into the suite’s DNA.</a:t>
            </a:r>
            <a:endParaRPr lang="en-US" sz="1400" dirty="0"/>
          </a:p>
        </p:txBody>
      </p:sp>
      <p:sp>
        <p:nvSpPr>
          <p:cNvPr id="4" name="Shape 2"/>
          <p:cNvSpPr/>
          <p:nvPr/>
        </p:nvSpPr>
        <p:spPr>
          <a:xfrm>
            <a:off x="548640" y="1691640"/>
            <a:ext cx="5577840" cy="2743200"/>
          </a:xfrm>
          <a:prstGeom prst="roundRect">
            <a:avLst>
              <a:gd name="adj" fmla="val 3333"/>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5" name="Text 3"/>
          <p:cNvSpPr/>
          <p:nvPr/>
        </p:nvSpPr>
        <p:spPr>
          <a:xfrm>
            <a:off x="868680" y="1920240"/>
            <a:ext cx="5029200" cy="320040"/>
          </a:xfrm>
          <a:prstGeom prst="rect">
            <a:avLst/>
          </a:prstGeom>
          <a:noFill/>
          <a:ln/>
        </p:spPr>
        <p:txBody>
          <a:bodyPr wrap="square" lIns="0" tIns="0" rIns="0" bIns="0" rtlCol="0" anchor="ctr"/>
          <a:lstStyle/>
          <a:p>
            <a:pPr indent="0" marL="0">
              <a:buNone/>
            </a:pPr>
            <a:r>
              <a:rPr lang="en-US" sz="1200" b="1" spc="100" kern="0" dirty="0">
                <a:solidFill>
                  <a:srgbClr val="FFFFFF"/>
                </a:solidFill>
                <a:latin typeface="Calibri" pitchFamily="34" charset="0"/>
                <a:ea typeface="Calibri" pitchFamily="34" charset="-122"/>
                <a:cs typeface="Calibri" pitchFamily="34" charset="-120"/>
              </a:rPr>
              <a:t>PRIMARY · TRACK 2 — VALUE OF INTELLIGENCE</a:t>
            </a:r>
            <a:endParaRPr lang="en-US" sz="1200" dirty="0"/>
          </a:p>
        </p:txBody>
      </p:sp>
      <p:sp>
        <p:nvSpPr>
          <p:cNvPr id="6" name="Text 4"/>
          <p:cNvSpPr/>
          <p:nvPr/>
        </p:nvSpPr>
        <p:spPr>
          <a:xfrm>
            <a:off x="868680" y="2331720"/>
            <a:ext cx="4983480" cy="19659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Company side: $12K/yr ACV — the controller buys audit-ready revenue recognition (SOM model: 4,000 exporters × $12K).</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Carrier side: free add-in + ~2% take rate per accepted load — $29 on the $1,450 demo load, marketplace economics.</a:t>
            </a:r>
            <a:endParaRPr lang="en-US" sz="1150" dirty="0"/>
          </a:p>
          <a:p>
            <a:pPr marL="342900" indent="-342900">
              <a:buSzPct val="100000"/>
              <a:buChar char="•"/>
            </a:pPr>
            <a:r>
              <a:rPr lang="en-US" sz="1150" dirty="0">
                <a:solidFill>
                  <a:srgbClr val="FFFFFF"/>
                </a:solidFill>
                <a:latin typeface="Calibri" pitchFamily="34" charset="0"/>
                <a:ea typeface="Calibri" pitchFamily="34" charset="-122"/>
                <a:cs typeface="Calibri" pitchFamily="34" charset="-120"/>
              </a:rPr>
              <a:t>The $10 ARR-per-user bar is cleared ~1,000× per seat. Willingness-to-pay is the demo itself: the $1M flag no CFO wants to miss.</a:t>
            </a:r>
            <a:endParaRPr lang="en-US" sz="1150" dirty="0"/>
          </a:p>
        </p:txBody>
      </p:sp>
      <p:sp>
        <p:nvSpPr>
          <p:cNvPr id="7" name="Shape 5"/>
          <p:cNvSpPr/>
          <p:nvPr/>
        </p:nvSpPr>
        <p:spPr>
          <a:xfrm>
            <a:off x="6400800" y="1691640"/>
            <a:ext cx="5212080" cy="2743200"/>
          </a:xfrm>
          <a:prstGeom prst="roundRect">
            <a:avLst>
              <a:gd name="adj" fmla="val 3333"/>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6720840" y="1920240"/>
            <a:ext cx="4663440" cy="320040"/>
          </a:xfrm>
          <a:prstGeom prst="rect">
            <a:avLst/>
          </a:prstGeom>
          <a:noFill/>
          <a:ln/>
        </p:spPr>
        <p:txBody>
          <a:bodyPr wrap="square" lIns="0" tIns="0" rIns="0" bIns="0" rtlCol="0" anchor="ctr"/>
          <a:lstStyle/>
          <a:p>
            <a:pPr indent="0" marL="0">
              <a:buNone/>
            </a:pPr>
            <a:r>
              <a:rPr lang="en-US" sz="1200" b="1" spc="100" kern="0" dirty="0">
                <a:solidFill>
                  <a:srgbClr val="0F766E"/>
                </a:solidFill>
                <a:latin typeface="Calibri" pitchFamily="34" charset="0"/>
                <a:ea typeface="Calibri" pitchFamily="34" charset="-122"/>
                <a:cs typeface="Calibri" pitchFamily="34" charset="-120"/>
              </a:rPr>
              <a:t>CROSS-CREDIT · TRACK 1 — COST OF INTELLIGENCE</a:t>
            </a:r>
            <a:endParaRPr lang="en-US" sz="1200" dirty="0"/>
          </a:p>
        </p:txBody>
      </p:sp>
      <p:sp>
        <p:nvSpPr>
          <p:cNvPr id="9" name="Text 7"/>
          <p:cNvSpPr/>
          <p:nvPr/>
        </p:nvSpPr>
        <p:spPr>
          <a:xfrm>
            <a:off x="6720840" y="2286000"/>
            <a:ext cx="4663440" cy="365760"/>
          </a:xfrm>
          <a:prstGeom prst="rect">
            <a:avLst/>
          </a:prstGeom>
          <a:noFill/>
          <a:ln/>
        </p:spPr>
        <p:txBody>
          <a:bodyPr wrap="square" lIns="0" tIns="0" rIns="0" bIns="0" rtlCol="0" anchor="ctr"/>
          <a:lstStyle/>
          <a:p>
            <a:pPr indent="0" marL="0">
              <a:buNone/>
            </a:pPr>
            <a:r>
              <a:rPr lang="en-US" sz="1300" b="1" i="1" dirty="0">
                <a:solidFill>
                  <a:srgbClr val="0F172A"/>
                </a:solidFill>
                <a:latin typeface="Calibri" pitchFamily="34" charset="0"/>
                <a:ea typeface="Calibri" pitchFamily="34" charset="-122"/>
                <a:cs typeface="Calibri" pitchFamily="34" charset="-120"/>
              </a:rPr>
              <a:t>“Materiality determines AI spend.”</a:t>
            </a:r>
            <a:endParaRPr lang="en-US" sz="1300" dirty="0"/>
          </a:p>
        </p:txBody>
      </p:sp>
      <p:sp>
        <p:nvSpPr>
          <p:cNvPr id="10" name="Text 8"/>
          <p:cNvSpPr/>
          <p:nvPr/>
        </p:nvSpPr>
        <p:spPr>
          <a:xfrm>
            <a:off x="6720840" y="2697480"/>
            <a:ext cx="4709160" cy="16459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75569"/>
                </a:solidFill>
                <a:latin typeface="Calibri" pitchFamily="34" charset="0"/>
                <a:ea typeface="Calibri" pitchFamily="34" charset="-122"/>
                <a:cs typeface="Calibri" pitchFamily="34" charset="-120"/>
              </a:rPr>
              <a:t>The Guard suite routes AI attention by materiality: rules clear the bulk, economy AI screens the middle, premium AI investigates only material exceptions like the $1M lane.</a:t>
            </a:r>
            <a:endParaRPr lang="en-US" sz="1150" dirty="0"/>
          </a:p>
          <a:p>
            <a:pPr marL="342900" indent="-342900">
              <a:buSzPct val="100000"/>
              <a:buChar char="•"/>
            </a:pPr>
            <a:r>
              <a:rPr lang="en-US" sz="1150" dirty="0">
                <a:solidFill>
                  <a:srgbClr val="475569"/>
                </a:solidFill>
                <a:latin typeface="Calibri" pitchFamily="34" charset="0"/>
                <a:ea typeface="Calibri" pitchFamily="34" charset="-122"/>
                <a:cs typeface="Calibri" pitchFamily="34" charset="-120"/>
              </a:rPr>
              <a:t>Suite result shown live: 85% less AI consumption — 410K → 63K tokens, $1.84 → $0.28 per close. A real percentage cost reduction, in the demo.</a:t>
            </a:r>
            <a:endParaRPr lang="en-US" sz="1150" dirty="0"/>
          </a:p>
        </p:txBody>
      </p:sp>
      <p:sp>
        <p:nvSpPr>
          <p:cNvPr id="11" name="Shape 9"/>
          <p:cNvSpPr/>
          <p:nvPr/>
        </p:nvSpPr>
        <p:spPr>
          <a:xfrm>
            <a:off x="548640" y="4709160"/>
            <a:ext cx="5577840" cy="1463040"/>
          </a:xfrm>
          <a:prstGeom prst="roundRect">
            <a:avLst>
              <a:gd name="adj" fmla="val 6250"/>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68680" y="4919472"/>
            <a:ext cx="5029200" cy="32004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Optional sponsor tools — wiring plan (demo setup)</a:t>
            </a:r>
            <a:endParaRPr lang="en-US" sz="1300" dirty="0"/>
          </a:p>
        </p:txBody>
      </p:sp>
      <p:sp>
        <p:nvSpPr>
          <p:cNvPr id="13" name="Text 11"/>
          <p:cNvSpPr/>
          <p:nvPr/>
        </p:nvSpPr>
        <p:spPr>
          <a:xfrm>
            <a:off x="868680" y="5257800"/>
            <a:ext cx="5029200" cy="8686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Evermind → persistent agent memory of vendor performance, feeding route rankings and on-time scores. Voice Cursor → hands-free custody logging at the dock (“hand-off to Cascade — signed”). Both drop into hooks that already exist: the route ranker and the scan intake.</a:t>
            </a:r>
            <a:endParaRPr lang="en-US" sz="1050" dirty="0"/>
          </a:p>
        </p:txBody>
      </p:sp>
      <p:sp>
        <p:nvSpPr>
          <p:cNvPr id="14" name="Shape 12"/>
          <p:cNvSpPr/>
          <p:nvPr/>
        </p:nvSpPr>
        <p:spPr>
          <a:xfrm>
            <a:off x="6400800" y="4709160"/>
            <a:ext cx="5212080" cy="1463040"/>
          </a:xfrm>
          <a:prstGeom prst="roundRect">
            <a:avLst>
              <a:gd name="adj" fmla="val 625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5" name="Text 13"/>
          <p:cNvSpPr/>
          <p:nvPr/>
        </p:nvSpPr>
        <p:spPr>
          <a:xfrm>
            <a:off x="6720840" y="4919472"/>
            <a:ext cx="4663440" cy="320040"/>
          </a:xfrm>
          <a:prstGeom prst="rect">
            <a:avLst/>
          </a:prstGeom>
          <a:noFill/>
          <a:ln/>
        </p:spPr>
        <p:txBody>
          <a:bodyPr wrap="square" lIns="0" tIns="0" rIns="0" bIns="0" rtlCol="0" anchor="ctr"/>
          <a:lstStyle/>
          <a:p>
            <a:pPr indent="0" marL="0">
              <a:buNone/>
            </a:pPr>
            <a:r>
              <a:rPr lang="en-US" sz="1300" b="1" dirty="0">
                <a:solidFill>
                  <a:srgbClr val="34D399"/>
                </a:solidFill>
                <a:latin typeface="Calibri" pitchFamily="34" charset="0"/>
                <a:ea typeface="Calibri" pitchFamily="34" charset="-122"/>
                <a:cs typeface="Calibri" pitchFamily="34" charset="-120"/>
              </a:rPr>
              <a:t>The 3-minute demo</a:t>
            </a:r>
            <a:endParaRPr lang="en-US" sz="1300" dirty="0"/>
          </a:p>
        </p:txBody>
      </p:sp>
      <p:sp>
        <p:nvSpPr>
          <p:cNvPr id="16" name="Text 14"/>
          <p:cNvSpPr/>
          <p:nvPr/>
        </p:nvSpPr>
        <p:spPr>
          <a:xfrm>
            <a:off x="6720840" y="5257800"/>
            <a:ext cx="4709160" cy="86868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Label scan → AI route + need-by override → carrier accepts Uber-style → docs-pack PDF → label scan flips it to received → the $1M FOB-destination flag. Submit by 3:55 — the deadline docks points.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 y="1613916"/>
            <a:ext cx="10424160" cy="0"/>
          </a:xfrm>
          <a:prstGeom prst="line">
            <a:avLst/>
          </a:prstGeom>
          <a:noFill/>
          <a:ln w="22225">
            <a:solidFill>
              <a:srgbClr val="0F766E"/>
            </a:solidFill>
            <a:prstDash val="solid"/>
          </a:ln>
        </p:spPr>
      </p:sp>
      <p:sp>
        <p:nvSpPr>
          <p:cNvPr id="3" name="Shape 1"/>
          <p:cNvSpPr/>
          <p:nvPr/>
        </p:nvSpPr>
        <p:spPr>
          <a:xfrm>
            <a:off x="809244" y="1554480"/>
            <a:ext cx="118872" cy="118872"/>
          </a:xfrm>
          <a:prstGeom prst="ellipse">
            <a:avLst/>
          </a:prstGeom>
          <a:solidFill>
            <a:srgbClr val="0F766E"/>
          </a:solidFill>
          <a:ln/>
        </p:spPr>
      </p:sp>
      <p:sp>
        <p:nvSpPr>
          <p:cNvPr id="4" name="Shape 2"/>
          <p:cNvSpPr/>
          <p:nvPr/>
        </p:nvSpPr>
        <p:spPr>
          <a:xfrm>
            <a:off x="2298410" y="1554480"/>
            <a:ext cx="118872" cy="118872"/>
          </a:xfrm>
          <a:prstGeom prst="ellipse">
            <a:avLst/>
          </a:prstGeom>
          <a:solidFill>
            <a:srgbClr val="0F766E"/>
          </a:solidFill>
          <a:ln/>
        </p:spPr>
      </p:sp>
      <p:sp>
        <p:nvSpPr>
          <p:cNvPr id="5" name="Shape 3"/>
          <p:cNvSpPr/>
          <p:nvPr/>
        </p:nvSpPr>
        <p:spPr>
          <a:xfrm>
            <a:off x="3787575" y="1554480"/>
            <a:ext cx="118872" cy="118872"/>
          </a:xfrm>
          <a:prstGeom prst="ellipse">
            <a:avLst/>
          </a:prstGeom>
          <a:solidFill>
            <a:srgbClr val="0F766E"/>
          </a:solidFill>
          <a:ln/>
        </p:spPr>
      </p:sp>
      <p:sp>
        <p:nvSpPr>
          <p:cNvPr id="6" name="Shape 4"/>
          <p:cNvSpPr/>
          <p:nvPr/>
        </p:nvSpPr>
        <p:spPr>
          <a:xfrm>
            <a:off x="5276741" y="1554480"/>
            <a:ext cx="118872" cy="118872"/>
          </a:xfrm>
          <a:prstGeom prst="ellipse">
            <a:avLst/>
          </a:prstGeom>
          <a:solidFill>
            <a:srgbClr val="0F766E"/>
          </a:solidFill>
          <a:ln/>
        </p:spPr>
      </p:sp>
      <p:sp>
        <p:nvSpPr>
          <p:cNvPr id="7" name="Shape 5"/>
          <p:cNvSpPr/>
          <p:nvPr/>
        </p:nvSpPr>
        <p:spPr>
          <a:xfrm>
            <a:off x="6765907" y="1554480"/>
            <a:ext cx="118872" cy="118872"/>
          </a:xfrm>
          <a:prstGeom prst="ellipse">
            <a:avLst/>
          </a:prstGeom>
          <a:solidFill>
            <a:srgbClr val="0F766E"/>
          </a:solidFill>
          <a:ln/>
        </p:spPr>
      </p:sp>
      <p:sp>
        <p:nvSpPr>
          <p:cNvPr id="8" name="Shape 6"/>
          <p:cNvSpPr/>
          <p:nvPr/>
        </p:nvSpPr>
        <p:spPr>
          <a:xfrm>
            <a:off x="8255073" y="1554480"/>
            <a:ext cx="118872" cy="118872"/>
          </a:xfrm>
          <a:prstGeom prst="ellipse">
            <a:avLst/>
          </a:prstGeom>
          <a:solidFill>
            <a:srgbClr val="0F766E"/>
          </a:solidFill>
          <a:ln/>
        </p:spPr>
      </p:sp>
      <p:sp>
        <p:nvSpPr>
          <p:cNvPr id="9" name="Shape 7"/>
          <p:cNvSpPr/>
          <p:nvPr/>
        </p:nvSpPr>
        <p:spPr>
          <a:xfrm>
            <a:off x="9744238" y="1554480"/>
            <a:ext cx="118872" cy="118872"/>
          </a:xfrm>
          <a:prstGeom prst="ellipse">
            <a:avLst/>
          </a:prstGeom>
          <a:solidFill>
            <a:srgbClr val="0F766E"/>
          </a:solidFill>
          <a:ln/>
        </p:spPr>
      </p:sp>
      <p:sp>
        <p:nvSpPr>
          <p:cNvPr id="10" name="Shape 8"/>
          <p:cNvSpPr/>
          <p:nvPr/>
        </p:nvSpPr>
        <p:spPr>
          <a:xfrm>
            <a:off x="11233404" y="1554480"/>
            <a:ext cx="118872" cy="118872"/>
          </a:xfrm>
          <a:prstGeom prst="ellipse">
            <a:avLst/>
          </a:prstGeom>
          <a:solidFill>
            <a:srgbClr val="0F766E"/>
          </a:solidFill>
          <a:ln/>
        </p:spPr>
      </p:sp>
      <p:sp>
        <p:nvSpPr>
          <p:cNvPr id="11" name="Text 9"/>
          <p:cNvSpPr/>
          <p:nvPr/>
        </p:nvSpPr>
        <p:spPr>
          <a:xfrm>
            <a:off x="822960" y="2148840"/>
            <a:ext cx="10515600" cy="18288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Every hand-off.</a:t>
            </a:r>
            <a:endParaRPr lang="en-US" sz="5200" dirty="0"/>
          </a:p>
          <a:p>
            <a:pPr indent="0" marL="0">
              <a:buNone/>
            </a:pPr>
            <a:r>
              <a:rPr lang="en-US" sz="5200" b="1" dirty="0">
                <a:solidFill>
                  <a:srgbClr val="FFFFFF"/>
                </a:solidFill>
                <a:latin typeface="Calibri" pitchFamily="34" charset="0"/>
                <a:ea typeface="Calibri" pitchFamily="34" charset="-122"/>
                <a:cs typeface="Calibri" pitchFamily="34" charset="-120"/>
              </a:rPr>
              <a:t>One transaction truth.</a:t>
            </a:r>
            <a:endParaRPr lang="en-US" sz="5200" dirty="0"/>
          </a:p>
        </p:txBody>
      </p:sp>
      <p:sp>
        <p:nvSpPr>
          <p:cNvPr id="12" name="Text 10"/>
          <p:cNvSpPr/>
          <p:nvPr/>
        </p:nvSpPr>
        <p:spPr>
          <a:xfrm>
            <a:off x="822960" y="4206240"/>
            <a:ext cx="10515600" cy="45720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Transit Guard — Fast Insights Guard Suite</a:t>
            </a:r>
            <a:endParaRPr lang="en-US" sz="1800" dirty="0"/>
          </a:p>
        </p:txBody>
      </p:sp>
      <p:sp>
        <p:nvSpPr>
          <p:cNvPr id="13" name="Text 11"/>
          <p:cNvSpPr/>
          <p:nvPr/>
        </p:nvSpPr>
        <p:spPr>
          <a:xfrm>
            <a:off x="822960" y="4709160"/>
            <a:ext cx="10515600" cy="411480"/>
          </a:xfrm>
          <a:prstGeom prst="rect">
            <a:avLst/>
          </a:prstGeom>
          <a:noFill/>
          <a:ln/>
        </p:spPr>
        <p:txBody>
          <a:bodyPr wrap="square" lIns="0" tIns="0" rIns="0" bIns="0" rtlCol="0" anchor="ctr"/>
          <a:lstStyle/>
          <a:p>
            <a:pPr indent="0" marL="0">
              <a:buNone/>
            </a:pPr>
            <a:r>
              <a:rPr lang="en-US" sz="1350" dirty="0">
                <a:solidFill>
                  <a:srgbClr val="CBD5E1"/>
                </a:solidFill>
                <a:latin typeface="Calibri" pitchFamily="34" charset="0"/>
                <a:ea typeface="Calibri" pitchFamily="34" charset="-122"/>
                <a:cs typeface="Calibri" pitchFamily="34" charset="-120"/>
              </a:rPr>
              <a:t>Transparency for tax planning · delivery dates for revenue recognition · audit-ready documentation · stock planning · returns management.</a:t>
            </a:r>
            <a:endParaRPr lang="en-US" sz="1350" dirty="0"/>
          </a:p>
        </p:txBody>
      </p:sp>
      <p:sp>
        <p:nvSpPr>
          <p:cNvPr id="14" name="Text 12"/>
          <p:cNvSpPr/>
          <p:nvPr/>
        </p:nvSpPr>
        <p:spPr>
          <a:xfrm>
            <a:off x="822960" y="5212080"/>
            <a:ext cx="105156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Live demo: localhost:5174 · All data synthetic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2026-08-07T22:15:19Z</dcterms:created>
  <dcterms:modified xsi:type="dcterms:W3CDTF">2026-08-07T22:15:19Z</dcterms:modified>
</cp:coreProperties>
</file>