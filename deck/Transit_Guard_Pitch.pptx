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75569"/>
                </a:solidFill>
                <a:latin typeface="Arial"/>
              </a:defRPr>
            </a:pPr>
            <a:r>
              <a:rPr sz="1300" b="0" i="0" u="none" strike="noStrike">
                <a:solidFill>
                  <a:srgbClr val="475569"/>
                </a:solidFill>
                <a:latin typeface="Arial"/>
              </a:rPr>
              <a:t>Supply chain visibility software, $B</a:t>
            </a:r>
          </a:p>
        </c:rich>
      </c:tx>
      <c:layout/>
      <c:overlay val="0"/>
    </c:title>
    <c:autoTitleDeleted val="0"/>
    <c:plotArea>
      <c:layout/>
      <c:barChart>
        <c:barDir val="col"/>
        <c:grouping val="clustered"/>
        <c:varyColors val="0"/>
        <c:ser>
          <c:idx val="0"/>
          <c:order val="0"/>
          <c:tx>
            <c:strRef>
              <c:f>Sheet1!$B$1</c:f>
              <c:strCache>
                <c:ptCount val="1"/>
                <c:pt idx="0">
                  <c:v>Market size ($B)</c:v>
                </c:pt>
              </c:strCache>
            </c:strRef>
          </c:tx>
          <c:spPr>
            <a:solidFill>
              <a:srgbClr val="059669"/>
            </a:solidFill>
            <a:effectLst/>
          </c:spPr>
          <c:invertIfNegative val="0"/>
          <c:dLbls>
            <c:numFmt formatCode="$0.0" sourceLinked="0"/>
            <c:txPr>
              <a:bodyPr/>
              <a:lstStyle/>
              <a:p>
                <a:pPr>
                  <a:defRPr b="0" i="0" strike="noStrike" sz="1200" u="none">
                    <a:solidFill>
                      <a:srgbClr val="0F172A"/>
                    </a:solidFill>
                    <a:latin typeface="Arial"/>
                  </a:defRPr>
                </a:pPr>
              </a:p>
            </c:txPr>
            <c:showLegendKey val="0"/>
            <c:showVal val="1"/>
            <c:showCatName val="0"/>
            <c:showSerName val="0"/>
            <c:showPercent val="0"/>
            <c:showBubbleSize val="0"/>
            <c:showLeaderLines val="0"/>
          </c:dLbls>
          <c:cat>
            <c:multiLvlStrRef>
              <c:f>Sheet1!$A$2:$A$4</c:f>
              <c:multiLvlStrCache>
                <c:ptCount val="3"/>
                <c:lvl>
                  <c:pt idx="0">
                    <c:v>2025</c:v>
                  </c:pt>
                  <c:pt idx="1">
                    <c:v>2030</c:v>
                  </c:pt>
                  <c:pt idx="2">
                    <c:v>2035</c:v>
                  </c:pt>
                </c:lvl>
              </c:multiLvlStrCache>
            </c:multiLvlStrRef>
          </c:cat>
          <c:val>
            <c:numRef>
              <c:f>Sheet1!$B$2:$B$4</c:f>
              <c:numCache>
                <c:formatCode>General</c:formatCode>
                <c:ptCount val="3"/>
                <c:pt idx="0">
                  <c:v>3.3</c:v>
                </c:pt>
                <c:pt idx="1">
                  <c:v>6.3</c:v>
                </c:pt>
                <c:pt idx="2">
                  <c:v>10.9</c:v>
                </c:pt>
              </c:numCache>
            </c:numRef>
          </c:val>
        </c:ser>
        <c:dLbls>
          <c:numFmt formatCode="$0.0" sourceLinked="0"/>
          <c:txPr>
            <a:bodyPr/>
            <a:lstStyle/>
            <a:p>
              <a:pPr>
                <a:defRPr b="0" i="0" strike="noStrike" sz="12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 Guard is the second product in the Fast Insights Guard suite. Inventory Close Guard proves the close; Transit Guard captures the custody truth that makes the close provable. All data in the demo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a unit leaves the shelf, the reason it left and the dates it changed hands stop being captured anywhere systematic. That is precisely the data revenue recognition and audit existence testing depend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mechanic: one transaction ID travels the whole chain. Accounting and the warehouse look at the same record. The RMA flow is the sale flow reversed — no new process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hero lane, live in the app as TX-20499: a $1M perishable shipment from Palo Alto through New York, across the Atlantic to the UK, EU entry in Poland, delivered in Switzerland. FOB destination plus a −2 °C cold chain makes it the hardest revenue-recognition case we could pick — and the custody chain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exists and runs today. Two live wow-moments: the AI vendor search overriding a priority that would miss the need-by date, and the OCR reading a trilingual customs worksheet on-device and attaching it to TX-20481.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flags live in the demo, led by the $1M FOB-destination cold-chain lane. The point is not anomaly-detection theater — each flag cites the custody events that prove it, and each one ends in a human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matters to judges who know the space: we are not competing with NetSuite, SAP, Oracle, or BlackLine. We are the capture layer between them — and the Guard suite gives us a built-in consumer of the evidence at close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is total SCM software spend. SAM narrows to the goods-in-motion layer where we live: visibility plus inventory software. SOM is the concrete beachhead: US mid-market companies exporting serialized hardware — exactly the Fast Insights profile — at a $12K land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transportation visibility platforms answer “where is my truck.” We answer “who has custody, since when, with what documents, and what does that mean for December revenue.” Different question, different buyer — the controller, not the logistics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design is deliberately small: one shipment lane, one quarter, one deliverable the controller already wants — the cutoff evidence file at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tagline, then switch straight to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500" b="1" spc="400" kern="0" dirty="0">
                <a:solidFill>
                  <a:srgbClr val="34D399"/>
                </a:solidFill>
                <a:latin typeface="Calibri" pitchFamily="34" charset="0"/>
                <a:ea typeface="Calibri" pitchFamily="34" charset="-122"/>
                <a:cs typeface="Calibri" pitchFamily="34" charset="-120"/>
              </a:rPr>
              <a:t>FAST INSIGHTS GUARD SUITE</a:t>
            </a:r>
            <a:endParaRPr lang="en-US" sz="1500" dirty="0"/>
          </a:p>
        </p:txBody>
      </p:sp>
      <p:sp>
        <p:nvSpPr>
          <p:cNvPr id="3" name="Text 1"/>
          <p:cNvSpPr/>
          <p:nvPr/>
        </p:nvSpPr>
        <p:spPr>
          <a:xfrm>
            <a:off x="822960" y="1600200"/>
            <a:ext cx="10515600" cy="1097280"/>
          </a:xfrm>
          <a:prstGeom prst="rect">
            <a:avLst/>
          </a:prstGeom>
          <a:noFill/>
          <a:ln/>
        </p:spPr>
        <p:txBody>
          <a:bodyPr wrap="square" lIns="0" tIns="0" rIns="0" bIns="0"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Transit Guard</a:t>
            </a:r>
            <a:endParaRPr lang="en-US" sz="6400" dirty="0"/>
          </a:p>
        </p:txBody>
      </p:sp>
      <p:sp>
        <p:nvSpPr>
          <p:cNvPr id="4" name="Text 2"/>
          <p:cNvSpPr/>
          <p:nvPr/>
        </p:nvSpPr>
        <p:spPr>
          <a:xfrm>
            <a:off x="822960" y="2788920"/>
            <a:ext cx="10515600" cy="548640"/>
          </a:xfrm>
          <a:prstGeom prst="rect">
            <a:avLst/>
          </a:prstGeom>
          <a:noFill/>
          <a:ln/>
        </p:spPr>
        <p:txBody>
          <a:bodyPr wrap="square" lIns="0" tIns="0" rIns="0" bIns="0" rtlCol="0" anchor="ctr"/>
          <a:lstStyle/>
          <a:p>
            <a:pPr indent="0" marL="0">
              <a:buNone/>
            </a:pPr>
            <a:r>
              <a:rPr lang="en-US" sz="2600" i="1" dirty="0">
                <a:solidFill>
                  <a:srgbClr val="CBD5E1"/>
                </a:solidFill>
                <a:latin typeface="Calibri" pitchFamily="34" charset="0"/>
                <a:ea typeface="Calibri" pitchFamily="34" charset="-122"/>
                <a:cs typeface="Calibri" pitchFamily="34" charset="-120"/>
              </a:rPr>
              <a:t>Every hand-off. One transaction truth.</a:t>
            </a:r>
            <a:endParaRPr lang="en-US" sz="2600" dirty="0"/>
          </a:p>
        </p:txBody>
      </p:sp>
      <p:sp>
        <p:nvSpPr>
          <p:cNvPr id="5" name="Text 3"/>
          <p:cNvSpPr/>
          <p:nvPr/>
        </p:nvSpPr>
        <p:spPr>
          <a:xfrm>
            <a:off x="822960" y="3429000"/>
            <a:ext cx="960120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Chain-of-custody inventory tracking from the warehouse shelf to the customer — and back again.</a:t>
            </a:r>
            <a:endParaRPr lang="en-US" sz="1600" dirty="0"/>
          </a:p>
        </p:txBody>
      </p:sp>
      <p:sp>
        <p:nvSpPr>
          <p:cNvPr id="6" name="Shape 4"/>
          <p:cNvSpPr/>
          <p:nvPr/>
        </p:nvSpPr>
        <p:spPr>
          <a:xfrm>
            <a:off x="868680" y="4517136"/>
            <a:ext cx="10424160" cy="0"/>
          </a:xfrm>
          <a:prstGeom prst="line">
            <a:avLst/>
          </a:prstGeom>
          <a:noFill/>
          <a:ln w="22225">
            <a:solidFill>
              <a:srgbClr val="34D399"/>
            </a:solidFill>
            <a:prstDash val="solid"/>
          </a:ln>
        </p:spPr>
      </p:sp>
      <p:sp>
        <p:nvSpPr>
          <p:cNvPr id="7" name="Shape 5"/>
          <p:cNvSpPr/>
          <p:nvPr/>
        </p:nvSpPr>
        <p:spPr>
          <a:xfrm>
            <a:off x="786384" y="4434840"/>
            <a:ext cx="164592" cy="164592"/>
          </a:xfrm>
          <a:prstGeom prst="ellipse">
            <a:avLst/>
          </a:prstGeom>
          <a:solidFill>
            <a:srgbClr val="34D399"/>
          </a:solidFill>
          <a:ln/>
        </p:spPr>
      </p:sp>
      <p:sp>
        <p:nvSpPr>
          <p:cNvPr id="8" name="Shape 6"/>
          <p:cNvSpPr/>
          <p:nvPr/>
        </p:nvSpPr>
        <p:spPr>
          <a:xfrm>
            <a:off x="2275550" y="4434840"/>
            <a:ext cx="164592" cy="164592"/>
          </a:xfrm>
          <a:prstGeom prst="ellipse">
            <a:avLst/>
          </a:prstGeom>
          <a:solidFill>
            <a:srgbClr val="34D399"/>
          </a:solidFill>
          <a:ln/>
        </p:spPr>
      </p:sp>
      <p:sp>
        <p:nvSpPr>
          <p:cNvPr id="9" name="Shape 7"/>
          <p:cNvSpPr/>
          <p:nvPr/>
        </p:nvSpPr>
        <p:spPr>
          <a:xfrm>
            <a:off x="3764715" y="4434840"/>
            <a:ext cx="164592" cy="164592"/>
          </a:xfrm>
          <a:prstGeom prst="ellipse">
            <a:avLst/>
          </a:prstGeom>
          <a:solidFill>
            <a:srgbClr val="34D399"/>
          </a:solidFill>
          <a:ln/>
        </p:spPr>
      </p:sp>
      <p:sp>
        <p:nvSpPr>
          <p:cNvPr id="10" name="Shape 8"/>
          <p:cNvSpPr/>
          <p:nvPr/>
        </p:nvSpPr>
        <p:spPr>
          <a:xfrm>
            <a:off x="5253881" y="4434840"/>
            <a:ext cx="164592" cy="164592"/>
          </a:xfrm>
          <a:prstGeom prst="ellipse">
            <a:avLst/>
          </a:prstGeom>
          <a:solidFill>
            <a:srgbClr val="34D399"/>
          </a:solidFill>
          <a:ln/>
        </p:spPr>
      </p:sp>
      <p:sp>
        <p:nvSpPr>
          <p:cNvPr id="11" name="Shape 9"/>
          <p:cNvSpPr/>
          <p:nvPr/>
        </p:nvSpPr>
        <p:spPr>
          <a:xfrm>
            <a:off x="6743047" y="4434840"/>
            <a:ext cx="164592" cy="164592"/>
          </a:xfrm>
          <a:prstGeom prst="ellipse">
            <a:avLst/>
          </a:prstGeom>
          <a:solidFill>
            <a:srgbClr val="34D399"/>
          </a:solidFill>
          <a:ln/>
        </p:spPr>
      </p:sp>
      <p:sp>
        <p:nvSpPr>
          <p:cNvPr id="12" name="Shape 10"/>
          <p:cNvSpPr/>
          <p:nvPr/>
        </p:nvSpPr>
        <p:spPr>
          <a:xfrm>
            <a:off x="8232213" y="4434840"/>
            <a:ext cx="164592" cy="164592"/>
          </a:xfrm>
          <a:prstGeom prst="ellipse">
            <a:avLst/>
          </a:prstGeom>
          <a:solidFill>
            <a:srgbClr val="34D399"/>
          </a:solidFill>
          <a:ln/>
        </p:spPr>
      </p:sp>
      <p:sp>
        <p:nvSpPr>
          <p:cNvPr id="13" name="Shape 11"/>
          <p:cNvSpPr/>
          <p:nvPr/>
        </p:nvSpPr>
        <p:spPr>
          <a:xfrm>
            <a:off x="9721378" y="4434840"/>
            <a:ext cx="164592" cy="164592"/>
          </a:xfrm>
          <a:prstGeom prst="ellipse">
            <a:avLst/>
          </a:prstGeom>
          <a:solidFill>
            <a:srgbClr val="34D399"/>
          </a:solidFill>
          <a:ln/>
        </p:spPr>
      </p:sp>
      <p:sp>
        <p:nvSpPr>
          <p:cNvPr id="14" name="Shape 12"/>
          <p:cNvSpPr/>
          <p:nvPr/>
        </p:nvSpPr>
        <p:spPr>
          <a:xfrm>
            <a:off x="11210544" y="4434840"/>
            <a:ext cx="164592" cy="164592"/>
          </a:xfrm>
          <a:prstGeom prst="ellipse">
            <a:avLst/>
          </a:prstGeom>
          <a:solidFill>
            <a:srgbClr val="34D399"/>
          </a:solidFill>
          <a:ln/>
        </p:spPr>
      </p:sp>
      <p:sp>
        <p:nvSpPr>
          <p:cNvPr id="15" name="Text 13"/>
          <p:cNvSpPr/>
          <p:nvPr/>
        </p:nvSpPr>
        <p:spPr>
          <a:xfrm>
            <a:off x="182880" y="4709160"/>
            <a:ext cx="13716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Warehouse</a:t>
            </a:r>
            <a:endParaRPr lang="en-US" sz="1100" dirty="0"/>
          </a:p>
        </p:txBody>
      </p:sp>
      <p:sp>
        <p:nvSpPr>
          <p:cNvPr id="16" name="Text 14"/>
          <p:cNvSpPr/>
          <p:nvPr/>
        </p:nvSpPr>
        <p:spPr>
          <a:xfrm>
            <a:off x="1672046" y="4709160"/>
            <a:ext cx="13716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Truck</a:t>
            </a:r>
            <a:endParaRPr lang="en-US" sz="1100" dirty="0"/>
          </a:p>
        </p:txBody>
      </p:sp>
      <p:sp>
        <p:nvSpPr>
          <p:cNvPr id="17" name="Text 15"/>
          <p:cNvSpPr/>
          <p:nvPr/>
        </p:nvSpPr>
        <p:spPr>
          <a:xfrm>
            <a:off x="3161211" y="4709160"/>
            <a:ext cx="13716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Boatyard</a:t>
            </a:r>
            <a:endParaRPr lang="en-US" sz="1100" dirty="0"/>
          </a:p>
        </p:txBody>
      </p:sp>
      <p:sp>
        <p:nvSpPr>
          <p:cNvPr id="18" name="Text 16"/>
          <p:cNvSpPr/>
          <p:nvPr/>
        </p:nvSpPr>
        <p:spPr>
          <a:xfrm>
            <a:off x="4650377" y="4709160"/>
            <a:ext cx="13716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Ocean</a:t>
            </a:r>
            <a:endParaRPr lang="en-US" sz="1100" dirty="0"/>
          </a:p>
        </p:txBody>
      </p:sp>
      <p:sp>
        <p:nvSpPr>
          <p:cNvPr id="19" name="Text 17"/>
          <p:cNvSpPr/>
          <p:nvPr/>
        </p:nvSpPr>
        <p:spPr>
          <a:xfrm>
            <a:off x="6139543" y="4709160"/>
            <a:ext cx="13716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Port</a:t>
            </a:r>
            <a:endParaRPr lang="en-US" sz="1100" dirty="0"/>
          </a:p>
        </p:txBody>
      </p:sp>
      <p:sp>
        <p:nvSpPr>
          <p:cNvPr id="20" name="Text 18"/>
          <p:cNvSpPr/>
          <p:nvPr/>
        </p:nvSpPr>
        <p:spPr>
          <a:xfrm>
            <a:off x="7628709" y="4709160"/>
            <a:ext cx="13716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Customs</a:t>
            </a:r>
            <a:endParaRPr lang="en-US" sz="1100" dirty="0"/>
          </a:p>
        </p:txBody>
      </p:sp>
      <p:sp>
        <p:nvSpPr>
          <p:cNvPr id="21" name="Text 19"/>
          <p:cNvSpPr/>
          <p:nvPr/>
        </p:nvSpPr>
        <p:spPr>
          <a:xfrm>
            <a:off x="9117874" y="4709160"/>
            <a:ext cx="13716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Customer</a:t>
            </a:r>
            <a:endParaRPr lang="en-US" sz="1100" dirty="0"/>
          </a:p>
        </p:txBody>
      </p:sp>
      <p:sp>
        <p:nvSpPr>
          <p:cNvPr id="22" name="Text 20"/>
          <p:cNvSpPr/>
          <p:nvPr/>
        </p:nvSpPr>
        <p:spPr>
          <a:xfrm>
            <a:off x="10607040" y="4709160"/>
            <a:ext cx="13716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RMA</a:t>
            </a:r>
            <a:endParaRPr lang="en-US" sz="1100" dirty="0"/>
          </a:p>
        </p:txBody>
      </p:sp>
      <p:sp>
        <p:nvSpPr>
          <p:cNvPr id="23" name="Text 21"/>
          <p:cNvSpPr/>
          <p:nvPr/>
        </p:nvSpPr>
        <p:spPr>
          <a:xfrm>
            <a:off x="822960" y="5989320"/>
            <a:ext cx="1051560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Hackathon demo · FY2026 year-end close · Jessica Dougherty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Counts are perfect on the shelf. Truth is lost in motion.</a:t>
            </a:r>
            <a:endParaRPr lang="en-US" sz="3400" dirty="0"/>
          </a:p>
        </p:txBody>
      </p:sp>
      <p:sp>
        <p:nvSpPr>
          <p:cNvPr id="3" name="Shape 1"/>
          <p:cNvSpPr/>
          <p:nvPr/>
        </p:nvSpPr>
        <p:spPr>
          <a:xfrm>
            <a:off x="548640" y="1298448"/>
            <a:ext cx="457200" cy="457200"/>
          </a:xfrm>
          <a:prstGeom prst="ellipse">
            <a:avLst/>
          </a:prstGeom>
          <a:solidFill>
            <a:srgbClr val="D1FAE5"/>
          </a:solidFill>
          <a:ln/>
        </p:spPr>
      </p:sp>
      <p:pic>
        <p:nvPicPr>
          <p:cNvPr id="4" name="Image 0" descr="preencoded.png">    </p:cNvPr>
          <p:cNvPicPr>
            <a:picLocks noChangeAspect="1"/>
          </p:cNvPicPr>
          <p:nvPr/>
        </p:nvPicPr>
        <p:blipFill>
          <a:blip r:embed="rId1"/>
          <a:stretch>
            <a:fillRect/>
          </a:stretch>
        </p:blipFill>
        <p:spPr>
          <a:xfrm>
            <a:off x="667512" y="1417320"/>
            <a:ext cx="219456" cy="219456"/>
          </a:xfrm>
          <a:prstGeom prst="rect">
            <a:avLst/>
          </a:prstGeom>
        </p:spPr>
      </p:pic>
      <p:sp>
        <p:nvSpPr>
          <p:cNvPr id="5" name="Text 2"/>
          <p:cNvSpPr/>
          <p:nvPr/>
        </p:nvSpPr>
        <p:spPr>
          <a:xfrm>
            <a:off x="1188720" y="1225296"/>
            <a:ext cx="521208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Multi-leg hand-offs</a:t>
            </a:r>
            <a:endParaRPr lang="en-US" sz="1500" dirty="0"/>
          </a:p>
        </p:txBody>
      </p:sp>
      <p:sp>
        <p:nvSpPr>
          <p:cNvPr id="6" name="Text 3"/>
          <p:cNvSpPr/>
          <p:nvPr/>
        </p:nvSpPr>
        <p:spPr>
          <a:xfrm>
            <a:off x="1188720" y="1536192"/>
            <a:ext cx="5349240" cy="6858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Warehouse → truck → boatyard → vessel → port → customs → customer. Every leg is a different vendor with its own dates and paperwork.</a:t>
            </a:r>
            <a:endParaRPr lang="en-US" sz="1100" dirty="0"/>
          </a:p>
        </p:txBody>
      </p:sp>
      <p:sp>
        <p:nvSpPr>
          <p:cNvPr id="7" name="Shape 4"/>
          <p:cNvSpPr/>
          <p:nvPr/>
        </p:nvSpPr>
        <p:spPr>
          <a:xfrm>
            <a:off x="548640" y="2276856"/>
            <a:ext cx="457200" cy="457200"/>
          </a:xfrm>
          <a:prstGeom prst="ellipse">
            <a:avLst/>
          </a:prstGeom>
          <a:solidFill>
            <a:srgbClr val="E0F2FE"/>
          </a:solidFill>
          <a:ln/>
        </p:spPr>
      </p:sp>
      <p:pic>
        <p:nvPicPr>
          <p:cNvPr id="8" name="Image 1" descr="preencoded.png">    </p:cNvPr>
          <p:cNvPicPr>
            <a:picLocks noChangeAspect="1"/>
          </p:cNvPicPr>
          <p:nvPr/>
        </p:nvPicPr>
        <p:blipFill>
          <a:blip r:embed="rId2"/>
          <a:stretch>
            <a:fillRect/>
          </a:stretch>
        </p:blipFill>
        <p:spPr>
          <a:xfrm>
            <a:off x="667512" y="2395728"/>
            <a:ext cx="219456" cy="219456"/>
          </a:xfrm>
          <a:prstGeom prst="rect">
            <a:avLst/>
          </a:prstGeom>
        </p:spPr>
      </p:pic>
      <p:sp>
        <p:nvSpPr>
          <p:cNvPr id="9" name="Text 5"/>
          <p:cNvSpPr/>
          <p:nvPr/>
        </p:nvSpPr>
        <p:spPr>
          <a:xfrm>
            <a:off x="1188720" y="2203704"/>
            <a:ext cx="521208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Nobody knows who ships this</a:t>
            </a:r>
            <a:endParaRPr lang="en-US" sz="1500" dirty="0"/>
          </a:p>
        </p:txBody>
      </p:sp>
      <p:sp>
        <p:nvSpPr>
          <p:cNvPr id="10" name="Text 6"/>
          <p:cNvSpPr/>
          <p:nvPr/>
        </p:nvSpPr>
        <p:spPr>
          <a:xfrm>
            <a:off x="1188720" y="2514600"/>
            <a:ext cx="5349240" cy="6858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 startup lands the sale, then burns days finding carriers, boatyards, and brokers — while the customer’s need-by date slips away.</a:t>
            </a:r>
            <a:endParaRPr lang="en-US" sz="1100" dirty="0"/>
          </a:p>
        </p:txBody>
      </p:sp>
      <p:sp>
        <p:nvSpPr>
          <p:cNvPr id="11" name="Shape 7"/>
          <p:cNvSpPr/>
          <p:nvPr/>
        </p:nvSpPr>
        <p:spPr>
          <a:xfrm>
            <a:off x="548640" y="3255264"/>
            <a:ext cx="457200" cy="457200"/>
          </a:xfrm>
          <a:prstGeom prst="ellipse">
            <a:avLst/>
          </a:prstGeom>
          <a:solidFill>
            <a:srgbClr val="FEF3C7"/>
          </a:solidFill>
          <a:ln/>
        </p:spPr>
      </p:sp>
      <p:pic>
        <p:nvPicPr>
          <p:cNvPr id="12" name="Image 2" descr="preencoded.png">    </p:cNvPr>
          <p:cNvPicPr>
            <a:picLocks noChangeAspect="1"/>
          </p:cNvPicPr>
          <p:nvPr/>
        </p:nvPicPr>
        <p:blipFill>
          <a:blip r:embed="rId3"/>
          <a:stretch>
            <a:fillRect/>
          </a:stretch>
        </p:blipFill>
        <p:spPr>
          <a:xfrm>
            <a:off x="667512" y="3374136"/>
            <a:ext cx="219456" cy="219456"/>
          </a:xfrm>
          <a:prstGeom prst="rect">
            <a:avLst/>
          </a:prstGeom>
        </p:spPr>
      </p:pic>
      <p:sp>
        <p:nvSpPr>
          <p:cNvPr id="13" name="Text 8"/>
          <p:cNvSpPr/>
          <p:nvPr/>
        </p:nvSpPr>
        <p:spPr>
          <a:xfrm>
            <a:off x="1188720" y="3182112"/>
            <a:ext cx="521208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Revenue timing unproven</a:t>
            </a:r>
            <a:endParaRPr lang="en-US" sz="1500" dirty="0"/>
          </a:p>
        </p:txBody>
      </p:sp>
      <p:sp>
        <p:nvSpPr>
          <p:cNvPr id="14" name="Text 9"/>
          <p:cNvSpPr/>
          <p:nvPr/>
        </p:nvSpPr>
        <p:spPr>
          <a:xfrm>
            <a:off x="1188720" y="3493008"/>
            <a:ext cx="5349240" cy="6858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Invoice dates and Incoterms disagree. Cutoff evidence lives in carrier emails nobody can find at year-end.</a:t>
            </a:r>
            <a:endParaRPr lang="en-US" sz="1100" dirty="0"/>
          </a:p>
        </p:txBody>
      </p:sp>
      <p:sp>
        <p:nvSpPr>
          <p:cNvPr id="15" name="Shape 10"/>
          <p:cNvSpPr/>
          <p:nvPr/>
        </p:nvSpPr>
        <p:spPr>
          <a:xfrm>
            <a:off x="548640" y="4233672"/>
            <a:ext cx="457200" cy="457200"/>
          </a:xfrm>
          <a:prstGeom prst="ellipse">
            <a:avLst/>
          </a:prstGeom>
          <a:solidFill>
            <a:srgbClr val="CCFBF1"/>
          </a:solidFill>
          <a:ln/>
        </p:spPr>
      </p:sp>
      <p:pic>
        <p:nvPicPr>
          <p:cNvPr id="16" name="Image 3" descr="preencoded.png">    </p:cNvPr>
          <p:cNvPicPr>
            <a:picLocks noChangeAspect="1"/>
          </p:cNvPicPr>
          <p:nvPr/>
        </p:nvPicPr>
        <p:blipFill>
          <a:blip r:embed="rId4"/>
          <a:stretch>
            <a:fillRect/>
          </a:stretch>
        </p:blipFill>
        <p:spPr>
          <a:xfrm>
            <a:off x="667512" y="4352544"/>
            <a:ext cx="219456" cy="219456"/>
          </a:xfrm>
          <a:prstGeom prst="rect">
            <a:avLst/>
          </a:prstGeom>
        </p:spPr>
      </p:pic>
      <p:sp>
        <p:nvSpPr>
          <p:cNvPr id="17" name="Text 11"/>
          <p:cNvSpPr/>
          <p:nvPr/>
        </p:nvSpPr>
        <p:spPr>
          <a:xfrm>
            <a:off x="1188720" y="4160520"/>
            <a:ext cx="521208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Customs is its own maze</a:t>
            </a:r>
            <a:endParaRPr lang="en-US" sz="1500" dirty="0"/>
          </a:p>
        </p:txBody>
      </p:sp>
      <p:sp>
        <p:nvSpPr>
          <p:cNvPr id="18" name="Text 12"/>
          <p:cNvSpPr/>
          <p:nvPr/>
        </p:nvSpPr>
        <p:spPr>
          <a:xfrm>
            <a:off x="1188720" y="4471416"/>
            <a:ext cx="5349240" cy="6858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Valuation uses a price list that is not the sales price; every country wants different documents, and requirements change mid-quarter.</a:t>
            </a:r>
            <a:endParaRPr lang="en-US" sz="1100" dirty="0"/>
          </a:p>
        </p:txBody>
      </p:sp>
      <p:sp>
        <p:nvSpPr>
          <p:cNvPr id="19" name="Shape 13"/>
          <p:cNvSpPr/>
          <p:nvPr/>
        </p:nvSpPr>
        <p:spPr>
          <a:xfrm>
            <a:off x="548640" y="5212080"/>
            <a:ext cx="457200" cy="457200"/>
          </a:xfrm>
          <a:prstGeom prst="ellipse">
            <a:avLst/>
          </a:prstGeom>
          <a:solidFill>
            <a:srgbClr val="FFE4E6"/>
          </a:solidFill>
          <a:ln/>
        </p:spPr>
      </p:sp>
      <p:pic>
        <p:nvPicPr>
          <p:cNvPr id="20" name="Image 4" descr="preencoded.png">    </p:cNvPr>
          <p:cNvPicPr>
            <a:picLocks noChangeAspect="1"/>
          </p:cNvPicPr>
          <p:nvPr/>
        </p:nvPicPr>
        <p:blipFill>
          <a:blip r:embed="rId5"/>
          <a:stretch>
            <a:fillRect/>
          </a:stretch>
        </p:blipFill>
        <p:spPr>
          <a:xfrm>
            <a:off x="667512" y="5330952"/>
            <a:ext cx="219456" cy="219456"/>
          </a:xfrm>
          <a:prstGeom prst="rect">
            <a:avLst/>
          </a:prstGeom>
        </p:spPr>
      </p:pic>
      <p:sp>
        <p:nvSpPr>
          <p:cNvPr id="21" name="Text 14"/>
          <p:cNvSpPr/>
          <p:nvPr/>
        </p:nvSpPr>
        <p:spPr>
          <a:xfrm>
            <a:off x="1188720" y="5138928"/>
            <a:ext cx="521208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Returns vanish</a:t>
            </a:r>
            <a:endParaRPr lang="en-US" sz="1500" dirty="0"/>
          </a:p>
        </p:txBody>
      </p:sp>
      <p:sp>
        <p:nvSpPr>
          <p:cNvPr id="22" name="Text 15"/>
          <p:cNvSpPr/>
          <p:nvPr/>
        </p:nvSpPr>
        <p:spPr>
          <a:xfrm>
            <a:off x="1188720" y="5449824"/>
            <a:ext cx="5349240" cy="6858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RMAs retrace the same route with none of the tracking — and the credit memo never gets accrued on time.</a:t>
            </a:r>
            <a:endParaRPr lang="en-US" sz="1100" dirty="0"/>
          </a:p>
        </p:txBody>
      </p:sp>
      <p:sp>
        <p:nvSpPr>
          <p:cNvPr id="23" name="Shape 16"/>
          <p:cNvSpPr/>
          <p:nvPr/>
        </p:nvSpPr>
        <p:spPr>
          <a:xfrm>
            <a:off x="6903720" y="1371600"/>
            <a:ext cx="4709160" cy="2926080"/>
          </a:xfrm>
          <a:prstGeom prst="roundRect">
            <a:avLst>
              <a:gd name="adj" fmla="val 3125"/>
            </a:avLst>
          </a:prstGeom>
          <a:solidFill>
            <a:srgbClr val="0F172A"/>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24" name="Text 17"/>
          <p:cNvSpPr/>
          <p:nvPr/>
        </p:nvSpPr>
        <p:spPr>
          <a:xfrm>
            <a:off x="7269480" y="1627632"/>
            <a:ext cx="4114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One typical international shipment</a:t>
            </a:r>
            <a:endParaRPr lang="en-US" sz="1500" dirty="0"/>
          </a:p>
        </p:txBody>
      </p:sp>
      <p:sp>
        <p:nvSpPr>
          <p:cNvPr id="25" name="Text 18"/>
          <p:cNvSpPr/>
          <p:nvPr/>
        </p:nvSpPr>
        <p:spPr>
          <a:xfrm>
            <a:off x="7269480" y="2103120"/>
            <a:ext cx="2103120" cy="594360"/>
          </a:xfrm>
          <a:prstGeom prst="rect">
            <a:avLst/>
          </a:prstGeom>
          <a:noFill/>
          <a:ln/>
        </p:spPr>
        <p:txBody>
          <a:bodyPr wrap="square" lIns="0" tIns="0" rIns="0" bIns="0" rtlCol="0" anchor="ctr"/>
          <a:lstStyle/>
          <a:p>
            <a:pPr indent="0" marL="0">
              <a:buNone/>
            </a:pPr>
            <a:r>
              <a:rPr lang="en-US" sz="4000" b="1" dirty="0">
                <a:solidFill>
                  <a:srgbClr val="34D399"/>
                </a:solidFill>
                <a:latin typeface="Calibri" pitchFamily="34" charset="0"/>
                <a:ea typeface="Calibri" pitchFamily="34" charset="-122"/>
                <a:cs typeface="Calibri" pitchFamily="34" charset="-120"/>
              </a:rPr>
              <a:t>7</a:t>
            </a:r>
            <a:endParaRPr lang="en-US" sz="4000" dirty="0"/>
          </a:p>
        </p:txBody>
      </p:sp>
      <p:sp>
        <p:nvSpPr>
          <p:cNvPr id="26" name="Text 19"/>
          <p:cNvSpPr/>
          <p:nvPr/>
        </p:nvSpPr>
        <p:spPr>
          <a:xfrm>
            <a:off x="7269480" y="2670048"/>
            <a:ext cx="2103120" cy="32004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custody hand-offs</a:t>
            </a:r>
            <a:endParaRPr lang="en-US" sz="1150" dirty="0"/>
          </a:p>
        </p:txBody>
      </p:sp>
      <p:sp>
        <p:nvSpPr>
          <p:cNvPr id="27" name="Text 20"/>
          <p:cNvSpPr/>
          <p:nvPr/>
        </p:nvSpPr>
        <p:spPr>
          <a:xfrm>
            <a:off x="9509760" y="2103120"/>
            <a:ext cx="2103120" cy="594360"/>
          </a:xfrm>
          <a:prstGeom prst="rect">
            <a:avLst/>
          </a:prstGeom>
          <a:noFill/>
          <a:ln/>
        </p:spPr>
        <p:txBody>
          <a:bodyPr wrap="square" lIns="0" tIns="0" rIns="0" bIns="0" rtlCol="0" anchor="ctr"/>
          <a:lstStyle/>
          <a:p>
            <a:pPr indent="0" marL="0">
              <a:buNone/>
            </a:pPr>
            <a:r>
              <a:rPr lang="en-US" sz="4000" b="1" dirty="0">
                <a:solidFill>
                  <a:srgbClr val="34D399"/>
                </a:solidFill>
                <a:latin typeface="Calibri" pitchFamily="34" charset="0"/>
                <a:ea typeface="Calibri" pitchFamily="34" charset="-122"/>
                <a:cs typeface="Calibri" pitchFamily="34" charset="-120"/>
              </a:rPr>
              <a:t>5</a:t>
            </a:r>
            <a:endParaRPr lang="en-US" sz="4000" dirty="0"/>
          </a:p>
        </p:txBody>
      </p:sp>
      <p:sp>
        <p:nvSpPr>
          <p:cNvPr id="28" name="Text 21"/>
          <p:cNvSpPr/>
          <p:nvPr/>
        </p:nvSpPr>
        <p:spPr>
          <a:xfrm>
            <a:off x="9509760" y="2670048"/>
            <a:ext cx="2103120" cy="32004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different vendors</a:t>
            </a:r>
            <a:endParaRPr lang="en-US" sz="1150" dirty="0"/>
          </a:p>
        </p:txBody>
      </p:sp>
      <p:sp>
        <p:nvSpPr>
          <p:cNvPr id="29" name="Text 22"/>
          <p:cNvSpPr/>
          <p:nvPr/>
        </p:nvSpPr>
        <p:spPr>
          <a:xfrm>
            <a:off x="7269480" y="3127248"/>
            <a:ext cx="2103120" cy="594360"/>
          </a:xfrm>
          <a:prstGeom prst="rect">
            <a:avLst/>
          </a:prstGeom>
          <a:noFill/>
          <a:ln/>
        </p:spPr>
        <p:txBody>
          <a:bodyPr wrap="square" lIns="0" tIns="0" rIns="0" bIns="0" rtlCol="0" anchor="ctr"/>
          <a:lstStyle/>
          <a:p>
            <a:pPr indent="0" marL="0">
              <a:buNone/>
            </a:pPr>
            <a:r>
              <a:rPr lang="en-US" sz="4000" b="1" dirty="0">
                <a:solidFill>
                  <a:srgbClr val="34D399"/>
                </a:solidFill>
                <a:latin typeface="Calibri" pitchFamily="34" charset="0"/>
                <a:ea typeface="Calibri" pitchFamily="34" charset="-122"/>
                <a:cs typeface="Calibri" pitchFamily="34" charset="-120"/>
              </a:rPr>
              <a:t>2</a:t>
            </a:r>
            <a:endParaRPr lang="en-US" sz="4000" dirty="0"/>
          </a:p>
        </p:txBody>
      </p:sp>
      <p:sp>
        <p:nvSpPr>
          <p:cNvPr id="30" name="Text 23"/>
          <p:cNvSpPr/>
          <p:nvPr/>
        </p:nvSpPr>
        <p:spPr>
          <a:xfrm>
            <a:off x="7269480" y="3694176"/>
            <a:ext cx="2103120" cy="32004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customs regimes</a:t>
            </a:r>
            <a:endParaRPr lang="en-US" sz="1150" dirty="0"/>
          </a:p>
        </p:txBody>
      </p:sp>
      <p:sp>
        <p:nvSpPr>
          <p:cNvPr id="31" name="Text 24"/>
          <p:cNvSpPr/>
          <p:nvPr/>
        </p:nvSpPr>
        <p:spPr>
          <a:xfrm>
            <a:off x="9509760" y="3127248"/>
            <a:ext cx="2103120" cy="594360"/>
          </a:xfrm>
          <a:prstGeom prst="rect">
            <a:avLst/>
          </a:prstGeom>
          <a:noFill/>
          <a:ln/>
        </p:spPr>
        <p:txBody>
          <a:bodyPr wrap="square" lIns="0" tIns="0" rIns="0" bIns="0" rtlCol="0" anchor="ctr"/>
          <a:lstStyle/>
          <a:p>
            <a:pPr indent="0" marL="0">
              <a:buNone/>
            </a:pPr>
            <a:r>
              <a:rPr lang="en-US" sz="4000" b="1" dirty="0">
                <a:solidFill>
                  <a:srgbClr val="FBBF24"/>
                </a:solidFill>
                <a:latin typeface="Calibri" pitchFamily="34" charset="0"/>
                <a:ea typeface="Calibri" pitchFamily="34" charset="-122"/>
                <a:cs typeface="Calibri" pitchFamily="34" charset="-120"/>
              </a:rPr>
              <a:t>1</a:t>
            </a:r>
            <a:endParaRPr lang="en-US" sz="4000" dirty="0"/>
          </a:p>
        </p:txBody>
      </p:sp>
      <p:sp>
        <p:nvSpPr>
          <p:cNvPr id="32" name="Text 25"/>
          <p:cNvSpPr/>
          <p:nvPr/>
        </p:nvSpPr>
        <p:spPr>
          <a:xfrm>
            <a:off x="9509760" y="3694176"/>
            <a:ext cx="2103120" cy="32004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spreadsheet holding it together</a:t>
            </a:r>
            <a:endParaRPr lang="en-US" sz="1150" dirty="0"/>
          </a:p>
        </p:txBody>
      </p:sp>
      <p:sp>
        <p:nvSpPr>
          <p:cNvPr id="33" name="Shape 26"/>
          <p:cNvSpPr/>
          <p:nvPr/>
        </p:nvSpPr>
        <p:spPr>
          <a:xfrm>
            <a:off x="6903720" y="4526280"/>
            <a:ext cx="4709160" cy="1691640"/>
          </a:xfrm>
          <a:prstGeom prst="roundRect">
            <a:avLst>
              <a:gd name="adj" fmla="val 5405"/>
            </a:avLst>
          </a:prstGeom>
          <a:solidFill>
            <a:srgbClr val="F8FAFC"/>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34" name="Text 27"/>
          <p:cNvSpPr/>
          <p:nvPr/>
        </p:nvSpPr>
        <p:spPr>
          <a:xfrm>
            <a:off x="7269480" y="4736592"/>
            <a:ext cx="4114800" cy="32004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What it costs</a:t>
            </a:r>
            <a:endParaRPr lang="en-US" sz="1300" dirty="0"/>
          </a:p>
        </p:txBody>
      </p:sp>
      <p:sp>
        <p:nvSpPr>
          <p:cNvPr id="35" name="Text 28"/>
          <p:cNvSpPr/>
          <p:nvPr/>
        </p:nvSpPr>
        <p:spPr>
          <a:xfrm>
            <a:off x="7269480" y="5047488"/>
            <a:ext cx="4069080" cy="105156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Misstated revenue cutoff at year-end. Failed existence testing when auditors count inventory that is “somewhere in transit.” Customs delays and duty surprises.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One transaction ID follows every hand-off.</a:t>
            </a:r>
            <a:endParaRPr lang="en-US" sz="3400" dirty="0"/>
          </a:p>
        </p:txBody>
      </p:sp>
      <p:sp>
        <p:nvSpPr>
          <p:cNvPr id="3" name="Text 1"/>
          <p:cNvSpPr/>
          <p:nvPr/>
        </p:nvSpPr>
        <p:spPr>
          <a:xfrm>
            <a:off x="548640" y="1078992"/>
            <a:ext cx="10789920" cy="411480"/>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Scan it out of the warehouse. Ask why it is leaving. Log every custody transfer with a dropdown. Prove revenue with the chain.</a:t>
            </a:r>
            <a:endParaRPr lang="en-US" sz="1500" dirty="0"/>
          </a:p>
        </p:txBody>
      </p:sp>
      <p:sp>
        <p:nvSpPr>
          <p:cNvPr id="4" name="Text 2"/>
          <p:cNvSpPr/>
          <p:nvPr/>
        </p:nvSpPr>
        <p:spPr>
          <a:xfrm>
            <a:off x="5257800" y="1691640"/>
            <a:ext cx="1737360" cy="384048"/>
          </a:xfrm>
          <a:prstGeom prst="roundRect">
            <a:avLst>
              <a:gd name="adj" fmla="val 47619"/>
            </a:avLst>
          </a:prstGeom>
          <a:solidFill>
            <a:srgbClr val="059669"/>
          </a:solid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TX-20481</a:t>
            </a:r>
            <a:endParaRPr lang="en-US" sz="1400" dirty="0"/>
          </a:p>
        </p:txBody>
      </p:sp>
      <p:sp>
        <p:nvSpPr>
          <p:cNvPr id="5" name="Shape 3"/>
          <p:cNvSpPr/>
          <p:nvPr/>
        </p:nvSpPr>
        <p:spPr>
          <a:xfrm>
            <a:off x="1143000" y="2816352"/>
            <a:ext cx="9875520" cy="0"/>
          </a:xfrm>
          <a:prstGeom prst="line">
            <a:avLst/>
          </a:prstGeom>
          <a:noFill/>
          <a:ln w="31750">
            <a:solidFill>
              <a:srgbClr val="059669"/>
            </a:solidFill>
            <a:prstDash val="solid"/>
          </a:ln>
        </p:spPr>
      </p:sp>
      <p:sp>
        <p:nvSpPr>
          <p:cNvPr id="6" name="Shape 4"/>
          <p:cNvSpPr/>
          <p:nvPr/>
        </p:nvSpPr>
        <p:spPr>
          <a:xfrm>
            <a:off x="566928" y="2514600"/>
            <a:ext cx="603504" cy="603504"/>
          </a:xfrm>
          <a:prstGeom prst="ellipse">
            <a:avLst/>
          </a:prstGeom>
          <a:solidFill>
            <a:srgbClr val="059669"/>
          </a:solidFill>
          <a:ln w="254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22376" y="2670048"/>
            <a:ext cx="292608" cy="292608"/>
          </a:xfrm>
          <a:prstGeom prst="rect">
            <a:avLst/>
          </a:prstGeom>
        </p:spPr>
      </p:pic>
      <p:sp>
        <p:nvSpPr>
          <p:cNvPr id="8" name="Text 5"/>
          <p:cNvSpPr/>
          <p:nvPr/>
        </p:nvSpPr>
        <p:spPr>
          <a:xfrm>
            <a:off x="182880" y="3200400"/>
            <a:ext cx="137160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Warehouse</a:t>
            </a:r>
            <a:endParaRPr lang="en-US" sz="1200" dirty="0"/>
          </a:p>
        </p:txBody>
      </p:sp>
      <p:sp>
        <p:nvSpPr>
          <p:cNvPr id="9" name="Text 6"/>
          <p:cNvSpPr/>
          <p:nvPr/>
        </p:nvSpPr>
        <p:spPr>
          <a:xfrm>
            <a:off x="182880" y="3465576"/>
            <a:ext cx="1371600" cy="256032"/>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Pick + scan</a:t>
            </a:r>
            <a:endParaRPr lang="en-US" sz="1000" dirty="0"/>
          </a:p>
        </p:txBody>
      </p:sp>
      <p:sp>
        <p:nvSpPr>
          <p:cNvPr id="10" name="Shape 7"/>
          <p:cNvSpPr/>
          <p:nvPr/>
        </p:nvSpPr>
        <p:spPr>
          <a:xfrm>
            <a:off x="2304288" y="2514600"/>
            <a:ext cx="603504" cy="603504"/>
          </a:xfrm>
          <a:prstGeom prst="ellipse">
            <a:avLst/>
          </a:prstGeom>
          <a:solidFill>
            <a:srgbClr val="059669"/>
          </a:solidFill>
          <a:ln w="254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2459736" y="2670048"/>
            <a:ext cx="292608" cy="292608"/>
          </a:xfrm>
          <a:prstGeom prst="rect">
            <a:avLst/>
          </a:prstGeom>
        </p:spPr>
      </p:pic>
      <p:sp>
        <p:nvSpPr>
          <p:cNvPr id="12" name="Text 8"/>
          <p:cNvSpPr/>
          <p:nvPr/>
        </p:nvSpPr>
        <p:spPr>
          <a:xfrm>
            <a:off x="1920240" y="3200400"/>
            <a:ext cx="137160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Truck</a:t>
            </a:r>
            <a:endParaRPr lang="en-US" sz="1200" dirty="0"/>
          </a:p>
        </p:txBody>
      </p:sp>
      <p:sp>
        <p:nvSpPr>
          <p:cNvPr id="13" name="Text 9"/>
          <p:cNvSpPr/>
          <p:nvPr/>
        </p:nvSpPr>
        <p:spPr>
          <a:xfrm>
            <a:off x="1920240" y="3465576"/>
            <a:ext cx="1371600" cy="256032"/>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to boatyard</a:t>
            </a:r>
            <a:endParaRPr lang="en-US" sz="1000" dirty="0"/>
          </a:p>
        </p:txBody>
      </p:sp>
      <p:sp>
        <p:nvSpPr>
          <p:cNvPr id="14" name="Shape 10"/>
          <p:cNvSpPr/>
          <p:nvPr/>
        </p:nvSpPr>
        <p:spPr>
          <a:xfrm>
            <a:off x="4041648" y="2514600"/>
            <a:ext cx="603504" cy="603504"/>
          </a:xfrm>
          <a:prstGeom prst="ellipse">
            <a:avLst/>
          </a:prstGeom>
          <a:solidFill>
            <a:srgbClr val="059669"/>
          </a:solidFill>
          <a:ln w="25400">
            <a:solidFill>
              <a:srgbClr val="FFFFFF"/>
            </a:solidFill>
            <a:prstDash val="solid"/>
          </a:ln>
        </p:spPr>
      </p:sp>
      <p:pic>
        <p:nvPicPr>
          <p:cNvPr id="15" name="Image 2" descr="preencoded.png">    </p:cNvPr>
          <p:cNvPicPr>
            <a:picLocks noChangeAspect="1"/>
          </p:cNvPicPr>
          <p:nvPr/>
        </p:nvPicPr>
        <p:blipFill>
          <a:blip r:embed="rId3"/>
          <a:stretch>
            <a:fillRect/>
          </a:stretch>
        </p:blipFill>
        <p:spPr>
          <a:xfrm>
            <a:off x="4197096" y="2670048"/>
            <a:ext cx="292608" cy="292608"/>
          </a:xfrm>
          <a:prstGeom prst="rect">
            <a:avLst/>
          </a:prstGeom>
        </p:spPr>
      </p:pic>
      <p:sp>
        <p:nvSpPr>
          <p:cNvPr id="16" name="Text 11"/>
          <p:cNvSpPr/>
          <p:nvPr/>
        </p:nvSpPr>
        <p:spPr>
          <a:xfrm>
            <a:off x="3657600" y="3200400"/>
            <a:ext cx="137160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Boatyard</a:t>
            </a:r>
            <a:endParaRPr lang="en-US" sz="1200" dirty="0"/>
          </a:p>
        </p:txBody>
      </p:sp>
      <p:sp>
        <p:nvSpPr>
          <p:cNvPr id="17" name="Text 12"/>
          <p:cNvSpPr/>
          <p:nvPr/>
        </p:nvSpPr>
        <p:spPr>
          <a:xfrm>
            <a:off x="3657600" y="3465576"/>
            <a:ext cx="1371600" cy="256032"/>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to vessel</a:t>
            </a:r>
            <a:endParaRPr lang="en-US" sz="1000" dirty="0"/>
          </a:p>
        </p:txBody>
      </p:sp>
      <p:sp>
        <p:nvSpPr>
          <p:cNvPr id="18" name="Shape 13"/>
          <p:cNvSpPr/>
          <p:nvPr/>
        </p:nvSpPr>
        <p:spPr>
          <a:xfrm>
            <a:off x="5779008" y="2514600"/>
            <a:ext cx="603504" cy="603504"/>
          </a:xfrm>
          <a:prstGeom prst="ellipse">
            <a:avLst/>
          </a:prstGeom>
          <a:solidFill>
            <a:srgbClr val="059669"/>
          </a:solidFill>
          <a:ln w="254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5934456" y="2670048"/>
            <a:ext cx="292608" cy="292608"/>
          </a:xfrm>
          <a:prstGeom prst="rect">
            <a:avLst/>
          </a:prstGeom>
        </p:spPr>
      </p:pic>
      <p:sp>
        <p:nvSpPr>
          <p:cNvPr id="20" name="Text 14"/>
          <p:cNvSpPr/>
          <p:nvPr/>
        </p:nvSpPr>
        <p:spPr>
          <a:xfrm>
            <a:off x="5394960" y="3200400"/>
            <a:ext cx="137160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Ocean</a:t>
            </a:r>
            <a:endParaRPr lang="en-US" sz="1200" dirty="0"/>
          </a:p>
        </p:txBody>
      </p:sp>
      <p:sp>
        <p:nvSpPr>
          <p:cNvPr id="21" name="Text 15"/>
          <p:cNvSpPr/>
          <p:nvPr/>
        </p:nvSpPr>
        <p:spPr>
          <a:xfrm>
            <a:off x="5394960" y="3465576"/>
            <a:ext cx="1371600" cy="256032"/>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crossing</a:t>
            </a:r>
            <a:endParaRPr lang="en-US" sz="1000" dirty="0"/>
          </a:p>
        </p:txBody>
      </p:sp>
      <p:sp>
        <p:nvSpPr>
          <p:cNvPr id="22" name="Shape 16"/>
          <p:cNvSpPr/>
          <p:nvPr/>
        </p:nvSpPr>
        <p:spPr>
          <a:xfrm>
            <a:off x="7516368" y="2514600"/>
            <a:ext cx="603504" cy="603504"/>
          </a:xfrm>
          <a:prstGeom prst="ellipse">
            <a:avLst/>
          </a:prstGeom>
          <a:solidFill>
            <a:srgbClr val="059669"/>
          </a:solidFill>
          <a:ln w="25400">
            <a:solidFill>
              <a:srgbClr val="FFFFFF"/>
            </a:solidFill>
            <a:prstDash val="solid"/>
          </a:ln>
        </p:spPr>
      </p:sp>
      <p:pic>
        <p:nvPicPr>
          <p:cNvPr id="23" name="Image 4" descr="preencoded.png">    </p:cNvPr>
          <p:cNvPicPr>
            <a:picLocks noChangeAspect="1"/>
          </p:cNvPicPr>
          <p:nvPr/>
        </p:nvPicPr>
        <p:blipFill>
          <a:blip r:embed="rId5"/>
          <a:stretch>
            <a:fillRect/>
          </a:stretch>
        </p:blipFill>
        <p:spPr>
          <a:xfrm>
            <a:off x="7671816" y="2670048"/>
            <a:ext cx="292608" cy="292608"/>
          </a:xfrm>
          <a:prstGeom prst="rect">
            <a:avLst/>
          </a:prstGeom>
        </p:spPr>
      </p:pic>
      <p:sp>
        <p:nvSpPr>
          <p:cNvPr id="24" name="Text 17"/>
          <p:cNvSpPr/>
          <p:nvPr/>
        </p:nvSpPr>
        <p:spPr>
          <a:xfrm>
            <a:off x="7132320" y="3200400"/>
            <a:ext cx="137160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Port</a:t>
            </a:r>
            <a:endParaRPr lang="en-US" sz="1200" dirty="0"/>
          </a:p>
        </p:txBody>
      </p:sp>
      <p:sp>
        <p:nvSpPr>
          <p:cNvPr id="25" name="Text 18"/>
          <p:cNvSpPr/>
          <p:nvPr/>
        </p:nvSpPr>
        <p:spPr>
          <a:xfrm>
            <a:off x="7132320" y="3465576"/>
            <a:ext cx="1371600" cy="256032"/>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arrival</a:t>
            </a:r>
            <a:endParaRPr lang="en-US" sz="1000" dirty="0"/>
          </a:p>
        </p:txBody>
      </p:sp>
      <p:sp>
        <p:nvSpPr>
          <p:cNvPr id="26" name="Shape 19"/>
          <p:cNvSpPr/>
          <p:nvPr/>
        </p:nvSpPr>
        <p:spPr>
          <a:xfrm>
            <a:off x="9253728" y="2514600"/>
            <a:ext cx="603504" cy="603504"/>
          </a:xfrm>
          <a:prstGeom prst="ellipse">
            <a:avLst/>
          </a:prstGeom>
          <a:solidFill>
            <a:srgbClr val="B45309"/>
          </a:solidFill>
          <a:ln w="25400">
            <a:solidFill>
              <a:srgbClr val="FFFFFF"/>
            </a:solidFill>
            <a:prstDash val="solid"/>
          </a:ln>
        </p:spPr>
      </p:sp>
      <p:pic>
        <p:nvPicPr>
          <p:cNvPr id="27" name="Image 5" descr="preencoded.png">    </p:cNvPr>
          <p:cNvPicPr>
            <a:picLocks noChangeAspect="1"/>
          </p:cNvPicPr>
          <p:nvPr/>
        </p:nvPicPr>
        <p:blipFill>
          <a:blip r:embed="rId6"/>
          <a:stretch>
            <a:fillRect/>
          </a:stretch>
        </p:blipFill>
        <p:spPr>
          <a:xfrm>
            <a:off x="9409176" y="2670048"/>
            <a:ext cx="292608" cy="292608"/>
          </a:xfrm>
          <a:prstGeom prst="rect">
            <a:avLst/>
          </a:prstGeom>
        </p:spPr>
      </p:pic>
      <p:sp>
        <p:nvSpPr>
          <p:cNvPr id="28" name="Text 20"/>
          <p:cNvSpPr/>
          <p:nvPr/>
        </p:nvSpPr>
        <p:spPr>
          <a:xfrm>
            <a:off x="8869680" y="3200400"/>
            <a:ext cx="137160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Customs</a:t>
            </a:r>
            <a:endParaRPr lang="en-US" sz="1200" dirty="0"/>
          </a:p>
        </p:txBody>
      </p:sp>
      <p:sp>
        <p:nvSpPr>
          <p:cNvPr id="29" name="Text 21"/>
          <p:cNvSpPr/>
          <p:nvPr/>
        </p:nvSpPr>
        <p:spPr>
          <a:xfrm>
            <a:off x="8869680" y="3465576"/>
            <a:ext cx="1371600" cy="256032"/>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docs + value</a:t>
            </a:r>
            <a:endParaRPr lang="en-US" sz="1000" dirty="0"/>
          </a:p>
        </p:txBody>
      </p:sp>
      <p:sp>
        <p:nvSpPr>
          <p:cNvPr id="30" name="Shape 22"/>
          <p:cNvSpPr/>
          <p:nvPr/>
        </p:nvSpPr>
        <p:spPr>
          <a:xfrm>
            <a:off x="10991088" y="2514600"/>
            <a:ext cx="603504" cy="603504"/>
          </a:xfrm>
          <a:prstGeom prst="ellipse">
            <a:avLst/>
          </a:prstGeom>
          <a:solidFill>
            <a:srgbClr val="059669"/>
          </a:solidFill>
          <a:ln w="25400">
            <a:solidFill>
              <a:srgbClr val="FFFFFF"/>
            </a:solidFill>
            <a:prstDash val="solid"/>
          </a:ln>
        </p:spPr>
      </p:sp>
      <p:pic>
        <p:nvPicPr>
          <p:cNvPr id="31" name="Image 6" descr="preencoded.png">    </p:cNvPr>
          <p:cNvPicPr>
            <a:picLocks noChangeAspect="1"/>
          </p:cNvPicPr>
          <p:nvPr/>
        </p:nvPicPr>
        <p:blipFill>
          <a:blip r:embed="rId7"/>
          <a:stretch>
            <a:fillRect/>
          </a:stretch>
        </p:blipFill>
        <p:spPr>
          <a:xfrm>
            <a:off x="11146536" y="2670048"/>
            <a:ext cx="292608" cy="292608"/>
          </a:xfrm>
          <a:prstGeom prst="rect">
            <a:avLst/>
          </a:prstGeom>
        </p:spPr>
      </p:pic>
      <p:sp>
        <p:nvSpPr>
          <p:cNvPr id="32" name="Text 23"/>
          <p:cNvSpPr/>
          <p:nvPr/>
        </p:nvSpPr>
        <p:spPr>
          <a:xfrm>
            <a:off x="10607040" y="3200400"/>
            <a:ext cx="137160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Customer</a:t>
            </a:r>
            <a:endParaRPr lang="en-US" sz="1200" dirty="0"/>
          </a:p>
        </p:txBody>
      </p:sp>
      <p:sp>
        <p:nvSpPr>
          <p:cNvPr id="33" name="Text 24"/>
          <p:cNvSpPr/>
          <p:nvPr/>
        </p:nvSpPr>
        <p:spPr>
          <a:xfrm>
            <a:off x="10607040" y="3465576"/>
            <a:ext cx="1371600" cy="256032"/>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delivery</a:t>
            </a:r>
            <a:endParaRPr lang="en-US" sz="1000" dirty="0"/>
          </a:p>
        </p:txBody>
      </p:sp>
      <p:sp>
        <p:nvSpPr>
          <p:cNvPr id="34" name="Text 25"/>
          <p:cNvSpPr/>
          <p:nvPr/>
        </p:nvSpPr>
        <p:spPr>
          <a:xfrm>
            <a:off x="2194560" y="3977640"/>
            <a:ext cx="7772400" cy="457200"/>
          </a:xfrm>
          <a:prstGeom prst="leftArrow">
            <a:avLst/>
          </a:prstGeom>
          <a:solidFill>
            <a:srgbClr val="FEF3C7"/>
          </a:solidFill>
          <a:ln/>
        </p:spPr>
        <p:txBody>
          <a:bodyPr wrap="square" rtlCol="0" anchor="ctr"/>
          <a:lstStyle/>
          <a:p>
            <a:pPr algn="ctr" indent="0" marL="0">
              <a:buNone/>
            </a:pPr>
            <a:r>
              <a:rPr lang="en-US" sz="1300" b="1" dirty="0">
                <a:solidFill>
                  <a:srgbClr val="B45309"/>
                </a:solidFill>
                <a:latin typeface="Calibri" pitchFamily="34" charset="0"/>
                <a:ea typeface="Calibri" pitchFamily="34" charset="-122"/>
                <a:cs typeface="Calibri" pitchFamily="34" charset="-120"/>
              </a:rPr>
              <a:t>RMA returns retrace the same chain — same transaction ID, reversed</a:t>
            </a:r>
            <a:endParaRPr lang="en-US" sz="1300" dirty="0"/>
          </a:p>
        </p:txBody>
      </p:sp>
      <p:sp>
        <p:nvSpPr>
          <p:cNvPr id="35" name="Shape 26"/>
          <p:cNvSpPr/>
          <p:nvPr/>
        </p:nvSpPr>
        <p:spPr>
          <a:xfrm>
            <a:off x="548640" y="4800600"/>
            <a:ext cx="3611880" cy="1554480"/>
          </a:xfrm>
          <a:prstGeom prst="roundRect">
            <a:avLst>
              <a:gd name="adj" fmla="val 5882"/>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36" name="Text 27"/>
          <p:cNvSpPr/>
          <p:nvPr/>
        </p:nvSpPr>
        <p:spPr>
          <a:xfrm>
            <a:off x="804672" y="5010912"/>
            <a:ext cx="3108960" cy="320040"/>
          </a:xfrm>
          <a:prstGeom prst="rect">
            <a:avLst/>
          </a:prstGeom>
          <a:noFill/>
          <a:ln/>
        </p:spPr>
        <p:txBody>
          <a:bodyPr wrap="square" lIns="0" tIns="0" rIns="0" bIns="0" rtlCol="0" anchor="ctr"/>
          <a:lstStyle/>
          <a:p>
            <a:pPr indent="0" marL="0">
              <a:buNone/>
            </a:pPr>
            <a:r>
              <a:rPr lang="en-US" sz="1450" b="1" dirty="0">
                <a:solidFill>
                  <a:srgbClr val="059669"/>
                </a:solidFill>
                <a:latin typeface="Calibri" pitchFamily="34" charset="0"/>
                <a:ea typeface="Calibri" pitchFamily="34" charset="-122"/>
                <a:cs typeface="Calibri" pitchFamily="34" charset="-120"/>
              </a:rPr>
              <a:t>Scan + questionnaire</a:t>
            </a:r>
            <a:endParaRPr lang="en-US" sz="1450" dirty="0"/>
          </a:p>
        </p:txBody>
      </p:sp>
      <p:sp>
        <p:nvSpPr>
          <p:cNvPr id="37" name="Text 28"/>
          <p:cNvSpPr/>
          <p:nvPr/>
        </p:nvSpPr>
        <p:spPr>
          <a:xfrm>
            <a:off x="804672" y="5349240"/>
            <a:ext cx="3154680" cy="91440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Internal use or customer sale — the “why” is captured at the shelf, before the unit leaves.</a:t>
            </a:r>
            <a:endParaRPr lang="en-US" sz="1150" dirty="0"/>
          </a:p>
        </p:txBody>
      </p:sp>
      <p:sp>
        <p:nvSpPr>
          <p:cNvPr id="38" name="Shape 29"/>
          <p:cNvSpPr/>
          <p:nvPr/>
        </p:nvSpPr>
        <p:spPr>
          <a:xfrm>
            <a:off x="4370832" y="4800600"/>
            <a:ext cx="3611880" cy="1554480"/>
          </a:xfrm>
          <a:prstGeom prst="roundRect">
            <a:avLst>
              <a:gd name="adj" fmla="val 5882"/>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39" name="Text 30"/>
          <p:cNvSpPr/>
          <p:nvPr/>
        </p:nvSpPr>
        <p:spPr>
          <a:xfrm>
            <a:off x="4626864" y="5010912"/>
            <a:ext cx="3108960" cy="320040"/>
          </a:xfrm>
          <a:prstGeom prst="rect">
            <a:avLst/>
          </a:prstGeom>
          <a:noFill/>
          <a:ln/>
        </p:spPr>
        <p:txBody>
          <a:bodyPr wrap="square" lIns="0" tIns="0" rIns="0" bIns="0" rtlCol="0" anchor="ctr"/>
          <a:lstStyle/>
          <a:p>
            <a:pPr indent="0" marL="0">
              <a:buNone/>
            </a:pPr>
            <a:r>
              <a:rPr lang="en-US" sz="1450" b="1" dirty="0">
                <a:solidFill>
                  <a:srgbClr val="059669"/>
                </a:solidFill>
                <a:latin typeface="Calibri" pitchFamily="34" charset="0"/>
                <a:ea typeface="Calibri" pitchFamily="34" charset="-122"/>
                <a:cs typeface="Calibri" pitchFamily="34" charset="-120"/>
              </a:rPr>
              <a:t>Dropdown-simple hand-offs</a:t>
            </a:r>
            <a:endParaRPr lang="en-US" sz="1450" dirty="0"/>
          </a:p>
        </p:txBody>
      </p:sp>
      <p:sp>
        <p:nvSpPr>
          <p:cNvPr id="40" name="Text 31"/>
          <p:cNvSpPr/>
          <p:nvPr/>
        </p:nvSpPr>
        <p:spPr>
          <a:xfrm>
            <a:off x="4626864" y="5349240"/>
            <a:ext cx="3154680" cy="91440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Type, vendor, location, transaction date, documents. A truck driver can log a leg in 15 seconds.</a:t>
            </a:r>
            <a:endParaRPr lang="en-US" sz="1150" dirty="0"/>
          </a:p>
        </p:txBody>
      </p:sp>
      <p:sp>
        <p:nvSpPr>
          <p:cNvPr id="41" name="Shape 32"/>
          <p:cNvSpPr/>
          <p:nvPr/>
        </p:nvSpPr>
        <p:spPr>
          <a:xfrm>
            <a:off x="8193024" y="4800600"/>
            <a:ext cx="3611880" cy="1554480"/>
          </a:xfrm>
          <a:prstGeom prst="roundRect">
            <a:avLst>
              <a:gd name="adj" fmla="val 5882"/>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42" name="Text 33"/>
          <p:cNvSpPr/>
          <p:nvPr/>
        </p:nvSpPr>
        <p:spPr>
          <a:xfrm>
            <a:off x="8449056" y="5010912"/>
            <a:ext cx="3108960" cy="320040"/>
          </a:xfrm>
          <a:prstGeom prst="rect">
            <a:avLst/>
          </a:prstGeom>
          <a:noFill/>
          <a:ln/>
        </p:spPr>
        <p:txBody>
          <a:bodyPr wrap="square" lIns="0" tIns="0" rIns="0" bIns="0" rtlCol="0" anchor="ctr"/>
          <a:lstStyle/>
          <a:p>
            <a:pPr indent="0" marL="0">
              <a:buNone/>
            </a:pPr>
            <a:r>
              <a:rPr lang="en-US" sz="1450" b="1" dirty="0">
                <a:solidFill>
                  <a:srgbClr val="059669"/>
                </a:solidFill>
                <a:latin typeface="Calibri" pitchFamily="34" charset="0"/>
                <a:ea typeface="Calibri" pitchFamily="34" charset="-122"/>
                <a:cs typeface="Calibri" pitchFamily="34" charset="-120"/>
              </a:rPr>
              <a:t>Customs doc engine</a:t>
            </a:r>
            <a:endParaRPr lang="en-US" sz="1450" dirty="0"/>
          </a:p>
        </p:txBody>
      </p:sp>
      <p:sp>
        <p:nvSpPr>
          <p:cNvPr id="43" name="Text 34"/>
          <p:cNvSpPr/>
          <p:nvPr/>
        </p:nvSpPr>
        <p:spPr>
          <a:xfrm>
            <a:off x="8449056" y="5349240"/>
            <a:ext cx="3154680" cy="91440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Country-by-country checklists plus a valuation worksheet for the customs-price-vs-sales-price gap.</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One $1M shipment, door to door.</a:t>
            </a:r>
            <a:endParaRPr lang="en-US" sz="3400" dirty="0"/>
          </a:p>
        </p:txBody>
      </p:sp>
      <p:sp>
        <p:nvSpPr>
          <p:cNvPr id="3" name="Text 1"/>
          <p:cNvSpPr/>
          <p:nvPr/>
        </p:nvSpPr>
        <p:spPr>
          <a:xfrm>
            <a:off x="548640" y="1115568"/>
            <a:ext cx="1069848" cy="347472"/>
          </a:xfrm>
          <a:prstGeom prst="roundRect">
            <a:avLst>
              <a:gd name="adj" fmla="val 50000"/>
            </a:avLst>
          </a:prstGeom>
          <a:solidFill>
            <a:srgbClr val="0F172A"/>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$1,000,000</a:t>
            </a:r>
            <a:endParaRPr lang="en-US" sz="1200" dirty="0"/>
          </a:p>
        </p:txBody>
      </p:sp>
      <p:sp>
        <p:nvSpPr>
          <p:cNvPr id="4" name="Text 2"/>
          <p:cNvSpPr/>
          <p:nvPr/>
        </p:nvSpPr>
        <p:spPr>
          <a:xfrm>
            <a:off x="1783080" y="1115568"/>
            <a:ext cx="1069848" cy="347472"/>
          </a:xfrm>
          <a:prstGeom prst="roundRect">
            <a:avLst>
              <a:gd name="adj" fmla="val 50000"/>
            </a:avLst>
          </a:prstGeom>
          <a:solidFill>
            <a:srgbClr val="E0F2FE"/>
          </a:solid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Perishable</a:t>
            </a:r>
            <a:endParaRPr lang="en-US" sz="1200" dirty="0"/>
          </a:p>
        </p:txBody>
      </p:sp>
      <p:sp>
        <p:nvSpPr>
          <p:cNvPr id="5" name="Text 3"/>
          <p:cNvSpPr/>
          <p:nvPr/>
        </p:nvSpPr>
        <p:spPr>
          <a:xfrm>
            <a:off x="3017520" y="1115568"/>
            <a:ext cx="1458468" cy="347472"/>
          </a:xfrm>
          <a:prstGeom prst="roundRect">
            <a:avLst>
              <a:gd name="adj" fmla="val 50000"/>
            </a:avLst>
          </a:prstGeom>
          <a:solidFill>
            <a:srgbClr val="E0F2FE"/>
          </a:solid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−2 °C + dry ice</a:t>
            </a:r>
            <a:endParaRPr lang="en-US" sz="1200" dirty="0"/>
          </a:p>
        </p:txBody>
      </p:sp>
      <p:sp>
        <p:nvSpPr>
          <p:cNvPr id="6" name="Text 4"/>
          <p:cNvSpPr/>
          <p:nvPr/>
        </p:nvSpPr>
        <p:spPr>
          <a:xfrm>
            <a:off x="4640580" y="1115568"/>
            <a:ext cx="2157984" cy="347472"/>
          </a:xfrm>
          <a:prstGeom prst="roundRect">
            <a:avLst>
              <a:gd name="adj" fmla="val 50000"/>
            </a:avLst>
          </a:prstGeom>
          <a:solidFill>
            <a:srgbClr val="E0F2FE"/>
          </a:solid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FOB destination — Geneva</a:t>
            </a:r>
            <a:endParaRPr lang="en-US" sz="1200" dirty="0"/>
          </a:p>
        </p:txBody>
      </p:sp>
      <p:sp>
        <p:nvSpPr>
          <p:cNvPr id="7" name="Text 5"/>
          <p:cNvSpPr/>
          <p:nvPr/>
        </p:nvSpPr>
        <p:spPr>
          <a:xfrm>
            <a:off x="6963156" y="1115568"/>
            <a:ext cx="1243584" cy="347472"/>
          </a:xfrm>
          <a:prstGeom prst="roundRect">
            <a:avLst>
              <a:gd name="adj" fmla="val 50000"/>
            </a:avLst>
          </a:prstGeom>
          <a:solidFill>
            <a:srgbClr val="E0F2FE"/>
          </a:solidFill>
          <a:ln/>
        </p:spPr>
        <p:txBody>
          <a:bodyPr wrap="square" rtlCol="0" anchor="ctr"/>
          <a:lstStyle/>
          <a:p>
            <a:pPr algn="ctr" indent="0" marL="0">
              <a:buNone/>
            </a:pPr>
            <a:r>
              <a:rPr lang="en-US" sz="1200" b="1" dirty="0">
                <a:solidFill>
                  <a:srgbClr val="0369A1"/>
                </a:solidFill>
                <a:latin typeface="Courier New" pitchFamily="34" charset="0"/>
                <a:ea typeface="Courier New" pitchFamily="34" charset="-122"/>
                <a:cs typeface="Courier New" pitchFamily="34" charset="-120"/>
              </a:rPr>
              <a:t>TX-20499</a:t>
            </a:r>
            <a:endParaRPr lang="en-US" sz="1200" dirty="0"/>
          </a:p>
        </p:txBody>
      </p:sp>
      <p:sp>
        <p:nvSpPr>
          <p:cNvPr id="8" name="Shape 6"/>
          <p:cNvSpPr/>
          <p:nvPr/>
        </p:nvSpPr>
        <p:spPr>
          <a:xfrm>
            <a:off x="1188720" y="2450592"/>
            <a:ext cx="9784080" cy="0"/>
          </a:xfrm>
          <a:prstGeom prst="line">
            <a:avLst/>
          </a:prstGeom>
          <a:noFill/>
          <a:ln w="31750">
            <a:solidFill>
              <a:srgbClr val="059669"/>
            </a:solidFill>
            <a:prstDash val="solid"/>
          </a:ln>
        </p:spPr>
      </p:sp>
      <p:sp>
        <p:nvSpPr>
          <p:cNvPr id="9" name="Shape 7"/>
          <p:cNvSpPr/>
          <p:nvPr/>
        </p:nvSpPr>
        <p:spPr>
          <a:xfrm>
            <a:off x="612648" y="2148840"/>
            <a:ext cx="603504" cy="603504"/>
          </a:xfrm>
          <a:prstGeom prst="ellipse">
            <a:avLst/>
          </a:prstGeom>
          <a:solidFill>
            <a:srgbClr val="059669"/>
          </a:solidFill>
          <a:ln w="25400">
            <a:solidFill>
              <a:srgbClr val="FFFFFF"/>
            </a:solidFill>
            <a:prstDash val="solid"/>
          </a:ln>
        </p:spPr>
      </p:sp>
      <p:pic>
        <p:nvPicPr>
          <p:cNvPr id="10" name="Image 0" descr="preencoded.png">    </p:cNvPr>
          <p:cNvPicPr>
            <a:picLocks noChangeAspect="1"/>
          </p:cNvPicPr>
          <p:nvPr/>
        </p:nvPicPr>
        <p:blipFill>
          <a:blip r:embed="rId1"/>
          <a:stretch>
            <a:fillRect/>
          </a:stretch>
        </p:blipFill>
        <p:spPr>
          <a:xfrm>
            <a:off x="768096" y="2304288"/>
            <a:ext cx="292608" cy="292608"/>
          </a:xfrm>
          <a:prstGeom prst="rect">
            <a:avLst/>
          </a:prstGeom>
        </p:spPr>
      </p:pic>
      <p:sp>
        <p:nvSpPr>
          <p:cNvPr id="11" name="Text 8"/>
          <p:cNvSpPr/>
          <p:nvPr/>
        </p:nvSpPr>
        <p:spPr>
          <a:xfrm>
            <a:off x="45720" y="2834640"/>
            <a:ext cx="173736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Palo Alto</a:t>
            </a:r>
            <a:endParaRPr lang="en-US" sz="1300" dirty="0"/>
          </a:p>
        </p:txBody>
      </p:sp>
      <p:sp>
        <p:nvSpPr>
          <p:cNvPr id="12" name="Text 9"/>
          <p:cNvSpPr/>
          <p:nvPr/>
        </p:nvSpPr>
        <p:spPr>
          <a:xfrm>
            <a:off x="45720" y="3108960"/>
            <a:ext cx="1737360" cy="54864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Cold Lab pick — reefer + dry ice</a:t>
            </a:r>
            <a:endParaRPr lang="en-US" sz="950" dirty="0"/>
          </a:p>
        </p:txBody>
      </p:sp>
      <p:sp>
        <p:nvSpPr>
          <p:cNvPr id="13" name="Shape 10"/>
          <p:cNvSpPr/>
          <p:nvPr/>
        </p:nvSpPr>
        <p:spPr>
          <a:xfrm>
            <a:off x="2679192" y="2148840"/>
            <a:ext cx="603504" cy="603504"/>
          </a:xfrm>
          <a:prstGeom prst="ellipse">
            <a:avLst/>
          </a:prstGeom>
          <a:solidFill>
            <a:srgbClr val="059669"/>
          </a:solidFill>
          <a:ln w="25400">
            <a:solidFill>
              <a:srgbClr val="FFFFFF"/>
            </a:solidFill>
            <a:prstDash val="solid"/>
          </a:ln>
        </p:spPr>
      </p:sp>
      <p:pic>
        <p:nvPicPr>
          <p:cNvPr id="14" name="Image 1" descr="preencoded.png">    </p:cNvPr>
          <p:cNvPicPr>
            <a:picLocks noChangeAspect="1"/>
          </p:cNvPicPr>
          <p:nvPr/>
        </p:nvPicPr>
        <p:blipFill>
          <a:blip r:embed="rId2"/>
          <a:stretch>
            <a:fillRect/>
          </a:stretch>
        </p:blipFill>
        <p:spPr>
          <a:xfrm>
            <a:off x="2834640" y="2304288"/>
            <a:ext cx="292608" cy="292608"/>
          </a:xfrm>
          <a:prstGeom prst="rect">
            <a:avLst/>
          </a:prstGeom>
        </p:spPr>
      </p:pic>
      <p:sp>
        <p:nvSpPr>
          <p:cNvPr id="15" name="Text 11"/>
          <p:cNvSpPr/>
          <p:nvPr/>
        </p:nvSpPr>
        <p:spPr>
          <a:xfrm>
            <a:off x="2112264" y="2834640"/>
            <a:ext cx="173736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New York</a:t>
            </a:r>
            <a:endParaRPr lang="en-US" sz="1300" dirty="0"/>
          </a:p>
        </p:txBody>
      </p:sp>
      <p:sp>
        <p:nvSpPr>
          <p:cNvPr id="16" name="Text 12"/>
          <p:cNvSpPr/>
          <p:nvPr/>
        </p:nvSpPr>
        <p:spPr>
          <a:xfrm>
            <a:off x="2112264" y="3108960"/>
            <a:ext cx="1737360" cy="54864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Reefer truck · re-ice · partner API</a:t>
            </a:r>
            <a:endParaRPr lang="en-US" sz="950" dirty="0"/>
          </a:p>
        </p:txBody>
      </p:sp>
      <p:sp>
        <p:nvSpPr>
          <p:cNvPr id="17" name="Shape 13"/>
          <p:cNvSpPr/>
          <p:nvPr/>
        </p:nvSpPr>
        <p:spPr>
          <a:xfrm>
            <a:off x="4745736" y="2148840"/>
            <a:ext cx="603504" cy="603504"/>
          </a:xfrm>
          <a:prstGeom prst="ellipse">
            <a:avLst/>
          </a:prstGeom>
          <a:solidFill>
            <a:srgbClr val="059669"/>
          </a:solidFill>
          <a:ln w="254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4901184" y="2304288"/>
            <a:ext cx="292608" cy="292608"/>
          </a:xfrm>
          <a:prstGeom prst="rect">
            <a:avLst/>
          </a:prstGeom>
        </p:spPr>
      </p:pic>
      <p:sp>
        <p:nvSpPr>
          <p:cNvPr id="19" name="Text 14"/>
          <p:cNvSpPr/>
          <p:nvPr/>
        </p:nvSpPr>
        <p:spPr>
          <a:xfrm>
            <a:off x="4178808" y="2834640"/>
            <a:ext cx="173736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Atlantic</a:t>
            </a:r>
            <a:endParaRPr lang="en-US" sz="1300" dirty="0"/>
          </a:p>
        </p:txBody>
      </p:sp>
      <p:sp>
        <p:nvSpPr>
          <p:cNvPr id="20" name="Text 15"/>
          <p:cNvSpPr/>
          <p:nvPr/>
        </p:nvSpPr>
        <p:spPr>
          <a:xfrm>
            <a:off x="4178808" y="3108960"/>
            <a:ext cx="1737360" cy="54864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MV Crown Atlantic — hold at −2 °C</a:t>
            </a:r>
            <a:endParaRPr lang="en-US" sz="950" dirty="0"/>
          </a:p>
        </p:txBody>
      </p:sp>
      <p:sp>
        <p:nvSpPr>
          <p:cNvPr id="21" name="Shape 16"/>
          <p:cNvSpPr/>
          <p:nvPr/>
        </p:nvSpPr>
        <p:spPr>
          <a:xfrm>
            <a:off x="6812280" y="2148840"/>
            <a:ext cx="603504" cy="603504"/>
          </a:xfrm>
          <a:prstGeom prst="ellipse">
            <a:avLst/>
          </a:prstGeom>
          <a:solidFill>
            <a:srgbClr val="B45309"/>
          </a:solidFill>
          <a:ln w="25400">
            <a:solidFill>
              <a:srgbClr val="FFFFFF"/>
            </a:solidFill>
            <a:prstDash val="solid"/>
          </a:ln>
        </p:spPr>
      </p:sp>
      <p:pic>
        <p:nvPicPr>
          <p:cNvPr id="22" name="Image 3" descr="preencoded.png">    </p:cNvPr>
          <p:cNvPicPr>
            <a:picLocks noChangeAspect="1"/>
          </p:cNvPicPr>
          <p:nvPr/>
        </p:nvPicPr>
        <p:blipFill>
          <a:blip r:embed="rId4"/>
          <a:stretch>
            <a:fillRect/>
          </a:stretch>
        </p:blipFill>
        <p:spPr>
          <a:xfrm>
            <a:off x="6967728" y="2304288"/>
            <a:ext cx="292608" cy="292608"/>
          </a:xfrm>
          <a:prstGeom prst="rect">
            <a:avLst/>
          </a:prstGeom>
        </p:spPr>
      </p:pic>
      <p:sp>
        <p:nvSpPr>
          <p:cNvPr id="23" name="Text 17"/>
          <p:cNvSpPr/>
          <p:nvPr/>
        </p:nvSpPr>
        <p:spPr>
          <a:xfrm>
            <a:off x="6245352" y="2834640"/>
            <a:ext cx="173736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UK</a:t>
            </a:r>
            <a:endParaRPr lang="en-US" sz="1300" dirty="0"/>
          </a:p>
        </p:txBody>
      </p:sp>
      <p:sp>
        <p:nvSpPr>
          <p:cNvPr id="24" name="Text 18"/>
          <p:cNvSpPr/>
          <p:nvPr/>
        </p:nvSpPr>
        <p:spPr>
          <a:xfrm>
            <a:off x="6245352" y="3108960"/>
            <a:ext cx="1737360" cy="54864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Southampton T1 transit + QR scan</a:t>
            </a:r>
            <a:endParaRPr lang="en-US" sz="950" dirty="0"/>
          </a:p>
        </p:txBody>
      </p:sp>
      <p:sp>
        <p:nvSpPr>
          <p:cNvPr id="25" name="Shape 19"/>
          <p:cNvSpPr/>
          <p:nvPr/>
        </p:nvSpPr>
        <p:spPr>
          <a:xfrm>
            <a:off x="8878824" y="2148840"/>
            <a:ext cx="603504" cy="603504"/>
          </a:xfrm>
          <a:prstGeom prst="ellipse">
            <a:avLst/>
          </a:prstGeom>
          <a:solidFill>
            <a:srgbClr val="B45309"/>
          </a:solidFill>
          <a:ln w="254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9034272" y="2304288"/>
            <a:ext cx="292608" cy="292608"/>
          </a:xfrm>
          <a:prstGeom prst="rect">
            <a:avLst/>
          </a:prstGeom>
        </p:spPr>
      </p:pic>
      <p:sp>
        <p:nvSpPr>
          <p:cNvPr id="27" name="Text 20"/>
          <p:cNvSpPr/>
          <p:nvPr/>
        </p:nvSpPr>
        <p:spPr>
          <a:xfrm>
            <a:off x="8311896" y="2834640"/>
            <a:ext cx="173736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Poland</a:t>
            </a:r>
            <a:endParaRPr lang="en-US" sz="1300" dirty="0"/>
          </a:p>
        </p:txBody>
      </p:sp>
      <p:sp>
        <p:nvSpPr>
          <p:cNvPr id="28" name="Text 21"/>
          <p:cNvSpPr/>
          <p:nvPr/>
        </p:nvSpPr>
        <p:spPr>
          <a:xfrm>
            <a:off x="8311896" y="3108960"/>
            <a:ext cx="1737360" cy="54864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Gdansk EU entry · customs · re-ice</a:t>
            </a:r>
            <a:endParaRPr lang="en-US" sz="950" dirty="0"/>
          </a:p>
        </p:txBody>
      </p:sp>
      <p:sp>
        <p:nvSpPr>
          <p:cNvPr id="29" name="Shape 22"/>
          <p:cNvSpPr/>
          <p:nvPr/>
        </p:nvSpPr>
        <p:spPr>
          <a:xfrm>
            <a:off x="10945368" y="2148840"/>
            <a:ext cx="603504" cy="603504"/>
          </a:xfrm>
          <a:prstGeom prst="ellipse">
            <a:avLst/>
          </a:prstGeom>
          <a:solidFill>
            <a:srgbClr val="059669"/>
          </a:solidFill>
          <a:ln w="25400">
            <a:solidFill>
              <a:srgbClr val="FFFFFF"/>
            </a:solidFill>
            <a:prstDash val="solid"/>
          </a:ln>
        </p:spPr>
      </p:sp>
      <p:pic>
        <p:nvPicPr>
          <p:cNvPr id="30" name="Image 5" descr="preencoded.png">    </p:cNvPr>
          <p:cNvPicPr>
            <a:picLocks noChangeAspect="1"/>
          </p:cNvPicPr>
          <p:nvPr/>
        </p:nvPicPr>
        <p:blipFill>
          <a:blip r:embed="rId6"/>
          <a:stretch>
            <a:fillRect/>
          </a:stretch>
        </p:blipFill>
        <p:spPr>
          <a:xfrm>
            <a:off x="11100816" y="2304288"/>
            <a:ext cx="292608" cy="292608"/>
          </a:xfrm>
          <a:prstGeom prst="rect">
            <a:avLst/>
          </a:prstGeom>
        </p:spPr>
      </p:pic>
      <p:sp>
        <p:nvSpPr>
          <p:cNvPr id="31" name="Text 23"/>
          <p:cNvSpPr/>
          <p:nvPr/>
        </p:nvSpPr>
        <p:spPr>
          <a:xfrm>
            <a:off x="10378440" y="2834640"/>
            <a:ext cx="173736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Switzerland</a:t>
            </a:r>
            <a:endParaRPr lang="en-US" sz="1300" dirty="0"/>
          </a:p>
        </p:txBody>
      </p:sp>
      <p:sp>
        <p:nvSpPr>
          <p:cNvPr id="32" name="Text 24"/>
          <p:cNvSpPr/>
          <p:nvPr/>
        </p:nvSpPr>
        <p:spPr>
          <a:xfrm>
            <a:off x="10378440" y="3108960"/>
            <a:ext cx="1737360" cy="54864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Geneva e-dec — revenue recognizes</a:t>
            </a:r>
            <a:endParaRPr lang="en-US" sz="950" dirty="0"/>
          </a:p>
        </p:txBody>
      </p:sp>
      <p:sp>
        <p:nvSpPr>
          <p:cNvPr id="33" name="Shape 25"/>
          <p:cNvSpPr/>
          <p:nvPr/>
        </p:nvSpPr>
        <p:spPr>
          <a:xfrm>
            <a:off x="548640" y="4160520"/>
            <a:ext cx="3611880"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34" name="Text 26"/>
          <p:cNvSpPr/>
          <p:nvPr/>
        </p:nvSpPr>
        <p:spPr>
          <a:xfrm>
            <a:off x="804672" y="4370832"/>
            <a:ext cx="3154680" cy="50292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Cold chain proven</a:t>
            </a:r>
            <a:endParaRPr lang="en-US" sz="1400" dirty="0"/>
          </a:p>
        </p:txBody>
      </p:sp>
      <p:sp>
        <p:nvSpPr>
          <p:cNvPr id="35" name="Text 27"/>
          <p:cNvSpPr/>
          <p:nvPr/>
        </p:nvSpPr>
        <p:spPr>
          <a:xfrm>
            <a:off x="804672" y="4864608"/>
            <a:ext cx="3154680" cy="10972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Every hand-off logs a re-icing event and temperature record against TX-20499 — spoilage risk is visible before it becomes a $1M write-off.</a:t>
            </a:r>
            <a:endParaRPr lang="en-US" sz="1100" dirty="0"/>
          </a:p>
        </p:txBody>
      </p:sp>
      <p:sp>
        <p:nvSpPr>
          <p:cNvPr id="36" name="Shape 28"/>
          <p:cNvSpPr/>
          <p:nvPr/>
        </p:nvSpPr>
        <p:spPr>
          <a:xfrm>
            <a:off x="4370832" y="4160520"/>
            <a:ext cx="3611880"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37" name="Text 29"/>
          <p:cNvSpPr/>
          <p:nvPr/>
        </p:nvSpPr>
        <p:spPr>
          <a:xfrm>
            <a:off x="4626864" y="4370832"/>
            <a:ext cx="3154680" cy="50292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Three customs regimes, ready early</a:t>
            </a:r>
            <a:endParaRPr lang="en-US" sz="1400" dirty="0"/>
          </a:p>
        </p:txBody>
      </p:sp>
      <p:sp>
        <p:nvSpPr>
          <p:cNvPr id="38" name="Text 30"/>
          <p:cNvSpPr/>
          <p:nvPr/>
        </p:nvSpPr>
        <p:spPr>
          <a:xfrm>
            <a:off x="4626864" y="4864608"/>
            <a:ext cx="3154680" cy="10972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UK transit, EU entry at Gdansk, Swiss import — each checklist prepared before arrival, and EU hand-off QRs keep every carrier on the same transaction ID.</a:t>
            </a:r>
            <a:endParaRPr lang="en-US" sz="1100" dirty="0"/>
          </a:p>
        </p:txBody>
      </p:sp>
      <p:sp>
        <p:nvSpPr>
          <p:cNvPr id="39" name="Shape 31"/>
          <p:cNvSpPr/>
          <p:nvPr/>
        </p:nvSpPr>
        <p:spPr>
          <a:xfrm>
            <a:off x="8193024" y="4160520"/>
            <a:ext cx="3611880"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40" name="Text 32"/>
          <p:cNvSpPr/>
          <p:nvPr/>
        </p:nvSpPr>
        <p:spPr>
          <a:xfrm>
            <a:off x="8449056" y="4370832"/>
            <a:ext cx="3154680" cy="50292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Revenue holds until Geneva</a:t>
            </a:r>
            <a:endParaRPr lang="en-US" sz="1400" dirty="0"/>
          </a:p>
        </p:txBody>
      </p:sp>
      <p:sp>
        <p:nvSpPr>
          <p:cNvPr id="41" name="Text 33"/>
          <p:cNvSpPr/>
          <p:nvPr/>
        </p:nvSpPr>
        <p:spPr>
          <a:xfrm>
            <a:off x="8449056" y="4864608"/>
            <a:ext cx="3154680" cy="10972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FOB destination: the $1M recognizes only at customer acceptance with the temperature log. The custody chain is the cutoff evidence.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300" b="1" dirty="0">
                <a:solidFill>
                  <a:srgbClr val="0F172A"/>
                </a:solidFill>
                <a:latin typeface="Calibri" pitchFamily="34" charset="0"/>
                <a:ea typeface="Calibri" pitchFamily="34" charset="-122"/>
                <a:cs typeface="Calibri" pitchFamily="34" charset="-120"/>
              </a:rPr>
              <a:t>The demo: a phone in the warehouse, truth in the ledger.</a:t>
            </a:r>
            <a:endParaRPr lang="en-US" sz="3300" dirty="0"/>
          </a:p>
        </p:txBody>
      </p:sp>
      <p:sp>
        <p:nvSpPr>
          <p:cNvPr id="3" name="Shape 1"/>
          <p:cNvSpPr/>
          <p:nvPr/>
        </p:nvSpPr>
        <p:spPr>
          <a:xfrm>
            <a:off x="502920" y="1371600"/>
            <a:ext cx="1810512" cy="2880360"/>
          </a:xfrm>
          <a:prstGeom prst="roundRect">
            <a:avLst>
              <a:gd name="adj" fmla="val 505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4" name="Shape 2"/>
          <p:cNvSpPr/>
          <p:nvPr/>
        </p:nvSpPr>
        <p:spPr>
          <a:xfrm>
            <a:off x="722376" y="1645920"/>
            <a:ext cx="512064" cy="512064"/>
          </a:xfrm>
          <a:prstGeom prst="ellipse">
            <a:avLst/>
          </a:prstGeom>
          <a:solidFill>
            <a:srgbClr val="D1FAE5"/>
          </a:solidFill>
          <a:ln/>
        </p:spPr>
      </p:sp>
      <p:pic>
        <p:nvPicPr>
          <p:cNvPr id="5" name="Image 0" descr="preencoded.png">    </p:cNvPr>
          <p:cNvPicPr>
            <a:picLocks noChangeAspect="1"/>
          </p:cNvPicPr>
          <p:nvPr/>
        </p:nvPicPr>
        <p:blipFill>
          <a:blip r:embed="rId1"/>
          <a:stretch>
            <a:fillRect/>
          </a:stretch>
        </p:blipFill>
        <p:spPr>
          <a:xfrm>
            <a:off x="855513" y="1779057"/>
            <a:ext cx="245791" cy="245791"/>
          </a:xfrm>
          <a:prstGeom prst="rect">
            <a:avLst/>
          </a:prstGeom>
        </p:spPr>
      </p:pic>
      <p:sp>
        <p:nvSpPr>
          <p:cNvPr id="6" name="Text 3"/>
          <p:cNvSpPr/>
          <p:nvPr/>
        </p:nvSpPr>
        <p:spPr>
          <a:xfrm>
            <a:off x="722376" y="2304288"/>
            <a:ext cx="141732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Scan</a:t>
            </a:r>
            <a:endParaRPr lang="en-US" sz="1600" dirty="0"/>
          </a:p>
        </p:txBody>
      </p:sp>
      <p:sp>
        <p:nvSpPr>
          <p:cNvPr id="7" name="Text 4"/>
          <p:cNvSpPr/>
          <p:nvPr/>
        </p:nvSpPr>
        <p:spPr>
          <a:xfrm>
            <a:off x="722376" y="2670048"/>
            <a:ext cx="1417320" cy="1463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Simulated barcode scan + the “why is it leaving?” intake.</a:t>
            </a:r>
            <a:endParaRPr lang="en-US" sz="1050" dirty="0"/>
          </a:p>
        </p:txBody>
      </p:sp>
      <p:sp>
        <p:nvSpPr>
          <p:cNvPr id="8" name="Shape 5"/>
          <p:cNvSpPr/>
          <p:nvPr/>
        </p:nvSpPr>
        <p:spPr>
          <a:xfrm>
            <a:off x="2377440" y="1371600"/>
            <a:ext cx="1810512" cy="2880360"/>
          </a:xfrm>
          <a:prstGeom prst="roundRect">
            <a:avLst>
              <a:gd name="adj" fmla="val 505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9" name="Shape 6"/>
          <p:cNvSpPr/>
          <p:nvPr/>
        </p:nvSpPr>
        <p:spPr>
          <a:xfrm>
            <a:off x="2596896" y="1645920"/>
            <a:ext cx="512064" cy="512064"/>
          </a:xfrm>
          <a:prstGeom prst="ellipse">
            <a:avLst/>
          </a:prstGeom>
          <a:solidFill>
            <a:srgbClr val="D1FAE5"/>
          </a:solidFill>
          <a:ln/>
        </p:spPr>
      </p:sp>
      <p:pic>
        <p:nvPicPr>
          <p:cNvPr id="10" name="Image 1" descr="preencoded.png">    </p:cNvPr>
          <p:cNvPicPr>
            <a:picLocks noChangeAspect="1"/>
          </p:cNvPicPr>
          <p:nvPr/>
        </p:nvPicPr>
        <p:blipFill>
          <a:blip r:embed="rId2"/>
          <a:stretch>
            <a:fillRect/>
          </a:stretch>
        </p:blipFill>
        <p:spPr>
          <a:xfrm>
            <a:off x="2730033" y="1779057"/>
            <a:ext cx="245791" cy="245791"/>
          </a:xfrm>
          <a:prstGeom prst="rect">
            <a:avLst/>
          </a:prstGeom>
        </p:spPr>
      </p:pic>
      <p:sp>
        <p:nvSpPr>
          <p:cNvPr id="11" name="Text 7"/>
          <p:cNvSpPr/>
          <p:nvPr/>
        </p:nvSpPr>
        <p:spPr>
          <a:xfrm>
            <a:off x="2596896" y="2304288"/>
            <a:ext cx="141732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Plan</a:t>
            </a:r>
            <a:endParaRPr lang="en-US" sz="1600" dirty="0"/>
          </a:p>
        </p:txBody>
      </p:sp>
      <p:sp>
        <p:nvSpPr>
          <p:cNvPr id="12" name="Text 8"/>
          <p:cNvSpPr/>
          <p:nvPr/>
        </p:nvSpPr>
        <p:spPr>
          <a:xfrm>
            <a:off x="2596896" y="2670048"/>
            <a:ext cx="1417320" cy="1463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AI vendor search: ranked routes vs. the need-by date.</a:t>
            </a:r>
            <a:endParaRPr lang="en-US" sz="1050" dirty="0"/>
          </a:p>
        </p:txBody>
      </p:sp>
      <p:sp>
        <p:nvSpPr>
          <p:cNvPr id="13" name="Shape 9"/>
          <p:cNvSpPr/>
          <p:nvPr/>
        </p:nvSpPr>
        <p:spPr>
          <a:xfrm>
            <a:off x="4251960" y="1371600"/>
            <a:ext cx="1810512" cy="2880360"/>
          </a:xfrm>
          <a:prstGeom prst="roundRect">
            <a:avLst>
              <a:gd name="adj" fmla="val 505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4" name="Shape 10"/>
          <p:cNvSpPr/>
          <p:nvPr/>
        </p:nvSpPr>
        <p:spPr>
          <a:xfrm>
            <a:off x="4471416" y="1645920"/>
            <a:ext cx="512064" cy="512064"/>
          </a:xfrm>
          <a:prstGeom prst="ellipse">
            <a:avLst/>
          </a:prstGeom>
          <a:solidFill>
            <a:srgbClr val="CCFBF1"/>
          </a:solidFill>
          <a:ln/>
        </p:spPr>
      </p:sp>
      <p:pic>
        <p:nvPicPr>
          <p:cNvPr id="15" name="Image 2" descr="preencoded.png">    </p:cNvPr>
          <p:cNvPicPr>
            <a:picLocks noChangeAspect="1"/>
          </p:cNvPicPr>
          <p:nvPr/>
        </p:nvPicPr>
        <p:blipFill>
          <a:blip r:embed="rId3"/>
          <a:stretch>
            <a:fillRect/>
          </a:stretch>
        </p:blipFill>
        <p:spPr>
          <a:xfrm>
            <a:off x="4604553" y="1779057"/>
            <a:ext cx="245791" cy="245791"/>
          </a:xfrm>
          <a:prstGeom prst="rect">
            <a:avLst/>
          </a:prstGeom>
        </p:spPr>
      </p:pic>
      <p:sp>
        <p:nvSpPr>
          <p:cNvPr id="16" name="Text 11"/>
          <p:cNvSpPr/>
          <p:nvPr/>
        </p:nvSpPr>
        <p:spPr>
          <a:xfrm>
            <a:off x="4471416" y="2304288"/>
            <a:ext cx="141732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Track</a:t>
            </a:r>
            <a:endParaRPr lang="en-US" sz="1600" dirty="0"/>
          </a:p>
        </p:txBody>
      </p:sp>
      <p:sp>
        <p:nvSpPr>
          <p:cNvPr id="17" name="Text 12"/>
          <p:cNvSpPr/>
          <p:nvPr/>
        </p:nvSpPr>
        <p:spPr>
          <a:xfrm>
            <a:off x="4471416" y="2670048"/>
            <a:ext cx="1417320" cy="1463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Custody timeline; dropdown hand-offs; one TX ID; EU QR.</a:t>
            </a:r>
            <a:endParaRPr lang="en-US" sz="1050" dirty="0"/>
          </a:p>
        </p:txBody>
      </p:sp>
      <p:sp>
        <p:nvSpPr>
          <p:cNvPr id="18" name="Shape 13"/>
          <p:cNvSpPr/>
          <p:nvPr/>
        </p:nvSpPr>
        <p:spPr>
          <a:xfrm>
            <a:off x="6126480" y="1371600"/>
            <a:ext cx="1810512" cy="2880360"/>
          </a:xfrm>
          <a:prstGeom prst="roundRect">
            <a:avLst>
              <a:gd name="adj" fmla="val 505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9" name="Shape 14"/>
          <p:cNvSpPr/>
          <p:nvPr/>
        </p:nvSpPr>
        <p:spPr>
          <a:xfrm>
            <a:off x="6345936" y="1645920"/>
            <a:ext cx="512064" cy="512064"/>
          </a:xfrm>
          <a:prstGeom prst="ellipse">
            <a:avLst/>
          </a:prstGeom>
          <a:solidFill>
            <a:srgbClr val="FEF3C7"/>
          </a:solidFill>
          <a:ln/>
        </p:spPr>
      </p:sp>
      <p:pic>
        <p:nvPicPr>
          <p:cNvPr id="20" name="Image 3" descr="preencoded.png">    </p:cNvPr>
          <p:cNvPicPr>
            <a:picLocks noChangeAspect="1"/>
          </p:cNvPicPr>
          <p:nvPr/>
        </p:nvPicPr>
        <p:blipFill>
          <a:blip r:embed="rId4"/>
          <a:stretch>
            <a:fillRect/>
          </a:stretch>
        </p:blipFill>
        <p:spPr>
          <a:xfrm>
            <a:off x="6479073" y="1779057"/>
            <a:ext cx="245791" cy="245791"/>
          </a:xfrm>
          <a:prstGeom prst="rect">
            <a:avLst/>
          </a:prstGeom>
        </p:spPr>
      </p:pic>
      <p:sp>
        <p:nvSpPr>
          <p:cNvPr id="21" name="Text 15"/>
          <p:cNvSpPr/>
          <p:nvPr/>
        </p:nvSpPr>
        <p:spPr>
          <a:xfrm>
            <a:off x="6345936" y="2304288"/>
            <a:ext cx="141732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Customs</a:t>
            </a:r>
            <a:endParaRPr lang="en-US" sz="1600" dirty="0"/>
          </a:p>
        </p:txBody>
      </p:sp>
      <p:sp>
        <p:nvSpPr>
          <p:cNvPr id="22" name="Text 16"/>
          <p:cNvSpPr/>
          <p:nvPr/>
        </p:nvSpPr>
        <p:spPr>
          <a:xfrm>
            <a:off x="6345936" y="2670048"/>
            <a:ext cx="1417320" cy="1463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Country doc checklists + declared-vs-invoice valuation.</a:t>
            </a:r>
            <a:endParaRPr lang="en-US" sz="1050" dirty="0"/>
          </a:p>
        </p:txBody>
      </p:sp>
      <p:sp>
        <p:nvSpPr>
          <p:cNvPr id="23" name="Shape 17"/>
          <p:cNvSpPr/>
          <p:nvPr/>
        </p:nvSpPr>
        <p:spPr>
          <a:xfrm>
            <a:off x="8001000" y="1371600"/>
            <a:ext cx="1810512" cy="2880360"/>
          </a:xfrm>
          <a:prstGeom prst="roundRect">
            <a:avLst>
              <a:gd name="adj" fmla="val 505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24" name="Shape 18"/>
          <p:cNvSpPr/>
          <p:nvPr/>
        </p:nvSpPr>
        <p:spPr>
          <a:xfrm>
            <a:off x="8220456" y="1645920"/>
            <a:ext cx="512064" cy="512064"/>
          </a:xfrm>
          <a:prstGeom prst="ellipse">
            <a:avLst/>
          </a:prstGeom>
          <a:solidFill>
            <a:srgbClr val="FFE4E6"/>
          </a:solidFill>
          <a:ln/>
        </p:spPr>
      </p:sp>
      <p:pic>
        <p:nvPicPr>
          <p:cNvPr id="25" name="Image 4" descr="preencoded.png">    </p:cNvPr>
          <p:cNvPicPr>
            <a:picLocks noChangeAspect="1"/>
          </p:cNvPicPr>
          <p:nvPr/>
        </p:nvPicPr>
        <p:blipFill>
          <a:blip r:embed="rId5"/>
          <a:stretch>
            <a:fillRect/>
          </a:stretch>
        </p:blipFill>
        <p:spPr>
          <a:xfrm>
            <a:off x="8353593" y="1779057"/>
            <a:ext cx="245791" cy="245791"/>
          </a:xfrm>
          <a:prstGeom prst="rect">
            <a:avLst/>
          </a:prstGeom>
        </p:spPr>
      </p:pic>
      <p:sp>
        <p:nvSpPr>
          <p:cNvPr id="26" name="Text 19"/>
          <p:cNvSpPr/>
          <p:nvPr/>
        </p:nvSpPr>
        <p:spPr>
          <a:xfrm>
            <a:off x="8220456" y="2304288"/>
            <a:ext cx="141732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Flags</a:t>
            </a:r>
            <a:endParaRPr lang="en-US" sz="1600" dirty="0"/>
          </a:p>
        </p:txBody>
      </p:sp>
      <p:sp>
        <p:nvSpPr>
          <p:cNvPr id="27" name="Text 20"/>
          <p:cNvSpPr/>
          <p:nvPr/>
        </p:nvSpPr>
        <p:spPr>
          <a:xfrm>
            <a:off x="8220456" y="2670048"/>
            <a:ext cx="1417320" cy="1463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AI rev-rec, valuation, count, and tax-timing flags.</a:t>
            </a:r>
            <a:endParaRPr lang="en-US" sz="1050" dirty="0"/>
          </a:p>
        </p:txBody>
      </p:sp>
      <p:sp>
        <p:nvSpPr>
          <p:cNvPr id="28" name="Shape 21"/>
          <p:cNvSpPr/>
          <p:nvPr/>
        </p:nvSpPr>
        <p:spPr>
          <a:xfrm>
            <a:off x="9875520" y="1371600"/>
            <a:ext cx="1810512" cy="2880360"/>
          </a:xfrm>
          <a:prstGeom prst="roundRect">
            <a:avLst>
              <a:gd name="adj" fmla="val 505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29" name="Shape 22"/>
          <p:cNvSpPr/>
          <p:nvPr/>
        </p:nvSpPr>
        <p:spPr>
          <a:xfrm>
            <a:off x="10094976" y="1645920"/>
            <a:ext cx="512064" cy="512064"/>
          </a:xfrm>
          <a:prstGeom prst="ellipse">
            <a:avLst/>
          </a:prstGeom>
          <a:solidFill>
            <a:srgbClr val="E0F2FE"/>
          </a:solidFill>
          <a:ln/>
        </p:spPr>
      </p:sp>
      <p:pic>
        <p:nvPicPr>
          <p:cNvPr id="30" name="Image 5" descr="preencoded.png">    </p:cNvPr>
          <p:cNvPicPr>
            <a:picLocks noChangeAspect="1"/>
          </p:cNvPicPr>
          <p:nvPr/>
        </p:nvPicPr>
        <p:blipFill>
          <a:blip r:embed="rId6"/>
          <a:stretch>
            <a:fillRect/>
          </a:stretch>
        </p:blipFill>
        <p:spPr>
          <a:xfrm>
            <a:off x="10228113" y="1779057"/>
            <a:ext cx="245791" cy="245791"/>
          </a:xfrm>
          <a:prstGeom prst="rect">
            <a:avLst/>
          </a:prstGeom>
        </p:spPr>
      </p:pic>
      <p:sp>
        <p:nvSpPr>
          <p:cNvPr id="31" name="Text 23"/>
          <p:cNvSpPr/>
          <p:nvPr/>
        </p:nvSpPr>
        <p:spPr>
          <a:xfrm>
            <a:off x="10094976" y="2304288"/>
            <a:ext cx="141732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Audit</a:t>
            </a:r>
            <a:endParaRPr lang="en-US" sz="1600" dirty="0"/>
          </a:p>
        </p:txBody>
      </p:sp>
      <p:sp>
        <p:nvSpPr>
          <p:cNvPr id="32" name="Text 24"/>
          <p:cNvSpPr/>
          <p:nvPr/>
        </p:nvSpPr>
        <p:spPr>
          <a:xfrm>
            <a:off x="10094976" y="2670048"/>
            <a:ext cx="1417320" cy="1463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Count snapshot, ledger CSV export, document OCR.</a:t>
            </a:r>
            <a:endParaRPr lang="en-US" sz="1050" dirty="0"/>
          </a:p>
        </p:txBody>
      </p:sp>
      <p:sp>
        <p:nvSpPr>
          <p:cNvPr id="33" name="Shape 25"/>
          <p:cNvSpPr/>
          <p:nvPr/>
        </p:nvSpPr>
        <p:spPr>
          <a:xfrm>
            <a:off x="502920" y="4526280"/>
            <a:ext cx="11183112" cy="1783080"/>
          </a:xfrm>
          <a:prstGeom prst="roundRect">
            <a:avLst>
              <a:gd name="adj" fmla="val 5128"/>
            </a:avLst>
          </a:prstGeom>
          <a:solidFill>
            <a:srgbClr val="0F172A"/>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34" name="Text 26"/>
          <p:cNvSpPr/>
          <p:nvPr/>
        </p:nvSpPr>
        <p:spPr>
          <a:xfrm>
            <a:off x="868680" y="4718304"/>
            <a:ext cx="4572000" cy="365760"/>
          </a:xfrm>
          <a:prstGeom prst="rect">
            <a:avLst/>
          </a:prstGeom>
          <a:noFill/>
          <a:ln/>
        </p:spPr>
        <p:txBody>
          <a:bodyPr wrap="square" lIns="0" tIns="0" rIns="0" bIns="0" rtlCol="0" anchor="ctr"/>
          <a:lstStyle/>
          <a:p>
            <a:pPr indent="0" marL="0">
              <a:buNone/>
            </a:pPr>
            <a:r>
              <a:rPr lang="en-US" sz="1500" b="1" dirty="0">
                <a:solidFill>
                  <a:srgbClr val="34D399"/>
                </a:solidFill>
                <a:latin typeface="Calibri" pitchFamily="34" charset="0"/>
                <a:ea typeface="Calibri" pitchFamily="34" charset="-122"/>
                <a:cs typeface="Calibri" pitchFamily="34" charset="-120"/>
              </a:rPr>
              <a:t>Running now, on stage</a:t>
            </a:r>
            <a:endParaRPr lang="en-US" sz="1500" dirty="0"/>
          </a:p>
        </p:txBody>
      </p:sp>
      <p:sp>
        <p:nvSpPr>
          <p:cNvPr id="35" name="Text 27"/>
          <p:cNvSpPr/>
          <p:nvPr/>
        </p:nvSpPr>
        <p:spPr>
          <a:xfrm>
            <a:off x="868680" y="5084064"/>
            <a:ext cx="10469880" cy="109728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Live at localhost:5174 — a phone-frame web app with presenter notes on screen. Multilingual UI (English · Spanish · French).  </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Partner carrier apps plug in via the Transit Guard API and scan EU hand-off QRs — the transaction ID never breaks between systems.  </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On-device multilingual OCR (Tesseract) reads a customs document and files it to the right transaction — no backend, no API keys, demo-safe offline.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AI reads the custody chain like a controller would.</a:t>
            </a:r>
            <a:endParaRPr lang="en-US" sz="3400" dirty="0"/>
          </a:p>
        </p:txBody>
      </p:sp>
      <p:sp>
        <p:nvSpPr>
          <p:cNvPr id="3" name="Shape 1"/>
          <p:cNvSpPr/>
          <p:nvPr/>
        </p:nvSpPr>
        <p:spPr>
          <a:xfrm>
            <a:off x="548640" y="1298448"/>
            <a:ext cx="6949440" cy="713232"/>
          </a:xfrm>
          <a:prstGeom prst="roundRect">
            <a:avLst>
              <a:gd name="adj" fmla="val 1282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4" name="Text 2"/>
          <p:cNvSpPr/>
          <p:nvPr/>
        </p:nvSpPr>
        <p:spPr>
          <a:xfrm>
            <a:off x="777240" y="1481328"/>
            <a:ext cx="713232" cy="347472"/>
          </a:xfrm>
          <a:prstGeom prst="roundRect">
            <a:avLst>
              <a:gd name="adj" fmla="val 50000"/>
            </a:avLst>
          </a:prstGeom>
          <a:solidFill>
            <a:srgbClr val="FFE4E6"/>
          </a:solidFill>
          <a:ln/>
        </p:spPr>
        <p:txBody>
          <a:bodyPr wrap="square" rtlCol="0" anchor="ctr"/>
          <a:lstStyle/>
          <a:p>
            <a:pPr algn="ctr" indent="0" marL="0">
              <a:buNone/>
            </a:pPr>
            <a:r>
              <a:rPr lang="en-US" sz="1050" b="1" dirty="0">
                <a:solidFill>
                  <a:srgbClr val="BE123C"/>
                </a:solidFill>
                <a:latin typeface="Calibri" pitchFamily="34" charset="0"/>
                <a:ea typeface="Calibri" pitchFamily="34" charset="-122"/>
                <a:cs typeface="Calibri" pitchFamily="34" charset="-120"/>
              </a:rPr>
              <a:t>HIGH</a:t>
            </a:r>
            <a:endParaRPr lang="en-US" sz="1050" dirty="0"/>
          </a:p>
        </p:txBody>
      </p:sp>
      <p:sp>
        <p:nvSpPr>
          <p:cNvPr id="5" name="Text 3"/>
          <p:cNvSpPr/>
          <p:nvPr/>
        </p:nvSpPr>
        <p:spPr>
          <a:xfrm>
            <a:off x="1645920" y="1371600"/>
            <a:ext cx="4343400" cy="566928"/>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FOB destination + cold chain: $1M recognizes only at Geneva acceptance (ETA Jan 10).</a:t>
            </a:r>
            <a:endParaRPr lang="en-US" sz="1100" dirty="0"/>
          </a:p>
        </p:txBody>
      </p:sp>
      <p:sp>
        <p:nvSpPr>
          <p:cNvPr id="6" name="Text 4"/>
          <p:cNvSpPr/>
          <p:nvPr/>
        </p:nvSpPr>
        <p:spPr>
          <a:xfrm>
            <a:off x="6035040" y="1371600"/>
            <a:ext cx="1325880" cy="566928"/>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$1,000,000</a:t>
            </a:r>
            <a:endParaRPr lang="en-US" sz="1250" dirty="0"/>
          </a:p>
        </p:txBody>
      </p:sp>
      <p:sp>
        <p:nvSpPr>
          <p:cNvPr id="7" name="Shape 5"/>
          <p:cNvSpPr/>
          <p:nvPr/>
        </p:nvSpPr>
        <p:spPr>
          <a:xfrm>
            <a:off x="548640" y="2103120"/>
            <a:ext cx="6949440" cy="713232"/>
          </a:xfrm>
          <a:prstGeom prst="roundRect">
            <a:avLst>
              <a:gd name="adj" fmla="val 1282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8" name="Text 6"/>
          <p:cNvSpPr/>
          <p:nvPr/>
        </p:nvSpPr>
        <p:spPr>
          <a:xfrm>
            <a:off x="777240" y="2286000"/>
            <a:ext cx="713232" cy="347472"/>
          </a:xfrm>
          <a:prstGeom prst="roundRect">
            <a:avLst>
              <a:gd name="adj" fmla="val 50000"/>
            </a:avLst>
          </a:prstGeom>
          <a:solidFill>
            <a:srgbClr val="FFE4E6"/>
          </a:solidFill>
          <a:ln/>
        </p:spPr>
        <p:txBody>
          <a:bodyPr wrap="square" rtlCol="0" anchor="ctr"/>
          <a:lstStyle/>
          <a:p>
            <a:pPr algn="ctr" indent="0" marL="0">
              <a:buNone/>
            </a:pPr>
            <a:r>
              <a:rPr lang="en-US" sz="1050" b="1" dirty="0">
                <a:solidFill>
                  <a:srgbClr val="BE123C"/>
                </a:solidFill>
                <a:latin typeface="Calibri" pitchFamily="34" charset="0"/>
                <a:ea typeface="Calibri" pitchFamily="34" charset="-122"/>
                <a:cs typeface="Calibri" pitchFamily="34" charset="-120"/>
              </a:rPr>
              <a:t>HIGH</a:t>
            </a:r>
            <a:endParaRPr lang="en-US" sz="1050" dirty="0"/>
          </a:p>
        </p:txBody>
      </p:sp>
      <p:sp>
        <p:nvSpPr>
          <p:cNvPr id="9" name="Text 7"/>
          <p:cNvSpPr/>
          <p:nvPr/>
        </p:nvSpPr>
        <p:spPr>
          <a:xfrm>
            <a:off x="1645920" y="2176272"/>
            <a:ext cx="4343400" cy="566928"/>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DAP delivery lands Jan 4 — invoice dated Dec 30. Revenue belongs to FY2027.</a:t>
            </a:r>
            <a:endParaRPr lang="en-US" sz="1100" dirty="0"/>
          </a:p>
        </p:txBody>
      </p:sp>
      <p:sp>
        <p:nvSpPr>
          <p:cNvPr id="10" name="Text 8"/>
          <p:cNvSpPr/>
          <p:nvPr/>
        </p:nvSpPr>
        <p:spPr>
          <a:xfrm>
            <a:off x="6035040" y="2176272"/>
            <a:ext cx="1325880" cy="566928"/>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$186,000</a:t>
            </a:r>
            <a:endParaRPr lang="en-US" sz="1250" dirty="0"/>
          </a:p>
        </p:txBody>
      </p:sp>
      <p:sp>
        <p:nvSpPr>
          <p:cNvPr id="11" name="Shape 9"/>
          <p:cNvSpPr/>
          <p:nvPr/>
        </p:nvSpPr>
        <p:spPr>
          <a:xfrm>
            <a:off x="548640" y="2907792"/>
            <a:ext cx="6949440" cy="713232"/>
          </a:xfrm>
          <a:prstGeom prst="roundRect">
            <a:avLst>
              <a:gd name="adj" fmla="val 1282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2" name="Text 10"/>
          <p:cNvSpPr/>
          <p:nvPr/>
        </p:nvSpPr>
        <p:spPr>
          <a:xfrm>
            <a:off x="777240" y="3090672"/>
            <a:ext cx="713232" cy="347472"/>
          </a:xfrm>
          <a:prstGeom prst="roundRect">
            <a:avLst>
              <a:gd name="adj" fmla="val 50000"/>
            </a:avLst>
          </a:prstGeom>
          <a:solidFill>
            <a:srgbClr val="FFE4E6"/>
          </a:solidFill>
          <a:ln/>
        </p:spPr>
        <p:txBody>
          <a:bodyPr wrap="square" rtlCol="0" anchor="ctr"/>
          <a:lstStyle/>
          <a:p>
            <a:pPr algn="ctr" indent="0" marL="0">
              <a:buNone/>
            </a:pPr>
            <a:r>
              <a:rPr lang="en-US" sz="1050" b="1" dirty="0">
                <a:solidFill>
                  <a:srgbClr val="BE123C"/>
                </a:solidFill>
                <a:latin typeface="Calibri" pitchFamily="34" charset="0"/>
                <a:ea typeface="Calibri" pitchFamily="34" charset="-122"/>
                <a:cs typeface="Calibri" pitchFamily="34" charset="-120"/>
              </a:rPr>
              <a:t>HIGH</a:t>
            </a:r>
            <a:endParaRPr lang="en-US" sz="1050" dirty="0"/>
          </a:p>
        </p:txBody>
      </p:sp>
      <p:sp>
        <p:nvSpPr>
          <p:cNvPr id="13" name="Text 11"/>
          <p:cNvSpPr/>
          <p:nvPr/>
        </p:nvSpPr>
        <p:spPr>
          <a:xfrm>
            <a:off x="1645920" y="2980944"/>
            <a:ext cx="4343400" cy="566928"/>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Customs value (price list) is $39K under the invoice — method must be documented.</a:t>
            </a:r>
            <a:endParaRPr lang="en-US" sz="1100" dirty="0"/>
          </a:p>
        </p:txBody>
      </p:sp>
      <p:sp>
        <p:nvSpPr>
          <p:cNvPr id="14" name="Text 12"/>
          <p:cNvSpPr/>
          <p:nvPr/>
        </p:nvSpPr>
        <p:spPr>
          <a:xfrm>
            <a:off x="6035040" y="2980944"/>
            <a:ext cx="1325880" cy="566928"/>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$39,000</a:t>
            </a:r>
            <a:endParaRPr lang="en-US" sz="1250" dirty="0"/>
          </a:p>
        </p:txBody>
      </p:sp>
      <p:sp>
        <p:nvSpPr>
          <p:cNvPr id="15" name="Shape 13"/>
          <p:cNvSpPr/>
          <p:nvPr/>
        </p:nvSpPr>
        <p:spPr>
          <a:xfrm>
            <a:off x="548640" y="3712464"/>
            <a:ext cx="6949440" cy="713232"/>
          </a:xfrm>
          <a:prstGeom prst="roundRect">
            <a:avLst>
              <a:gd name="adj" fmla="val 1282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6" name="Text 14"/>
          <p:cNvSpPr/>
          <p:nvPr/>
        </p:nvSpPr>
        <p:spPr>
          <a:xfrm>
            <a:off x="777240" y="3895344"/>
            <a:ext cx="713232" cy="347472"/>
          </a:xfrm>
          <a:prstGeom prst="roundRect">
            <a:avLst>
              <a:gd name="adj" fmla="val 50000"/>
            </a:avLst>
          </a:prstGeom>
          <a:solidFill>
            <a:srgbClr val="FEF3C7"/>
          </a:solidFill>
          <a:ln/>
        </p:spPr>
        <p:txBody>
          <a:bodyPr wrap="square" rtlCol="0" anchor="ctr"/>
          <a:lstStyle/>
          <a:p>
            <a:pPr algn="ctr" indent="0" marL="0">
              <a:buNone/>
            </a:pPr>
            <a:r>
              <a:rPr lang="en-US" sz="1050" b="1" dirty="0">
                <a:solidFill>
                  <a:srgbClr val="B45309"/>
                </a:solidFill>
                <a:latin typeface="Calibri" pitchFamily="34" charset="0"/>
                <a:ea typeface="Calibri" pitchFamily="34" charset="-122"/>
                <a:cs typeface="Calibri" pitchFamily="34" charset="-120"/>
              </a:rPr>
              <a:t>MED</a:t>
            </a:r>
            <a:endParaRPr lang="en-US" sz="1050" dirty="0"/>
          </a:p>
        </p:txBody>
      </p:sp>
      <p:sp>
        <p:nvSpPr>
          <p:cNvPr id="17" name="Text 15"/>
          <p:cNvSpPr/>
          <p:nvPr/>
        </p:nvSpPr>
        <p:spPr>
          <a:xfrm>
            <a:off x="1645920" y="3785616"/>
            <a:ext cx="4343400" cy="566928"/>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RMA on the water at year-end — sales return not yet accrued.</a:t>
            </a:r>
            <a:endParaRPr lang="en-US" sz="1100" dirty="0"/>
          </a:p>
        </p:txBody>
      </p:sp>
      <p:sp>
        <p:nvSpPr>
          <p:cNvPr id="18" name="Text 16"/>
          <p:cNvSpPr/>
          <p:nvPr/>
        </p:nvSpPr>
        <p:spPr>
          <a:xfrm>
            <a:off x="6035040" y="3785616"/>
            <a:ext cx="1325880" cy="566928"/>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$43,000</a:t>
            </a:r>
            <a:endParaRPr lang="en-US" sz="1250" dirty="0"/>
          </a:p>
        </p:txBody>
      </p:sp>
      <p:sp>
        <p:nvSpPr>
          <p:cNvPr id="19" name="Shape 17"/>
          <p:cNvSpPr/>
          <p:nvPr/>
        </p:nvSpPr>
        <p:spPr>
          <a:xfrm>
            <a:off x="548640" y="4517136"/>
            <a:ext cx="6949440" cy="713232"/>
          </a:xfrm>
          <a:prstGeom prst="roundRect">
            <a:avLst>
              <a:gd name="adj" fmla="val 1282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20" name="Text 18"/>
          <p:cNvSpPr/>
          <p:nvPr/>
        </p:nvSpPr>
        <p:spPr>
          <a:xfrm>
            <a:off x="777240" y="4700016"/>
            <a:ext cx="713232" cy="347472"/>
          </a:xfrm>
          <a:prstGeom prst="roundRect">
            <a:avLst>
              <a:gd name="adj" fmla="val 50000"/>
            </a:avLst>
          </a:prstGeom>
          <a:solidFill>
            <a:srgbClr val="FEF3C7"/>
          </a:solidFill>
          <a:ln/>
        </p:spPr>
        <p:txBody>
          <a:bodyPr wrap="square" rtlCol="0" anchor="ctr"/>
          <a:lstStyle/>
          <a:p>
            <a:pPr algn="ctr" indent="0" marL="0">
              <a:buNone/>
            </a:pPr>
            <a:r>
              <a:rPr lang="en-US" sz="1050" b="1" dirty="0">
                <a:solidFill>
                  <a:srgbClr val="B45309"/>
                </a:solidFill>
                <a:latin typeface="Calibri" pitchFamily="34" charset="0"/>
                <a:ea typeface="Calibri" pitchFamily="34" charset="-122"/>
                <a:cs typeface="Calibri" pitchFamily="34" charset="-120"/>
              </a:rPr>
              <a:t>MED</a:t>
            </a:r>
            <a:endParaRPr lang="en-US" sz="1050" dirty="0"/>
          </a:p>
        </p:txBody>
      </p:sp>
      <p:sp>
        <p:nvSpPr>
          <p:cNvPr id="21" name="Text 19"/>
          <p:cNvSpPr/>
          <p:nvPr/>
        </p:nvSpPr>
        <p:spPr>
          <a:xfrm>
            <a:off x="1645920" y="4590288"/>
            <a:ext cx="4343400" cy="566928"/>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Nine days at the boatyard — still owned, must be in the Dec 31 count.</a:t>
            </a:r>
            <a:endParaRPr lang="en-US" sz="1100" dirty="0"/>
          </a:p>
        </p:txBody>
      </p:sp>
      <p:sp>
        <p:nvSpPr>
          <p:cNvPr id="22" name="Text 20"/>
          <p:cNvSpPr/>
          <p:nvPr/>
        </p:nvSpPr>
        <p:spPr>
          <a:xfrm>
            <a:off x="6035040" y="4590288"/>
            <a:ext cx="1325880" cy="566928"/>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$86,000</a:t>
            </a:r>
            <a:endParaRPr lang="en-US" sz="1250" dirty="0"/>
          </a:p>
        </p:txBody>
      </p:sp>
      <p:sp>
        <p:nvSpPr>
          <p:cNvPr id="23" name="Shape 21"/>
          <p:cNvSpPr/>
          <p:nvPr/>
        </p:nvSpPr>
        <p:spPr>
          <a:xfrm>
            <a:off x="548640" y="5321808"/>
            <a:ext cx="6949440" cy="713232"/>
          </a:xfrm>
          <a:prstGeom prst="roundRect">
            <a:avLst>
              <a:gd name="adj" fmla="val 12821"/>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24" name="Text 22"/>
          <p:cNvSpPr/>
          <p:nvPr/>
        </p:nvSpPr>
        <p:spPr>
          <a:xfrm>
            <a:off x="777240" y="5504688"/>
            <a:ext cx="713232" cy="347472"/>
          </a:xfrm>
          <a:prstGeom prst="roundRect">
            <a:avLst>
              <a:gd name="adj" fmla="val 50000"/>
            </a:avLst>
          </a:prstGeom>
          <a:solidFill>
            <a:srgbClr val="E0F2FE"/>
          </a:solidFill>
          <a:ln/>
        </p:spPr>
        <p:txBody>
          <a:bodyPr wrap="square" rtlCol="0" anchor="ctr"/>
          <a:lstStyle/>
          <a:p>
            <a:pPr algn="ctr" indent="0" marL="0">
              <a:buNone/>
            </a:pPr>
            <a:r>
              <a:rPr lang="en-US" sz="1050" b="1" dirty="0">
                <a:solidFill>
                  <a:srgbClr val="0369A1"/>
                </a:solidFill>
                <a:latin typeface="Calibri" pitchFamily="34" charset="0"/>
                <a:ea typeface="Calibri" pitchFamily="34" charset="-122"/>
                <a:cs typeface="Calibri" pitchFamily="34" charset="-120"/>
              </a:rPr>
              <a:t>PLAN</a:t>
            </a:r>
            <a:endParaRPr lang="en-US" sz="1050" dirty="0"/>
          </a:p>
        </p:txBody>
      </p:sp>
      <p:sp>
        <p:nvSpPr>
          <p:cNvPr id="25" name="Text 23"/>
          <p:cNvSpPr/>
          <p:nvPr/>
        </p:nvSpPr>
        <p:spPr>
          <a:xfrm>
            <a:off x="1645920" y="5394960"/>
            <a:ext cx="4343400" cy="566928"/>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Shift a $500K stock receipt Dec 30 → Jan 2: off the property-tax assessment date.</a:t>
            </a:r>
            <a:endParaRPr lang="en-US" sz="1100" dirty="0"/>
          </a:p>
        </p:txBody>
      </p:sp>
      <p:sp>
        <p:nvSpPr>
          <p:cNvPr id="26" name="Text 24"/>
          <p:cNvSpPr/>
          <p:nvPr/>
        </p:nvSpPr>
        <p:spPr>
          <a:xfrm>
            <a:off x="6035040" y="5394960"/>
            <a:ext cx="1325880" cy="566928"/>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 $6,500</a:t>
            </a:r>
            <a:endParaRPr lang="en-US" sz="1250" dirty="0"/>
          </a:p>
        </p:txBody>
      </p:sp>
      <p:sp>
        <p:nvSpPr>
          <p:cNvPr id="27" name="Shape 25"/>
          <p:cNvSpPr/>
          <p:nvPr/>
        </p:nvSpPr>
        <p:spPr>
          <a:xfrm>
            <a:off x="7818120" y="1298448"/>
            <a:ext cx="3794760" cy="4846320"/>
          </a:xfrm>
          <a:prstGeom prst="roundRect">
            <a:avLst>
              <a:gd name="adj" fmla="val 2410"/>
            </a:avLst>
          </a:prstGeom>
          <a:solidFill>
            <a:srgbClr val="0F172A"/>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28" name="Text 26"/>
          <p:cNvSpPr/>
          <p:nvPr/>
        </p:nvSpPr>
        <p:spPr>
          <a:xfrm>
            <a:off x="8183880" y="1691640"/>
            <a:ext cx="3108960" cy="868680"/>
          </a:xfrm>
          <a:prstGeom prst="rect">
            <a:avLst/>
          </a:prstGeom>
          <a:noFill/>
          <a:ln/>
        </p:spPr>
        <p:txBody>
          <a:bodyPr wrap="square" lIns="0" tIns="0" rIns="0" bIns="0" rtlCol="0" anchor="ctr"/>
          <a:lstStyle/>
          <a:p>
            <a:pPr indent="0" marL="0">
              <a:buNone/>
            </a:pPr>
            <a:r>
              <a:rPr lang="en-US" sz="5200" b="1" dirty="0">
                <a:solidFill>
                  <a:srgbClr val="34D399"/>
                </a:solidFill>
                <a:latin typeface="Calibri" pitchFamily="34" charset="0"/>
                <a:ea typeface="Calibri" pitchFamily="34" charset="-122"/>
                <a:cs typeface="Calibri" pitchFamily="34" charset="-120"/>
              </a:rPr>
              <a:t>$1.23M</a:t>
            </a:r>
            <a:endParaRPr lang="en-US" sz="5200" dirty="0"/>
          </a:p>
        </p:txBody>
      </p:sp>
      <p:sp>
        <p:nvSpPr>
          <p:cNvPr id="29" name="Text 27"/>
          <p:cNvSpPr/>
          <p:nvPr/>
        </p:nvSpPr>
        <p:spPr>
          <a:xfrm>
            <a:off x="8183880" y="2578608"/>
            <a:ext cx="3063240" cy="73152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of FY2026 revenue exposure flagged from custody events in the demo dataset alone</a:t>
            </a:r>
            <a:endParaRPr lang="en-US" sz="1300" dirty="0"/>
          </a:p>
        </p:txBody>
      </p:sp>
      <p:sp>
        <p:nvSpPr>
          <p:cNvPr id="30" name="Text 28"/>
          <p:cNvSpPr/>
          <p:nvPr/>
        </p:nvSpPr>
        <p:spPr>
          <a:xfrm>
            <a:off x="8183880" y="3456432"/>
            <a:ext cx="3063240" cy="457200"/>
          </a:xfrm>
          <a:prstGeom prst="rect">
            <a:avLst/>
          </a:prstGeom>
          <a:noFill/>
          <a:ln/>
        </p:spPr>
        <p:txBody>
          <a:bodyPr wrap="square" lIns="0" tIns="0" rIns="0" bIns="0" rtlCol="0" anchor="ctr"/>
          <a:lstStyle/>
          <a:p>
            <a:pPr indent="0" marL="0">
              <a:buNone/>
            </a:pPr>
            <a:r>
              <a:rPr lang="en-US" sz="1400" b="1" i="1" dirty="0">
                <a:solidFill>
                  <a:srgbClr val="FFFFFF"/>
                </a:solidFill>
                <a:latin typeface="Calibri" pitchFamily="34" charset="0"/>
                <a:ea typeface="Calibri" pitchFamily="34" charset="-122"/>
                <a:cs typeface="Calibri" pitchFamily="34" charset="-120"/>
              </a:rPr>
              <a:t>“AI investigates. Controllers conclude.”</a:t>
            </a:r>
            <a:endParaRPr lang="en-US" sz="1400" dirty="0"/>
          </a:p>
        </p:txBody>
      </p:sp>
      <p:sp>
        <p:nvSpPr>
          <p:cNvPr id="31" name="Text 29"/>
          <p:cNvSpPr/>
          <p:nvPr/>
        </p:nvSpPr>
        <p:spPr>
          <a:xfrm>
            <a:off x="8183880" y="3950208"/>
            <a:ext cx="3063240" cy="77724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Materiality decides what gets AI attention. Every flag routes to a human. Nothing auto-posts — ever.</a:t>
            </a:r>
            <a:endParaRPr lang="en-US" sz="1150" dirty="0"/>
          </a:p>
        </p:txBody>
      </p:sp>
      <p:sp>
        <p:nvSpPr>
          <p:cNvPr id="32" name="Text 30"/>
          <p:cNvSpPr/>
          <p:nvPr/>
        </p:nvSpPr>
        <p:spPr>
          <a:xfrm>
            <a:off x="8183880" y="4864608"/>
            <a:ext cx="3063240" cy="1005840"/>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 The AI vendor search closes the loop: it ranks routes against the need-by date and watches customs bulletins for changes.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Built to complement the stack you already run.</a:t>
            </a:r>
            <a:endParaRPr lang="en-US" sz="3400" dirty="0"/>
          </a:p>
        </p:txBody>
      </p:sp>
      <p:sp>
        <p:nvSpPr>
          <p:cNvPr id="3" name="Shape 1"/>
          <p:cNvSpPr/>
          <p:nvPr/>
        </p:nvSpPr>
        <p:spPr>
          <a:xfrm>
            <a:off x="548640" y="1600200"/>
            <a:ext cx="3383280" cy="2651760"/>
          </a:xfrm>
          <a:prstGeom prst="roundRect">
            <a:avLst>
              <a:gd name="adj" fmla="val 3448"/>
            </a:avLst>
          </a:prstGeom>
          <a:solidFill>
            <a:srgbClr val="F8FAFC"/>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4" name="Text 2"/>
          <p:cNvSpPr/>
          <p:nvPr/>
        </p:nvSpPr>
        <p:spPr>
          <a:xfrm>
            <a:off x="822960" y="1828800"/>
            <a:ext cx="2834640" cy="320040"/>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Systems of record</a:t>
            </a:r>
            <a:endParaRPr lang="en-US" sz="1300" dirty="0"/>
          </a:p>
        </p:txBody>
      </p:sp>
      <p:sp>
        <p:nvSpPr>
          <p:cNvPr id="5" name="Text 3"/>
          <p:cNvSpPr/>
          <p:nvPr/>
        </p:nvSpPr>
        <p:spPr>
          <a:xfrm>
            <a:off x="822960" y="2194560"/>
            <a:ext cx="283464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NetSuite · Oracle · SAP</a:t>
            </a:r>
            <a:endParaRPr lang="en-US" sz="1800" dirty="0"/>
          </a:p>
        </p:txBody>
      </p:sp>
      <p:sp>
        <p:nvSpPr>
          <p:cNvPr id="6" name="Text 4"/>
          <p:cNvSpPr/>
          <p:nvPr/>
        </p:nvSpPr>
        <p:spPr>
          <a:xfrm>
            <a:off x="822960" y="2697480"/>
            <a:ext cx="2880360" cy="13716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Own the books and the item master. Blind between warehouse scans — they record what happened only after someone types it in.</a:t>
            </a:r>
            <a:endParaRPr lang="en-US" sz="1200" dirty="0"/>
          </a:p>
        </p:txBody>
      </p:sp>
      <p:sp>
        <p:nvSpPr>
          <p:cNvPr id="7" name="Shape 5"/>
          <p:cNvSpPr/>
          <p:nvPr/>
        </p:nvSpPr>
        <p:spPr>
          <a:xfrm>
            <a:off x="4389120" y="1417320"/>
            <a:ext cx="3429000" cy="3017520"/>
          </a:xfrm>
          <a:prstGeom prst="roundRect">
            <a:avLst>
              <a:gd name="adj" fmla="val 3030"/>
            </a:avLst>
          </a:prstGeom>
          <a:solidFill>
            <a:srgbClr val="059669"/>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8" name="Text 6"/>
          <p:cNvSpPr/>
          <p:nvPr/>
        </p:nvSpPr>
        <p:spPr>
          <a:xfrm>
            <a:off x="4663440" y="1691640"/>
            <a:ext cx="2926080" cy="365760"/>
          </a:xfrm>
          <a:prstGeom prst="rect">
            <a:avLst/>
          </a:prstGeom>
          <a:noFill/>
          <a:ln/>
        </p:spPr>
        <p:txBody>
          <a:bodyPr wrap="square" lIns="0" tIns="0" rIns="0" bIns="0" rtlCol="0" anchor="ctr"/>
          <a:lstStyle/>
          <a:p>
            <a:pPr indent="0" marL="0">
              <a:buNone/>
            </a:pPr>
            <a:r>
              <a:rPr lang="en-US" sz="1600" b="1" spc="200" kern="0" dirty="0">
                <a:solidFill>
                  <a:srgbClr val="FFFFFF"/>
                </a:solidFill>
                <a:latin typeface="Calibri" pitchFamily="34" charset="0"/>
                <a:ea typeface="Calibri" pitchFamily="34" charset="-122"/>
                <a:cs typeface="Calibri" pitchFamily="34" charset="-120"/>
              </a:rPr>
              <a:t>TRANSIT GUARD</a:t>
            </a:r>
            <a:endParaRPr lang="en-US" sz="1600" dirty="0"/>
          </a:p>
        </p:txBody>
      </p:sp>
      <p:sp>
        <p:nvSpPr>
          <p:cNvPr id="9" name="Text 7"/>
          <p:cNvSpPr/>
          <p:nvPr/>
        </p:nvSpPr>
        <p:spPr>
          <a:xfrm>
            <a:off x="4663440" y="2103120"/>
            <a:ext cx="2926080" cy="365760"/>
          </a:xfrm>
          <a:prstGeom prst="rect">
            <a:avLst/>
          </a:prstGeom>
          <a:noFill/>
          <a:ln/>
        </p:spPr>
        <p:txBody>
          <a:bodyPr wrap="square" lIns="0" tIns="0" rIns="0" bIns="0" rtlCol="0" anchor="ctr"/>
          <a:lstStyle/>
          <a:p>
            <a:pPr indent="0" marL="0">
              <a:buNone/>
            </a:pPr>
            <a:r>
              <a:rPr lang="en-US" sz="1400" i="1" dirty="0">
                <a:solidFill>
                  <a:srgbClr val="D1FAE5"/>
                </a:solidFill>
                <a:latin typeface="Calibri" pitchFamily="34" charset="0"/>
                <a:ea typeface="Calibri" pitchFamily="34" charset="-122"/>
                <a:cs typeface="Calibri" pitchFamily="34" charset="-120"/>
              </a:rPr>
              <a:t>The custody capture layer</a:t>
            </a:r>
            <a:endParaRPr lang="en-US" sz="1400" dirty="0"/>
          </a:p>
        </p:txBody>
      </p:sp>
      <p:sp>
        <p:nvSpPr>
          <p:cNvPr id="10" name="Text 8"/>
          <p:cNvSpPr/>
          <p:nvPr/>
        </p:nvSpPr>
        <p:spPr>
          <a:xfrm>
            <a:off x="4663440" y="2514600"/>
            <a:ext cx="2926080" cy="11887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Scans, hand-offs, customs documents, and transaction dates captured where they happen — in the field, on a phone, in the local language.</a:t>
            </a:r>
            <a:endParaRPr lang="en-US" sz="1250" dirty="0"/>
          </a:p>
        </p:txBody>
      </p:sp>
      <p:sp>
        <p:nvSpPr>
          <p:cNvPr id="11" name="Text 9"/>
          <p:cNvSpPr/>
          <p:nvPr/>
        </p:nvSpPr>
        <p:spPr>
          <a:xfrm>
            <a:off x="4663440" y="3794760"/>
            <a:ext cx="2926080" cy="502920"/>
          </a:xfrm>
          <a:prstGeom prst="rect">
            <a:avLst/>
          </a:prstGeom>
          <a:noFill/>
          <a:ln/>
        </p:spPr>
        <p:txBody>
          <a:bodyPr wrap="square" lIns="0" tIns="0" rIns="0" bIns="0" rtlCol="0" anchor="ctr"/>
          <a:lstStyle/>
          <a:p>
            <a:pPr indent="0" marL="0">
              <a:buNone/>
            </a:pPr>
            <a:r>
              <a:rPr lang="en-US" sz="1100" i="1" dirty="0">
                <a:solidFill>
                  <a:srgbClr val="D1FAE5"/>
                </a:solidFill>
                <a:latin typeface="Calibri" pitchFamily="34" charset="0"/>
                <a:ea typeface="Calibri" pitchFamily="34" charset="-122"/>
                <a:cs typeface="Calibri" pitchFamily="34" charset="-120"/>
              </a:rPr>
              <a:t>clean transaction dates in · audit-ready evidence out</a:t>
            </a:r>
            <a:endParaRPr lang="en-US" sz="1100" dirty="0"/>
          </a:p>
        </p:txBody>
      </p:sp>
      <p:sp>
        <p:nvSpPr>
          <p:cNvPr id="12" name="Shape 10"/>
          <p:cNvSpPr/>
          <p:nvPr/>
        </p:nvSpPr>
        <p:spPr>
          <a:xfrm>
            <a:off x="8275320" y="1600200"/>
            <a:ext cx="3337560" cy="2651760"/>
          </a:xfrm>
          <a:prstGeom prst="roundRect">
            <a:avLst>
              <a:gd name="adj" fmla="val 3448"/>
            </a:avLst>
          </a:prstGeom>
          <a:solidFill>
            <a:srgbClr val="F8FAFC"/>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3" name="Text 11"/>
          <p:cNvSpPr/>
          <p:nvPr/>
        </p:nvSpPr>
        <p:spPr>
          <a:xfrm>
            <a:off x="8549640" y="1828800"/>
            <a:ext cx="2788920" cy="320040"/>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Close &amp; assurance</a:t>
            </a:r>
            <a:endParaRPr lang="en-US" sz="1300" dirty="0"/>
          </a:p>
        </p:txBody>
      </p:sp>
      <p:sp>
        <p:nvSpPr>
          <p:cNvPr id="14" name="Text 12"/>
          <p:cNvSpPr/>
          <p:nvPr/>
        </p:nvSpPr>
        <p:spPr>
          <a:xfrm>
            <a:off x="8549640" y="2194560"/>
            <a:ext cx="2788920" cy="6858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BlackLine · Inventory Close Guard</a:t>
            </a:r>
            <a:endParaRPr lang="en-US" sz="1700" dirty="0"/>
          </a:p>
        </p:txBody>
      </p:sp>
      <p:sp>
        <p:nvSpPr>
          <p:cNvPr id="15" name="Text 13"/>
          <p:cNvSpPr/>
          <p:nvPr/>
        </p:nvSpPr>
        <p:spPr>
          <a:xfrm>
            <a:off x="8549640" y="2926080"/>
            <a:ext cx="2743200" cy="10972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Close automation starts once trustworthy data exists. Transit Guard is where that data is born.</a:t>
            </a:r>
            <a:endParaRPr lang="en-US" sz="1200" dirty="0"/>
          </a:p>
        </p:txBody>
      </p:sp>
      <p:sp>
        <p:nvSpPr>
          <p:cNvPr id="16" name="Shape 14"/>
          <p:cNvSpPr/>
          <p:nvPr/>
        </p:nvSpPr>
        <p:spPr>
          <a:xfrm>
            <a:off x="3950208" y="2743200"/>
            <a:ext cx="457200" cy="365760"/>
          </a:xfrm>
          <a:prstGeom prst="rightArrow">
            <a:avLst/>
          </a:prstGeom>
          <a:solidFill>
            <a:srgbClr val="059669"/>
          </a:solidFill>
          <a:ln/>
        </p:spPr>
      </p:sp>
      <p:sp>
        <p:nvSpPr>
          <p:cNvPr id="17" name="Shape 15"/>
          <p:cNvSpPr/>
          <p:nvPr/>
        </p:nvSpPr>
        <p:spPr>
          <a:xfrm>
            <a:off x="7836408" y="2743200"/>
            <a:ext cx="457200" cy="365760"/>
          </a:xfrm>
          <a:prstGeom prst="rightArrow">
            <a:avLst/>
          </a:prstGeom>
          <a:solidFill>
            <a:srgbClr val="059669"/>
          </a:solidFill>
          <a:ln/>
        </p:spPr>
      </p:sp>
      <p:sp>
        <p:nvSpPr>
          <p:cNvPr id="18" name="Shape 16"/>
          <p:cNvSpPr/>
          <p:nvPr/>
        </p:nvSpPr>
        <p:spPr>
          <a:xfrm>
            <a:off x="548640" y="4709160"/>
            <a:ext cx="5349240" cy="1463040"/>
          </a:xfrm>
          <a:prstGeom prst="roundRect">
            <a:avLst>
              <a:gd name="adj" fmla="val 6250"/>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9" name="Text 17"/>
          <p:cNvSpPr/>
          <p:nvPr/>
        </p:nvSpPr>
        <p:spPr>
          <a:xfrm>
            <a:off x="822960" y="4919472"/>
            <a:ext cx="4754880" cy="320040"/>
          </a:xfrm>
          <a:prstGeom prst="rect">
            <a:avLst/>
          </a:prstGeom>
          <a:noFill/>
          <a:ln/>
        </p:spPr>
        <p:txBody>
          <a:bodyPr wrap="square" lIns="0" tIns="0" rIns="0" bIns="0" rtlCol="0" anchor="ctr"/>
          <a:lstStyle/>
          <a:p>
            <a:pPr indent="0" marL="0">
              <a:buNone/>
            </a:pPr>
            <a:r>
              <a:rPr lang="en-US" sz="1450" b="1" dirty="0">
                <a:solidFill>
                  <a:srgbClr val="059669"/>
                </a:solidFill>
                <a:latin typeface="Calibri" pitchFamily="34" charset="0"/>
                <a:ea typeface="Calibri" pitchFamily="34" charset="-122"/>
                <a:cs typeface="Calibri" pitchFamily="34" charset="-120"/>
              </a:rPr>
              <a:t>Carriers plug in, not out</a:t>
            </a:r>
            <a:endParaRPr lang="en-US" sz="1450" dirty="0"/>
          </a:p>
        </p:txBody>
      </p:sp>
      <p:sp>
        <p:nvSpPr>
          <p:cNvPr id="20" name="Text 18"/>
          <p:cNvSpPr/>
          <p:nvPr/>
        </p:nvSpPr>
        <p:spPr>
          <a:xfrm>
            <a:off x="822960" y="5257800"/>
            <a:ext cx="4846320" cy="8229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Partner carrier and 3PL apps log hand-offs through the Transit Guard API — same transaction ID end to end, with QR scans standardizing EU hand-offs. A connector, not a migration.</a:t>
            </a:r>
            <a:endParaRPr lang="en-US" sz="1200" dirty="0"/>
          </a:p>
        </p:txBody>
      </p:sp>
      <p:sp>
        <p:nvSpPr>
          <p:cNvPr id="21" name="Shape 19"/>
          <p:cNvSpPr/>
          <p:nvPr/>
        </p:nvSpPr>
        <p:spPr>
          <a:xfrm>
            <a:off x="6263640" y="4709160"/>
            <a:ext cx="5349240" cy="1463040"/>
          </a:xfrm>
          <a:prstGeom prst="roundRect">
            <a:avLst>
              <a:gd name="adj" fmla="val 6250"/>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22" name="Text 20"/>
          <p:cNvSpPr/>
          <p:nvPr/>
        </p:nvSpPr>
        <p:spPr>
          <a:xfrm>
            <a:off x="6537960" y="4919472"/>
            <a:ext cx="4754880" cy="320040"/>
          </a:xfrm>
          <a:prstGeom prst="rect">
            <a:avLst/>
          </a:prstGeom>
          <a:noFill/>
          <a:ln/>
        </p:spPr>
        <p:txBody>
          <a:bodyPr wrap="square" lIns="0" tIns="0" rIns="0" bIns="0" rtlCol="0" anchor="ctr"/>
          <a:lstStyle/>
          <a:p>
            <a:pPr indent="0" marL="0">
              <a:buNone/>
            </a:pPr>
            <a:r>
              <a:rPr lang="en-US" sz="1450" b="1" dirty="0">
                <a:solidFill>
                  <a:srgbClr val="059669"/>
                </a:solidFill>
                <a:latin typeface="Calibri" pitchFamily="34" charset="0"/>
                <a:ea typeface="Calibri" pitchFamily="34" charset="-122"/>
                <a:cs typeface="Calibri" pitchFamily="34" charset="-120"/>
              </a:rPr>
              <a:t>The suite play</a:t>
            </a:r>
            <a:endParaRPr lang="en-US" sz="1450" dirty="0"/>
          </a:p>
        </p:txBody>
      </p:sp>
      <p:sp>
        <p:nvSpPr>
          <p:cNvPr id="23" name="Text 21"/>
          <p:cNvSpPr/>
          <p:nvPr/>
        </p:nvSpPr>
        <p:spPr>
          <a:xfrm>
            <a:off x="6537960" y="5257800"/>
            <a:ext cx="4846320" cy="8229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At year-end, custody events become Inventory Close Guard’s cutoff and existence evidence. Capture once, close faster.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A focused wedge into a $28B market.</a:t>
            </a:r>
            <a:endParaRPr lang="en-US" sz="3400" dirty="0"/>
          </a:p>
        </p:txBody>
      </p:sp>
      <p:sp>
        <p:nvSpPr>
          <p:cNvPr id="3" name="Shape 1"/>
          <p:cNvSpPr/>
          <p:nvPr/>
        </p:nvSpPr>
        <p:spPr>
          <a:xfrm>
            <a:off x="548640" y="1417320"/>
            <a:ext cx="6309360" cy="1325880"/>
          </a:xfrm>
          <a:prstGeom prst="roundRect">
            <a:avLst>
              <a:gd name="adj" fmla="val 6897"/>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4" name="Text 2"/>
          <p:cNvSpPr/>
          <p:nvPr/>
        </p:nvSpPr>
        <p:spPr>
          <a:xfrm>
            <a:off x="822960" y="1801368"/>
            <a:ext cx="868680" cy="502920"/>
          </a:xfrm>
          <a:prstGeom prst="roundRect">
            <a:avLst>
              <a:gd name="adj" fmla="val 21818"/>
            </a:avLst>
          </a:prstGeom>
          <a:solidFill>
            <a:srgbClr val="D1FAE5"/>
          </a:solidFill>
          <a:ln/>
        </p:spPr>
        <p:txBody>
          <a:bodyPr wrap="square" rtlCol="0" anchor="ctr"/>
          <a:lstStyle/>
          <a:p>
            <a:pPr algn="ctr" indent="0" marL="0">
              <a:buNone/>
            </a:pPr>
            <a:r>
              <a:rPr lang="en-US" sz="1500" b="1" dirty="0">
                <a:solidFill>
                  <a:srgbClr val="059669"/>
                </a:solidFill>
                <a:latin typeface="Calibri" pitchFamily="34" charset="0"/>
                <a:ea typeface="Calibri" pitchFamily="34" charset="-122"/>
                <a:cs typeface="Calibri" pitchFamily="34" charset="-120"/>
              </a:rPr>
              <a:t>TAM</a:t>
            </a:r>
            <a:endParaRPr lang="en-US" sz="1500" dirty="0"/>
          </a:p>
        </p:txBody>
      </p:sp>
      <p:sp>
        <p:nvSpPr>
          <p:cNvPr id="5" name="Text 3"/>
          <p:cNvSpPr/>
          <p:nvPr/>
        </p:nvSpPr>
        <p:spPr>
          <a:xfrm>
            <a:off x="1874520" y="1581912"/>
            <a:ext cx="196596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$28B</a:t>
            </a:r>
            <a:endParaRPr lang="en-US" sz="3000" dirty="0"/>
          </a:p>
        </p:txBody>
      </p:sp>
      <p:sp>
        <p:nvSpPr>
          <p:cNvPr id="6" name="Text 4"/>
          <p:cNvSpPr/>
          <p:nvPr/>
        </p:nvSpPr>
        <p:spPr>
          <a:xfrm>
            <a:off x="3886200" y="1563624"/>
            <a:ext cx="2788920" cy="10515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Global supply chain management software spend, 2025.</a:t>
            </a:r>
            <a:endParaRPr lang="en-US" sz="1100" dirty="0"/>
          </a:p>
        </p:txBody>
      </p:sp>
      <p:sp>
        <p:nvSpPr>
          <p:cNvPr id="7" name="Shape 5"/>
          <p:cNvSpPr/>
          <p:nvPr/>
        </p:nvSpPr>
        <p:spPr>
          <a:xfrm>
            <a:off x="548640" y="2898648"/>
            <a:ext cx="6309360" cy="1325880"/>
          </a:xfrm>
          <a:prstGeom prst="roundRect">
            <a:avLst>
              <a:gd name="adj" fmla="val 6897"/>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8" name="Text 6"/>
          <p:cNvSpPr/>
          <p:nvPr/>
        </p:nvSpPr>
        <p:spPr>
          <a:xfrm>
            <a:off x="822960" y="3282696"/>
            <a:ext cx="868680" cy="502920"/>
          </a:xfrm>
          <a:prstGeom prst="roundRect">
            <a:avLst>
              <a:gd name="adj" fmla="val 21818"/>
            </a:avLst>
          </a:prstGeom>
          <a:solidFill>
            <a:srgbClr val="CCFBF1"/>
          </a:solidFill>
          <a:ln/>
        </p:spPr>
        <p:txBody>
          <a:bodyPr wrap="square" rtlCol="0" anchor="ctr"/>
          <a:lstStyle/>
          <a:p>
            <a:pPr algn="ctr" indent="0" marL="0">
              <a:buNone/>
            </a:pPr>
            <a:r>
              <a:rPr lang="en-US" sz="1500" b="1" dirty="0">
                <a:solidFill>
                  <a:srgbClr val="0F766E"/>
                </a:solidFill>
                <a:latin typeface="Calibri" pitchFamily="34" charset="0"/>
                <a:ea typeface="Calibri" pitchFamily="34" charset="-122"/>
                <a:cs typeface="Calibri" pitchFamily="34" charset="-120"/>
              </a:rPr>
              <a:t>SAM</a:t>
            </a:r>
            <a:endParaRPr lang="en-US" sz="1500" dirty="0"/>
          </a:p>
        </p:txBody>
      </p:sp>
      <p:sp>
        <p:nvSpPr>
          <p:cNvPr id="9" name="Text 7"/>
          <p:cNvSpPr/>
          <p:nvPr/>
        </p:nvSpPr>
        <p:spPr>
          <a:xfrm>
            <a:off x="1874520" y="3063240"/>
            <a:ext cx="196596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$6.5B</a:t>
            </a:r>
            <a:endParaRPr lang="en-US" sz="3000" dirty="0"/>
          </a:p>
        </p:txBody>
      </p:sp>
      <p:sp>
        <p:nvSpPr>
          <p:cNvPr id="10" name="Text 8"/>
          <p:cNvSpPr/>
          <p:nvPr/>
        </p:nvSpPr>
        <p:spPr>
          <a:xfrm>
            <a:off x="3886200" y="3044952"/>
            <a:ext cx="2788920" cy="10515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Supply chain visibility (~$3.3B) + inventory management software (~$3.2B) — the goods-in-motion layer, growing 13%+ per year.</a:t>
            </a:r>
            <a:endParaRPr lang="en-US" sz="1100" dirty="0"/>
          </a:p>
        </p:txBody>
      </p:sp>
      <p:sp>
        <p:nvSpPr>
          <p:cNvPr id="11" name="Shape 9"/>
          <p:cNvSpPr/>
          <p:nvPr/>
        </p:nvSpPr>
        <p:spPr>
          <a:xfrm>
            <a:off x="548640" y="4379976"/>
            <a:ext cx="6309360" cy="1325880"/>
          </a:xfrm>
          <a:prstGeom prst="roundRect">
            <a:avLst>
              <a:gd name="adj" fmla="val 6897"/>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2" name="Text 10"/>
          <p:cNvSpPr/>
          <p:nvPr/>
        </p:nvSpPr>
        <p:spPr>
          <a:xfrm>
            <a:off x="822960" y="4764024"/>
            <a:ext cx="868680" cy="502920"/>
          </a:xfrm>
          <a:prstGeom prst="roundRect">
            <a:avLst>
              <a:gd name="adj" fmla="val 21818"/>
            </a:avLst>
          </a:prstGeom>
          <a:solidFill>
            <a:srgbClr val="FEF3C7"/>
          </a:solidFill>
          <a:ln/>
        </p:spPr>
        <p:txBody>
          <a:bodyPr wrap="square" rtlCol="0" anchor="ctr"/>
          <a:lstStyle/>
          <a:p>
            <a:pPr algn="ctr" indent="0" marL="0">
              <a:buNone/>
            </a:pPr>
            <a:r>
              <a:rPr lang="en-US" sz="1500" b="1" dirty="0">
                <a:solidFill>
                  <a:srgbClr val="B45309"/>
                </a:solidFill>
                <a:latin typeface="Calibri" pitchFamily="34" charset="0"/>
                <a:ea typeface="Calibri" pitchFamily="34" charset="-122"/>
                <a:cs typeface="Calibri" pitchFamily="34" charset="-120"/>
              </a:rPr>
              <a:t>SOM</a:t>
            </a:r>
            <a:endParaRPr lang="en-US" sz="1500" dirty="0"/>
          </a:p>
        </p:txBody>
      </p:sp>
      <p:sp>
        <p:nvSpPr>
          <p:cNvPr id="13" name="Text 11"/>
          <p:cNvSpPr/>
          <p:nvPr/>
        </p:nvSpPr>
        <p:spPr>
          <a:xfrm>
            <a:off x="1874520" y="4544568"/>
            <a:ext cx="196596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$48M ARR</a:t>
            </a:r>
            <a:endParaRPr lang="en-US" sz="3000" dirty="0"/>
          </a:p>
        </p:txBody>
      </p:sp>
      <p:sp>
        <p:nvSpPr>
          <p:cNvPr id="14" name="Text 12"/>
          <p:cNvSpPr/>
          <p:nvPr/>
        </p:nvSpPr>
        <p:spPr>
          <a:xfrm>
            <a:off x="3886200" y="4526280"/>
            <a:ext cx="2788920" cy="10515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Beachhead: ~4,000 U.S. mid-market serialized-hardware exporters × $12K average contract.</a:t>
            </a:r>
            <a:endParaRPr lang="en-US" sz="1100" dirty="0"/>
          </a:p>
        </p:txBody>
      </p:sp>
      <p:sp>
        <p:nvSpPr>
          <p:cNvPr id="15" name="Shape 13"/>
          <p:cNvSpPr/>
          <p:nvPr/>
        </p:nvSpPr>
        <p:spPr>
          <a:xfrm>
            <a:off x="7178040" y="1417320"/>
            <a:ext cx="4434840" cy="4526280"/>
          </a:xfrm>
          <a:prstGeom prst="roundRect">
            <a:avLst>
              <a:gd name="adj" fmla="val 2062"/>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graphicFrame>
        <p:nvGraphicFramePr>
          <p:cNvPr id="16" name="Chart 0" descr=""/>
          <p:cNvGraphicFramePr/>
          <p:nvPr/>
        </p:nvGraphicFramePr>
        <p:xfrm>
          <a:off x="7452360" y="1783080"/>
          <a:ext cx="3886200" cy="329184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7452360" y="5120640"/>
            <a:ext cx="3886200" cy="365760"/>
          </a:xfrm>
          <a:prstGeom prst="rect">
            <a:avLst/>
          </a:prstGeom>
          <a:noFill/>
          <a:ln/>
        </p:spPr>
        <p:txBody>
          <a:bodyPr wrap="square" lIns="0" tIns="0" rIns="0" bIns="0" rtlCol="0" anchor="ctr"/>
          <a:lstStyle/>
          <a:p>
            <a:pPr algn="ctr" indent="0" marL="0">
              <a:buNone/>
            </a:pPr>
            <a:r>
              <a:rPr lang="en-US" sz="1400" b="1" dirty="0">
                <a:solidFill>
                  <a:srgbClr val="059669"/>
                </a:solidFill>
                <a:latin typeface="Calibri" pitchFamily="34" charset="0"/>
                <a:ea typeface="Calibri" pitchFamily="34" charset="-122"/>
                <a:cs typeface="Calibri" pitchFamily="34" charset="-120"/>
              </a:rPr>
              <a:t>13%+ CAGR</a:t>
            </a:r>
            <a:endParaRPr lang="en-US" sz="1400" dirty="0"/>
          </a:p>
        </p:txBody>
      </p:sp>
      <p:sp>
        <p:nvSpPr>
          <p:cNvPr id="18" name="Text 15"/>
          <p:cNvSpPr/>
          <p:nvPr/>
        </p:nvSpPr>
        <p:spPr>
          <a:xfrm>
            <a:off x="548640" y="6172200"/>
            <a:ext cx="1106424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Sources: Technavio (SCM software, 2025); GM Insights &amp; Mordor Intelligence (supply chain visibility, 2025); Grand View Research (inventory management software, 2025). SOM is an internal estimate.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Visibility tools see trucks. We see accounting truth.</a:t>
            </a:r>
            <a:endParaRPr lang="en-US" sz="3400" dirty="0"/>
          </a:p>
        </p:txBody>
      </p:sp>
      <p:sp>
        <p:nvSpPr>
          <p:cNvPr id="3" name="Shape 1"/>
          <p:cNvSpPr/>
          <p:nvPr/>
        </p:nvSpPr>
        <p:spPr>
          <a:xfrm>
            <a:off x="548640" y="1417320"/>
            <a:ext cx="3337560" cy="2148840"/>
          </a:xfrm>
          <a:prstGeom prst="roundRect">
            <a:avLst>
              <a:gd name="adj" fmla="val 4255"/>
            </a:avLst>
          </a:prstGeom>
          <a:solidFill>
            <a:srgbClr val="F8FAFC"/>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4" name="Text 2"/>
          <p:cNvSpPr/>
          <p:nvPr/>
        </p:nvSpPr>
        <p:spPr>
          <a:xfrm>
            <a:off x="804672" y="1645920"/>
            <a:ext cx="2834640" cy="5486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project44 · FourKites</a:t>
            </a:r>
            <a:endParaRPr lang="en-US" sz="1500" dirty="0"/>
          </a:p>
        </p:txBody>
      </p:sp>
      <p:sp>
        <p:nvSpPr>
          <p:cNvPr id="5" name="Text 3"/>
          <p:cNvSpPr/>
          <p:nvPr/>
        </p:nvSpPr>
        <p:spPr>
          <a:xfrm>
            <a:off x="804672" y="2240280"/>
            <a:ext cx="2834640" cy="11887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Carrier telemetry: where the truck is — not who has custody, or what that means for revenue.</a:t>
            </a:r>
            <a:endParaRPr lang="en-US" sz="1150" dirty="0"/>
          </a:p>
        </p:txBody>
      </p:sp>
      <p:sp>
        <p:nvSpPr>
          <p:cNvPr id="6" name="Shape 4"/>
          <p:cNvSpPr/>
          <p:nvPr/>
        </p:nvSpPr>
        <p:spPr>
          <a:xfrm>
            <a:off x="4069080" y="1417320"/>
            <a:ext cx="3337560" cy="2148840"/>
          </a:xfrm>
          <a:prstGeom prst="roundRect">
            <a:avLst>
              <a:gd name="adj" fmla="val 4255"/>
            </a:avLst>
          </a:prstGeom>
          <a:solidFill>
            <a:srgbClr val="F8FAFC"/>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7" name="Text 5"/>
          <p:cNvSpPr/>
          <p:nvPr/>
        </p:nvSpPr>
        <p:spPr>
          <a:xfrm>
            <a:off x="4325112" y="1645920"/>
            <a:ext cx="2834640" cy="5486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ERP inventory modules</a:t>
            </a:r>
            <a:endParaRPr lang="en-US" sz="1500" dirty="0"/>
          </a:p>
        </p:txBody>
      </p:sp>
      <p:sp>
        <p:nvSpPr>
          <p:cNvPr id="8" name="Text 6"/>
          <p:cNvSpPr/>
          <p:nvPr/>
        </p:nvSpPr>
        <p:spPr>
          <a:xfrm>
            <a:off x="4325112" y="2240280"/>
            <a:ext cx="2834640" cy="11887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Records after the fact. Blind between warehouse scans; nothing captures the hand-off itself.</a:t>
            </a:r>
            <a:endParaRPr lang="en-US" sz="1150" dirty="0"/>
          </a:p>
        </p:txBody>
      </p:sp>
      <p:sp>
        <p:nvSpPr>
          <p:cNvPr id="9" name="Shape 7"/>
          <p:cNvSpPr/>
          <p:nvPr/>
        </p:nvSpPr>
        <p:spPr>
          <a:xfrm>
            <a:off x="548640" y="3749040"/>
            <a:ext cx="3337560" cy="2148840"/>
          </a:xfrm>
          <a:prstGeom prst="roundRect">
            <a:avLst>
              <a:gd name="adj" fmla="val 4255"/>
            </a:avLst>
          </a:prstGeom>
          <a:solidFill>
            <a:srgbClr val="F8FAFC"/>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0" name="Text 8"/>
          <p:cNvSpPr/>
          <p:nvPr/>
        </p:nvSpPr>
        <p:spPr>
          <a:xfrm>
            <a:off x="804672" y="3977640"/>
            <a:ext cx="2834640" cy="5486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BlackLine &amp; close tools</a:t>
            </a:r>
            <a:endParaRPr lang="en-US" sz="1500" dirty="0"/>
          </a:p>
        </p:txBody>
      </p:sp>
      <p:sp>
        <p:nvSpPr>
          <p:cNvPr id="11" name="Text 9"/>
          <p:cNvSpPr/>
          <p:nvPr/>
        </p:nvSpPr>
        <p:spPr>
          <a:xfrm>
            <a:off x="804672" y="4572000"/>
            <a:ext cx="2834640" cy="11887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Automation begins once data exists. They inherit whatever the field failed to capture.</a:t>
            </a:r>
            <a:endParaRPr lang="en-US" sz="1150" dirty="0"/>
          </a:p>
        </p:txBody>
      </p:sp>
      <p:sp>
        <p:nvSpPr>
          <p:cNvPr id="12" name="Shape 10"/>
          <p:cNvSpPr/>
          <p:nvPr/>
        </p:nvSpPr>
        <p:spPr>
          <a:xfrm>
            <a:off x="4069080" y="3749040"/>
            <a:ext cx="3337560" cy="2148840"/>
          </a:xfrm>
          <a:prstGeom prst="roundRect">
            <a:avLst>
              <a:gd name="adj" fmla="val 4255"/>
            </a:avLst>
          </a:prstGeom>
          <a:solidFill>
            <a:srgbClr val="F8FAFC"/>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3" name="Text 11"/>
          <p:cNvSpPr/>
          <p:nvPr/>
        </p:nvSpPr>
        <p:spPr>
          <a:xfrm>
            <a:off x="4325112" y="3977640"/>
            <a:ext cx="2834640" cy="5486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Spreadsheets + email</a:t>
            </a:r>
            <a:endParaRPr lang="en-US" sz="1500" dirty="0"/>
          </a:p>
        </p:txBody>
      </p:sp>
      <p:sp>
        <p:nvSpPr>
          <p:cNvPr id="14" name="Text 12"/>
          <p:cNvSpPr/>
          <p:nvPr/>
        </p:nvSpPr>
        <p:spPr>
          <a:xfrm>
            <a:off x="4325112" y="4572000"/>
            <a:ext cx="2834640" cy="11887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The actual incumbent. Transaction dates live in inboxes until an auditor asks.</a:t>
            </a:r>
            <a:endParaRPr lang="en-US" sz="1150" dirty="0"/>
          </a:p>
        </p:txBody>
      </p:sp>
      <p:sp>
        <p:nvSpPr>
          <p:cNvPr id="15" name="Shape 13"/>
          <p:cNvSpPr/>
          <p:nvPr/>
        </p:nvSpPr>
        <p:spPr>
          <a:xfrm>
            <a:off x="7772400" y="1417320"/>
            <a:ext cx="3840480" cy="4663440"/>
          </a:xfrm>
          <a:prstGeom prst="roundRect">
            <a:avLst>
              <a:gd name="adj" fmla="val 2381"/>
            </a:avLst>
          </a:prstGeom>
          <a:solidFill>
            <a:srgbClr val="0F172A"/>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6" name="Text 14"/>
          <p:cNvSpPr/>
          <p:nvPr/>
        </p:nvSpPr>
        <p:spPr>
          <a:xfrm>
            <a:off x="8092440" y="1691640"/>
            <a:ext cx="3200400" cy="411480"/>
          </a:xfrm>
          <a:prstGeom prst="rect">
            <a:avLst/>
          </a:prstGeom>
          <a:noFill/>
          <a:ln/>
        </p:spPr>
        <p:txBody>
          <a:bodyPr wrap="square" lIns="0" tIns="0" rIns="0" bIns="0" rtlCol="0" anchor="ctr"/>
          <a:lstStyle/>
          <a:p>
            <a:pPr indent="0" marL="0">
              <a:buNone/>
            </a:pPr>
            <a:r>
              <a:rPr lang="en-US" sz="1800" b="1" dirty="0">
                <a:solidFill>
                  <a:srgbClr val="34D399"/>
                </a:solidFill>
                <a:latin typeface="Calibri" pitchFamily="34" charset="0"/>
                <a:ea typeface="Calibri" pitchFamily="34" charset="-122"/>
                <a:cs typeface="Calibri" pitchFamily="34" charset="-120"/>
              </a:rPr>
              <a:t>Only Transit Guard</a:t>
            </a:r>
            <a:endParaRPr lang="en-US" sz="1800" dirty="0"/>
          </a:p>
        </p:txBody>
      </p:sp>
      <p:sp>
        <p:nvSpPr>
          <p:cNvPr id="17" name="Text 15"/>
          <p:cNvSpPr/>
          <p:nvPr/>
        </p:nvSpPr>
        <p:spPr>
          <a:xfrm>
            <a:off x="8092440" y="2286000"/>
            <a:ext cx="320040" cy="36576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8458200" y="2286000"/>
            <a:ext cx="2971800" cy="868680"/>
          </a:xfrm>
          <a:prstGeom prst="rect">
            <a:avLst/>
          </a:prstGeom>
          <a:noFill/>
          <a:ln/>
        </p:spPr>
        <p:txBody>
          <a:bodyPr wrap="square" lIns="0" tIns="0" rIns="0" bIns="0" rtlCol="0" anchor="ctr"/>
          <a:lstStyle/>
          <a:p>
            <a:pPr indent="0" marL="0">
              <a:buNone/>
            </a:pPr>
            <a:r>
              <a:rPr lang="en-US" sz="1150" dirty="0">
                <a:solidFill>
                  <a:srgbClr val="E2E8F0"/>
                </a:solidFill>
                <a:latin typeface="Calibri" pitchFamily="34" charset="0"/>
                <a:ea typeface="Calibri" pitchFamily="34" charset="-122"/>
                <a:cs typeface="Calibri" pitchFamily="34" charset="-120"/>
              </a:rPr>
              <a:t>Accounting-grade custody ledger — every hand-off dated, vendor-signed, exportable</a:t>
            </a:r>
            <a:endParaRPr lang="en-US" sz="1150" dirty="0"/>
          </a:p>
        </p:txBody>
      </p:sp>
      <p:sp>
        <p:nvSpPr>
          <p:cNvPr id="19" name="Text 17"/>
          <p:cNvSpPr/>
          <p:nvPr/>
        </p:nvSpPr>
        <p:spPr>
          <a:xfrm>
            <a:off x="8092440" y="3218688"/>
            <a:ext cx="320040" cy="36576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8458200" y="3218688"/>
            <a:ext cx="2971800" cy="868680"/>
          </a:xfrm>
          <a:prstGeom prst="rect">
            <a:avLst/>
          </a:prstGeom>
          <a:noFill/>
          <a:ln/>
        </p:spPr>
        <p:txBody>
          <a:bodyPr wrap="square" lIns="0" tIns="0" rIns="0" bIns="0" rtlCol="0" anchor="ctr"/>
          <a:lstStyle/>
          <a:p>
            <a:pPr indent="0" marL="0">
              <a:buNone/>
            </a:pPr>
            <a:r>
              <a:rPr lang="en-US" sz="1150" dirty="0">
                <a:solidFill>
                  <a:srgbClr val="E2E8F0"/>
                </a:solidFill>
                <a:latin typeface="Calibri" pitchFamily="34" charset="0"/>
                <a:ea typeface="Calibri" pitchFamily="34" charset="-122"/>
                <a:cs typeface="Calibri" pitchFamily="34" charset="-120"/>
              </a:rPr>
              <a:t>Customs document engine with valuation-method evidence</a:t>
            </a:r>
            <a:endParaRPr lang="en-US" sz="1150" dirty="0"/>
          </a:p>
        </p:txBody>
      </p:sp>
      <p:sp>
        <p:nvSpPr>
          <p:cNvPr id="21" name="Text 19"/>
          <p:cNvSpPr/>
          <p:nvPr/>
        </p:nvSpPr>
        <p:spPr>
          <a:xfrm>
            <a:off x="8092440" y="4151376"/>
            <a:ext cx="320040" cy="36576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458200" y="4151376"/>
            <a:ext cx="2971800" cy="868680"/>
          </a:xfrm>
          <a:prstGeom prst="rect">
            <a:avLst/>
          </a:prstGeom>
          <a:noFill/>
          <a:ln/>
        </p:spPr>
        <p:txBody>
          <a:bodyPr wrap="square" lIns="0" tIns="0" rIns="0" bIns="0" rtlCol="0" anchor="ctr"/>
          <a:lstStyle/>
          <a:p>
            <a:pPr indent="0" marL="0">
              <a:buNone/>
            </a:pPr>
            <a:r>
              <a:rPr lang="en-US" sz="1150" dirty="0">
                <a:solidFill>
                  <a:srgbClr val="E2E8F0"/>
                </a:solidFill>
                <a:latin typeface="Calibri" pitchFamily="34" charset="0"/>
                <a:ea typeface="Calibri" pitchFamily="34" charset="-122"/>
                <a:cs typeface="Calibri" pitchFamily="34" charset="-120"/>
              </a:rPr>
              <a:t>AI flags tied to materiality: cutoff, accruals, count scope, tax timing</a:t>
            </a:r>
            <a:endParaRPr lang="en-US" sz="1150" dirty="0"/>
          </a:p>
        </p:txBody>
      </p:sp>
      <p:sp>
        <p:nvSpPr>
          <p:cNvPr id="23" name="Text 21"/>
          <p:cNvSpPr/>
          <p:nvPr/>
        </p:nvSpPr>
        <p:spPr>
          <a:xfrm>
            <a:off x="8092440" y="5084064"/>
            <a:ext cx="320040" cy="36576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8458200" y="5084064"/>
            <a:ext cx="2971800" cy="868680"/>
          </a:xfrm>
          <a:prstGeom prst="rect">
            <a:avLst/>
          </a:prstGeom>
          <a:noFill/>
          <a:ln/>
        </p:spPr>
        <p:txBody>
          <a:bodyPr wrap="square" lIns="0" tIns="0" rIns="0" bIns="0" rtlCol="0" anchor="ctr"/>
          <a:lstStyle/>
          <a:p>
            <a:pPr indent="0" marL="0">
              <a:buNone/>
            </a:pPr>
            <a:r>
              <a:rPr lang="en-US" sz="1150" dirty="0">
                <a:solidFill>
                  <a:srgbClr val="E2E8F0"/>
                </a:solidFill>
                <a:latin typeface="Calibri" pitchFamily="34" charset="0"/>
                <a:ea typeface="Calibri" pitchFamily="34" charset="-122"/>
                <a:cs typeface="Calibri" pitchFamily="34" charset="-120"/>
              </a:rPr>
              <a:t>Built for the warehouse: mobile-first, multilingual, on-device OCR</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From hackathon to pilot.</a:t>
            </a:r>
            <a:endParaRPr lang="en-US" sz="3400" dirty="0"/>
          </a:p>
        </p:txBody>
      </p:sp>
      <p:sp>
        <p:nvSpPr>
          <p:cNvPr id="3" name="Shape 1"/>
          <p:cNvSpPr/>
          <p:nvPr/>
        </p:nvSpPr>
        <p:spPr>
          <a:xfrm>
            <a:off x="548640" y="1417320"/>
            <a:ext cx="3611880" cy="2743200"/>
          </a:xfrm>
          <a:prstGeom prst="roundRect">
            <a:avLst>
              <a:gd name="adj" fmla="val 3333"/>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4" name="Shape 2"/>
          <p:cNvSpPr/>
          <p:nvPr/>
        </p:nvSpPr>
        <p:spPr>
          <a:xfrm>
            <a:off x="804672" y="1691640"/>
            <a:ext cx="512064" cy="512064"/>
          </a:xfrm>
          <a:prstGeom prst="ellipse">
            <a:avLst/>
          </a:prstGeom>
          <a:solidFill>
            <a:srgbClr val="D1FAE5"/>
          </a:solidFill>
          <a:ln/>
        </p:spPr>
      </p:sp>
      <p:pic>
        <p:nvPicPr>
          <p:cNvPr id="5" name="Image 0" descr="preencoded.png">    </p:cNvPr>
          <p:cNvPicPr>
            <a:picLocks noChangeAspect="1"/>
          </p:cNvPicPr>
          <p:nvPr/>
        </p:nvPicPr>
        <p:blipFill>
          <a:blip r:embed="rId1"/>
          <a:stretch>
            <a:fillRect/>
          </a:stretch>
        </p:blipFill>
        <p:spPr>
          <a:xfrm>
            <a:off x="937809" y="1824777"/>
            <a:ext cx="245791" cy="245791"/>
          </a:xfrm>
          <a:prstGeom prst="rect">
            <a:avLst/>
          </a:prstGeom>
        </p:spPr>
      </p:pic>
      <p:sp>
        <p:nvSpPr>
          <p:cNvPr id="6" name="Text 3"/>
          <p:cNvSpPr/>
          <p:nvPr/>
        </p:nvSpPr>
        <p:spPr>
          <a:xfrm>
            <a:off x="804672" y="2359152"/>
            <a:ext cx="3108960" cy="36576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Now — built this week</a:t>
            </a:r>
            <a:endParaRPr lang="en-US" sz="1550" dirty="0"/>
          </a:p>
        </p:txBody>
      </p:sp>
      <p:sp>
        <p:nvSpPr>
          <p:cNvPr id="7" name="Text 4"/>
          <p:cNvSpPr/>
          <p:nvPr/>
        </p:nvSpPr>
        <p:spPr>
          <a:xfrm>
            <a:off x="804672" y="2743200"/>
            <a:ext cx="3127248" cy="132588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Working phone-frame demo: AI vendor search, scan intake, custody chains, EU hand-off QR, customs engine, AI flags, audit export, EN/ES/FR, on-device OCR.</a:t>
            </a:r>
            <a:endParaRPr lang="en-US" sz="1150" dirty="0"/>
          </a:p>
        </p:txBody>
      </p:sp>
      <p:sp>
        <p:nvSpPr>
          <p:cNvPr id="8" name="Shape 5"/>
          <p:cNvSpPr/>
          <p:nvPr/>
        </p:nvSpPr>
        <p:spPr>
          <a:xfrm>
            <a:off x="4370832" y="1417320"/>
            <a:ext cx="3611880" cy="2743200"/>
          </a:xfrm>
          <a:prstGeom prst="roundRect">
            <a:avLst>
              <a:gd name="adj" fmla="val 3333"/>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9" name="Shape 6"/>
          <p:cNvSpPr/>
          <p:nvPr/>
        </p:nvSpPr>
        <p:spPr>
          <a:xfrm>
            <a:off x="4626864" y="1691640"/>
            <a:ext cx="512064" cy="512064"/>
          </a:xfrm>
          <a:prstGeom prst="ellipse">
            <a:avLst/>
          </a:prstGeom>
          <a:solidFill>
            <a:srgbClr val="D1FAE5"/>
          </a:solidFill>
          <a:ln/>
        </p:spPr>
      </p:sp>
      <p:pic>
        <p:nvPicPr>
          <p:cNvPr id="10" name="Image 1" descr="preencoded.png">    </p:cNvPr>
          <p:cNvPicPr>
            <a:picLocks noChangeAspect="1"/>
          </p:cNvPicPr>
          <p:nvPr/>
        </p:nvPicPr>
        <p:blipFill>
          <a:blip r:embed="rId2"/>
          <a:stretch>
            <a:fillRect/>
          </a:stretch>
        </p:blipFill>
        <p:spPr>
          <a:xfrm>
            <a:off x="4760001" y="1824777"/>
            <a:ext cx="245791" cy="245791"/>
          </a:xfrm>
          <a:prstGeom prst="rect">
            <a:avLst/>
          </a:prstGeom>
        </p:spPr>
      </p:pic>
      <p:sp>
        <p:nvSpPr>
          <p:cNvPr id="11" name="Text 7"/>
          <p:cNvSpPr/>
          <p:nvPr/>
        </p:nvSpPr>
        <p:spPr>
          <a:xfrm>
            <a:off x="4626864" y="2359152"/>
            <a:ext cx="3108960" cy="36576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Next two quarters</a:t>
            </a:r>
            <a:endParaRPr lang="en-US" sz="1550" dirty="0"/>
          </a:p>
        </p:txBody>
      </p:sp>
      <p:sp>
        <p:nvSpPr>
          <p:cNvPr id="12" name="Text 8"/>
          <p:cNvSpPr/>
          <p:nvPr/>
        </p:nvSpPr>
        <p:spPr>
          <a:xfrm>
            <a:off x="4626864" y="2743200"/>
            <a:ext cx="3127248" cy="132588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NetSuite SuiteApp connector first, then SAP/Oracle. Carrier partner API GA + EU QR hand-off standard. Auditor read-only portal. Camera scanning hardened for warehouse light.</a:t>
            </a:r>
            <a:endParaRPr lang="en-US" sz="1150" dirty="0"/>
          </a:p>
        </p:txBody>
      </p:sp>
      <p:sp>
        <p:nvSpPr>
          <p:cNvPr id="13" name="Shape 9"/>
          <p:cNvSpPr/>
          <p:nvPr/>
        </p:nvSpPr>
        <p:spPr>
          <a:xfrm>
            <a:off x="8193024" y="1417320"/>
            <a:ext cx="3611880" cy="2743200"/>
          </a:xfrm>
          <a:prstGeom prst="roundRect">
            <a:avLst>
              <a:gd name="adj" fmla="val 3333"/>
            </a:avLst>
          </a:prstGeom>
          <a:solidFill>
            <a:srgbClr val="FFFFFF"/>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4" name="Shape 10"/>
          <p:cNvSpPr/>
          <p:nvPr/>
        </p:nvSpPr>
        <p:spPr>
          <a:xfrm>
            <a:off x="8449056" y="1691640"/>
            <a:ext cx="512064" cy="512064"/>
          </a:xfrm>
          <a:prstGeom prst="ellipse">
            <a:avLst/>
          </a:prstGeom>
          <a:solidFill>
            <a:srgbClr val="CCFBF1"/>
          </a:solidFill>
          <a:ln/>
        </p:spPr>
      </p:sp>
      <p:pic>
        <p:nvPicPr>
          <p:cNvPr id="15" name="Image 2" descr="preencoded.png">    </p:cNvPr>
          <p:cNvPicPr>
            <a:picLocks noChangeAspect="1"/>
          </p:cNvPicPr>
          <p:nvPr/>
        </p:nvPicPr>
        <p:blipFill>
          <a:blip r:embed="rId3"/>
          <a:stretch>
            <a:fillRect/>
          </a:stretch>
        </p:blipFill>
        <p:spPr>
          <a:xfrm>
            <a:off x="8582193" y="1824777"/>
            <a:ext cx="245791" cy="245791"/>
          </a:xfrm>
          <a:prstGeom prst="rect">
            <a:avLst/>
          </a:prstGeom>
        </p:spPr>
      </p:pic>
      <p:sp>
        <p:nvSpPr>
          <p:cNvPr id="16" name="Text 11"/>
          <p:cNvSpPr/>
          <p:nvPr/>
        </p:nvSpPr>
        <p:spPr>
          <a:xfrm>
            <a:off x="8449056" y="2359152"/>
            <a:ext cx="3108960" cy="36576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Later</a:t>
            </a:r>
            <a:endParaRPr lang="en-US" sz="1550" dirty="0"/>
          </a:p>
        </p:txBody>
      </p:sp>
      <p:sp>
        <p:nvSpPr>
          <p:cNvPr id="17" name="Text 12"/>
          <p:cNvSpPr/>
          <p:nvPr/>
        </p:nvSpPr>
        <p:spPr>
          <a:xfrm>
            <a:off x="8449056" y="2743200"/>
            <a:ext cx="3127248" cy="132588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Duty and tax-timing optimizer (the Dec-vs-Jan purchase planner, productized). Multi-entity and multi-currency. SOC 2.</a:t>
            </a:r>
            <a:endParaRPr lang="en-US" sz="1150" dirty="0"/>
          </a:p>
        </p:txBody>
      </p:sp>
      <p:sp>
        <p:nvSpPr>
          <p:cNvPr id="18" name="Shape 13"/>
          <p:cNvSpPr/>
          <p:nvPr/>
        </p:nvSpPr>
        <p:spPr>
          <a:xfrm>
            <a:off x="548640" y="4526280"/>
            <a:ext cx="11064240" cy="1600200"/>
          </a:xfrm>
          <a:prstGeom prst="roundRect">
            <a:avLst>
              <a:gd name="adj" fmla="val 5714"/>
            </a:avLst>
          </a:prstGeom>
          <a:solidFill>
            <a:srgbClr val="0F172A"/>
          </a:solidFill>
          <a:ln w="12700">
            <a:solidFill>
              <a:srgbClr val="E2E8F0"/>
            </a:solidFill>
            <a:prstDash val="solid"/>
          </a:ln>
          <a:effectLst>
            <a:outerShdw sx="100000" sy="100000" kx="0" ky="0" algn="bl" rotWithShape="0" blurRad="88900" dist="25400" dir="5400000">
              <a:srgbClr val="CBD5E1">
                <a:alpha val="40000"/>
              </a:srgbClr>
            </a:outerShdw>
          </a:effectLst>
        </p:spPr>
      </p:sp>
      <p:sp>
        <p:nvSpPr>
          <p:cNvPr id="19" name="Text 14"/>
          <p:cNvSpPr/>
          <p:nvPr/>
        </p:nvSpPr>
        <p:spPr>
          <a:xfrm>
            <a:off x="914400" y="4754880"/>
            <a:ext cx="2743200" cy="36576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The ask</a:t>
            </a:r>
            <a:endParaRPr lang="en-US" sz="1600" dirty="0"/>
          </a:p>
        </p:txBody>
      </p:sp>
      <p:sp>
        <p:nvSpPr>
          <p:cNvPr id="20" name="Text 15"/>
          <p:cNvSpPr/>
          <p:nvPr/>
        </p:nvSpPr>
        <p:spPr>
          <a:xfrm>
            <a:off x="914400" y="5138928"/>
            <a:ext cx="10332720" cy="86868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Three design-partner pilots: hardware companies shipping serialized product internationally on NetSuite or SAP. We instrument one real shipment lane end-to-end and hand your controller the December cutoff file — free, in exchange for feedback and a case study.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68680" y="1613916"/>
            <a:ext cx="10424160" cy="0"/>
          </a:xfrm>
          <a:prstGeom prst="line">
            <a:avLst/>
          </a:prstGeom>
          <a:noFill/>
          <a:ln w="22225">
            <a:solidFill>
              <a:srgbClr val="0F766E"/>
            </a:solidFill>
            <a:prstDash val="solid"/>
          </a:ln>
        </p:spPr>
      </p:sp>
      <p:sp>
        <p:nvSpPr>
          <p:cNvPr id="3" name="Shape 1"/>
          <p:cNvSpPr/>
          <p:nvPr/>
        </p:nvSpPr>
        <p:spPr>
          <a:xfrm>
            <a:off x="809244" y="1554480"/>
            <a:ext cx="118872" cy="118872"/>
          </a:xfrm>
          <a:prstGeom prst="ellipse">
            <a:avLst/>
          </a:prstGeom>
          <a:solidFill>
            <a:srgbClr val="0F766E"/>
          </a:solidFill>
          <a:ln/>
        </p:spPr>
      </p:sp>
      <p:sp>
        <p:nvSpPr>
          <p:cNvPr id="4" name="Shape 2"/>
          <p:cNvSpPr/>
          <p:nvPr/>
        </p:nvSpPr>
        <p:spPr>
          <a:xfrm>
            <a:off x="2298410" y="1554480"/>
            <a:ext cx="118872" cy="118872"/>
          </a:xfrm>
          <a:prstGeom prst="ellipse">
            <a:avLst/>
          </a:prstGeom>
          <a:solidFill>
            <a:srgbClr val="0F766E"/>
          </a:solidFill>
          <a:ln/>
        </p:spPr>
      </p:sp>
      <p:sp>
        <p:nvSpPr>
          <p:cNvPr id="5" name="Shape 3"/>
          <p:cNvSpPr/>
          <p:nvPr/>
        </p:nvSpPr>
        <p:spPr>
          <a:xfrm>
            <a:off x="3787575" y="1554480"/>
            <a:ext cx="118872" cy="118872"/>
          </a:xfrm>
          <a:prstGeom prst="ellipse">
            <a:avLst/>
          </a:prstGeom>
          <a:solidFill>
            <a:srgbClr val="0F766E"/>
          </a:solidFill>
          <a:ln/>
        </p:spPr>
      </p:sp>
      <p:sp>
        <p:nvSpPr>
          <p:cNvPr id="6" name="Shape 4"/>
          <p:cNvSpPr/>
          <p:nvPr/>
        </p:nvSpPr>
        <p:spPr>
          <a:xfrm>
            <a:off x="5276741" y="1554480"/>
            <a:ext cx="118872" cy="118872"/>
          </a:xfrm>
          <a:prstGeom prst="ellipse">
            <a:avLst/>
          </a:prstGeom>
          <a:solidFill>
            <a:srgbClr val="0F766E"/>
          </a:solidFill>
          <a:ln/>
        </p:spPr>
      </p:sp>
      <p:sp>
        <p:nvSpPr>
          <p:cNvPr id="7" name="Shape 5"/>
          <p:cNvSpPr/>
          <p:nvPr/>
        </p:nvSpPr>
        <p:spPr>
          <a:xfrm>
            <a:off x="6765907" y="1554480"/>
            <a:ext cx="118872" cy="118872"/>
          </a:xfrm>
          <a:prstGeom prst="ellipse">
            <a:avLst/>
          </a:prstGeom>
          <a:solidFill>
            <a:srgbClr val="0F766E"/>
          </a:solidFill>
          <a:ln/>
        </p:spPr>
      </p:sp>
      <p:sp>
        <p:nvSpPr>
          <p:cNvPr id="8" name="Shape 6"/>
          <p:cNvSpPr/>
          <p:nvPr/>
        </p:nvSpPr>
        <p:spPr>
          <a:xfrm>
            <a:off x="8255073" y="1554480"/>
            <a:ext cx="118872" cy="118872"/>
          </a:xfrm>
          <a:prstGeom prst="ellipse">
            <a:avLst/>
          </a:prstGeom>
          <a:solidFill>
            <a:srgbClr val="0F766E"/>
          </a:solidFill>
          <a:ln/>
        </p:spPr>
      </p:sp>
      <p:sp>
        <p:nvSpPr>
          <p:cNvPr id="9" name="Shape 7"/>
          <p:cNvSpPr/>
          <p:nvPr/>
        </p:nvSpPr>
        <p:spPr>
          <a:xfrm>
            <a:off x="9744238" y="1554480"/>
            <a:ext cx="118872" cy="118872"/>
          </a:xfrm>
          <a:prstGeom prst="ellipse">
            <a:avLst/>
          </a:prstGeom>
          <a:solidFill>
            <a:srgbClr val="0F766E"/>
          </a:solidFill>
          <a:ln/>
        </p:spPr>
      </p:sp>
      <p:sp>
        <p:nvSpPr>
          <p:cNvPr id="10" name="Shape 8"/>
          <p:cNvSpPr/>
          <p:nvPr/>
        </p:nvSpPr>
        <p:spPr>
          <a:xfrm>
            <a:off x="11233404" y="1554480"/>
            <a:ext cx="118872" cy="118872"/>
          </a:xfrm>
          <a:prstGeom prst="ellipse">
            <a:avLst/>
          </a:prstGeom>
          <a:solidFill>
            <a:srgbClr val="0F766E"/>
          </a:solidFill>
          <a:ln/>
        </p:spPr>
      </p:sp>
      <p:sp>
        <p:nvSpPr>
          <p:cNvPr id="11" name="Text 9"/>
          <p:cNvSpPr/>
          <p:nvPr/>
        </p:nvSpPr>
        <p:spPr>
          <a:xfrm>
            <a:off x="822960" y="2148840"/>
            <a:ext cx="10515600" cy="18288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Every hand-off.</a:t>
            </a:r>
            <a:endParaRPr lang="en-US" sz="5200" dirty="0"/>
          </a:p>
          <a:p>
            <a:pPr indent="0" marL="0">
              <a:buNone/>
            </a:pPr>
            <a:r>
              <a:rPr lang="en-US" sz="5200" b="1" dirty="0">
                <a:solidFill>
                  <a:srgbClr val="FFFFFF"/>
                </a:solidFill>
                <a:latin typeface="Calibri" pitchFamily="34" charset="0"/>
                <a:ea typeface="Calibri" pitchFamily="34" charset="-122"/>
                <a:cs typeface="Calibri" pitchFamily="34" charset="-120"/>
              </a:rPr>
              <a:t>One transaction truth.</a:t>
            </a:r>
            <a:endParaRPr lang="en-US" sz="5200" dirty="0"/>
          </a:p>
        </p:txBody>
      </p:sp>
      <p:sp>
        <p:nvSpPr>
          <p:cNvPr id="12" name="Text 10"/>
          <p:cNvSpPr/>
          <p:nvPr/>
        </p:nvSpPr>
        <p:spPr>
          <a:xfrm>
            <a:off x="822960" y="4206240"/>
            <a:ext cx="10515600" cy="457200"/>
          </a:xfrm>
          <a:prstGeom prst="rect">
            <a:avLst/>
          </a:prstGeom>
          <a:noFill/>
          <a:ln/>
        </p:spPr>
        <p:txBody>
          <a:bodyPr wrap="square" lIns="0" tIns="0" rIns="0" bIns="0" rtlCol="0" anchor="ctr"/>
          <a:lstStyle/>
          <a:p>
            <a:pPr indent="0" marL="0">
              <a:buNone/>
            </a:pPr>
            <a:r>
              <a:rPr lang="en-US" sz="1800" b="1" dirty="0">
                <a:solidFill>
                  <a:srgbClr val="34D399"/>
                </a:solidFill>
                <a:latin typeface="Calibri" pitchFamily="34" charset="0"/>
                <a:ea typeface="Calibri" pitchFamily="34" charset="-122"/>
                <a:cs typeface="Calibri" pitchFamily="34" charset="-120"/>
              </a:rPr>
              <a:t>Transit Guard — Fast Insights Guard Suite</a:t>
            </a:r>
            <a:endParaRPr lang="en-US" sz="1800" dirty="0"/>
          </a:p>
        </p:txBody>
      </p:sp>
      <p:sp>
        <p:nvSpPr>
          <p:cNvPr id="13" name="Text 11"/>
          <p:cNvSpPr/>
          <p:nvPr/>
        </p:nvSpPr>
        <p:spPr>
          <a:xfrm>
            <a:off x="822960" y="4709160"/>
            <a:ext cx="10515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Live demo: localhost:5174 · All data synthetic · 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2026-08-07T18:39:26Z</dcterms:created>
  <dcterms:modified xsi:type="dcterms:W3CDTF">2026-08-07T18:39:26Z</dcterms:modified>
</cp:coreProperties>
</file>