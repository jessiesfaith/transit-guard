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75569"/>
                </a:solidFill>
                <a:latin typeface="Arial"/>
              </a:defRPr>
            </a:pPr>
            <a:r>
              <a:rPr sz="1300" b="0" i="0" u="none" strike="noStrike">
                <a:solidFill>
                  <a:srgbClr val="475569"/>
                </a:solidFill>
                <a:latin typeface="Arial"/>
              </a:rPr>
              <a:t>Supply chain visibility software, $B</a:t>
            </a:r>
          </a:p>
        </c:rich>
      </c:tx>
      <c:layout/>
      <c:overlay val="0"/>
    </c:title>
    <c:autoTitleDeleted val="0"/>
    <c:plotArea>
      <c:layout/>
      <c:barChart>
        <c:barDir val="col"/>
        <c:grouping val="clustered"/>
        <c:varyColors val="0"/>
        <c:ser>
          <c:idx val="0"/>
          <c:order val="0"/>
          <c:tx>
            <c:strRef>
              <c:f>Sheet1!$B$1</c:f>
              <c:strCache>
                <c:ptCount val="1"/>
                <c:pt idx="0">
                  <c:v>Market size ($B)</c:v>
                </c:pt>
              </c:strCache>
            </c:strRef>
          </c:tx>
          <c:spPr>
            <a:solidFill>
              <a:srgbClr val="059669"/>
            </a:solidFill>
            <a:effectLst/>
          </c:spPr>
          <c:invertIfNegative val="0"/>
          <c:dLbls>
            <c:numFmt formatCode="$0.0" sourceLinked="0"/>
            <c:txPr>
              <a:bodyPr/>
              <a:lstStyle/>
              <a:p>
                <a:pPr>
                  <a:defRPr b="0" i="0" strike="noStrike" sz="12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2025</c:v>
                  </c:pt>
                  <c:pt idx="1">
                    <c:v>2030</c:v>
                  </c:pt>
                  <c:pt idx="2">
                    <c:v>2035</c:v>
                  </c:pt>
                </c:lvl>
              </c:multiLvlStrCache>
            </c:multiLvlStrRef>
          </c:cat>
          <c:val>
            <c:numRef>
              <c:f>Sheet1!$B$2:$B$4</c:f>
              <c:numCache>
                <c:formatCode>General</c:formatCode>
                <c:ptCount val="3"/>
                <c:pt idx="0">
                  <c:v>3.3</c:v>
                </c:pt>
                <c:pt idx="1">
                  <c:v>6.3</c:v>
                </c:pt>
                <c:pt idx="2">
                  <c:v>10.9</c:v>
                </c:pt>
              </c:numCache>
            </c:numRef>
          </c:val>
        </c:ser>
        <c:dLbls>
          <c:numFmt formatCode="$0.0" sourceLinked="0"/>
          <c:txPr>
            <a:bodyPr/>
            <a:lstStyle/>
            <a:p>
              <a:pPr>
                <a:defRPr b="0" i="0" strike="noStrike" sz="12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max val="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Guard is the second product in the Fast Insights Guard suite. Inventory Close Guard proves the close; Transit Guard captures the custody truth that makes the close provable. All data in the demo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a unit leaves the shelf, the reason it left and the dates it changed hands stop being captured anywhere systematic. That is precisely the data revenue recognition and audit existence testing depend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mechanic: one transaction ID travels the whole chain. Accounting and the warehouse look at the same record. The RMA flow is the sale flow reversed — no new process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this slide exists and runs today. The OCR moment: tap “run on sample document,” Tesseract reads a trilingual customs valuation worksheet on-device, finds TX-20481, and attaches the missing worksheet — which un-blocks the customs checklist on the Customs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flags live in the demo. The point is not anomaly detection theater — each flag cites the custody events that prove it, and each one ends in a human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Positioning matters to judges who know the space: we are not competing with NetSuite, SAP, Oracle, or BlackLine. We are the capture layer between them — and the Guard suite gives us a built-in consumer of the evidence at close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is total SCM software spend. SAM narrows to the goods-in-motion layer where we live: visibility plus inventory software. SOM is the concrete beachhead: US mid-market companies exporting serialized hardware — exactly the Fast Insights profile — at a $12K land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Real-time transportation visibility platforms answer “where is my truck.” We answer “who has custody, since when, with what documents, and what does that mean for December revenue.” Different question, different buyer — the controller, not the logistics 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design is deliberately small: one shipment lane, one quarter, one deliverable the controller already wants — the cutoff evidence file at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tagline, then switch straight to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822960" y="1234440"/>
            <a:ext cx="10515600" cy="365760"/>
          </a:xfrm>
          <a:prstGeom prst="rect">
            <a:avLst/>
          </a:prstGeom>
          <a:noFill/>
          <a:ln/>
        </p:spPr>
        <p:txBody>
          <a:bodyPr wrap="square" lIns="0" tIns="0" rIns="0" bIns="0" rtlCol="0" anchor="ctr"/>
          <a:lstStyle/>
          <a:p>
            <a:pPr indent="0" marL="0">
              <a:buNone/>
            </a:pPr>
            <a:r>
              <a:rPr lang="en-US" sz="1500" b="1" spc="400" kern="0" dirty="0">
                <a:solidFill>
                  <a:srgbClr val="34D399"/>
                </a:solidFill>
                <a:latin typeface="Calibri" pitchFamily="34" charset="0"/>
                <a:ea typeface="Calibri" pitchFamily="34" charset="-122"/>
                <a:cs typeface="Calibri" pitchFamily="34" charset="-120"/>
              </a:rPr>
              <a:t>FAST INSIGHTS GUARD SUITE</a:t>
            </a:r>
            <a:endParaRPr lang="en-US" sz="1500" dirty="0"/>
          </a:p>
        </p:txBody>
      </p:sp>
      <p:sp>
        <p:nvSpPr>
          <p:cNvPr id="3" name="Text 1"/>
          <p:cNvSpPr/>
          <p:nvPr/>
        </p:nvSpPr>
        <p:spPr>
          <a:xfrm>
            <a:off x="822960" y="1600200"/>
            <a:ext cx="10515600" cy="1097280"/>
          </a:xfrm>
          <a:prstGeom prst="rect">
            <a:avLst/>
          </a:prstGeom>
          <a:noFill/>
          <a:ln/>
        </p:spPr>
        <p:txBody>
          <a:bodyPr wrap="square" lIns="0" tIns="0" rIns="0" bIns="0" rtlCol="0" anchor="ctr"/>
          <a:lstStyle/>
          <a:p>
            <a:pPr indent="0" marL="0">
              <a:buNone/>
            </a:pPr>
            <a:r>
              <a:rPr lang="en-US" sz="6400" b="1" dirty="0">
                <a:solidFill>
                  <a:srgbClr val="FFFFFF"/>
                </a:solidFill>
                <a:latin typeface="Calibri" pitchFamily="34" charset="0"/>
                <a:ea typeface="Calibri" pitchFamily="34" charset="-122"/>
                <a:cs typeface="Calibri" pitchFamily="34" charset="-120"/>
              </a:rPr>
              <a:t>Transit Guard</a:t>
            </a:r>
            <a:endParaRPr lang="en-US" sz="6400" dirty="0"/>
          </a:p>
        </p:txBody>
      </p:sp>
      <p:sp>
        <p:nvSpPr>
          <p:cNvPr id="4" name="Text 2"/>
          <p:cNvSpPr/>
          <p:nvPr/>
        </p:nvSpPr>
        <p:spPr>
          <a:xfrm>
            <a:off x="822960" y="2788920"/>
            <a:ext cx="10515600" cy="548640"/>
          </a:xfrm>
          <a:prstGeom prst="rect">
            <a:avLst/>
          </a:prstGeom>
          <a:noFill/>
          <a:ln/>
        </p:spPr>
        <p:txBody>
          <a:bodyPr wrap="square" lIns="0" tIns="0" rIns="0" bIns="0" rtlCol="0" anchor="ctr"/>
          <a:lstStyle/>
          <a:p>
            <a:pPr indent="0" marL="0">
              <a:buNone/>
            </a:pPr>
            <a:r>
              <a:rPr lang="en-US" sz="2600" i="1" dirty="0">
                <a:solidFill>
                  <a:srgbClr val="CBD5E1"/>
                </a:solidFill>
                <a:latin typeface="Calibri" pitchFamily="34" charset="0"/>
                <a:ea typeface="Calibri" pitchFamily="34" charset="-122"/>
                <a:cs typeface="Calibri" pitchFamily="34" charset="-120"/>
              </a:rPr>
              <a:t>Every hand-off. One transaction truth.</a:t>
            </a:r>
            <a:endParaRPr lang="en-US" sz="2600" dirty="0"/>
          </a:p>
        </p:txBody>
      </p:sp>
      <p:sp>
        <p:nvSpPr>
          <p:cNvPr id="5" name="Text 3"/>
          <p:cNvSpPr/>
          <p:nvPr/>
        </p:nvSpPr>
        <p:spPr>
          <a:xfrm>
            <a:off x="822960" y="3429000"/>
            <a:ext cx="9601200" cy="45720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Chain-of-custody inventory tracking from the warehouse shelf to the customer — and back again.</a:t>
            </a:r>
            <a:endParaRPr lang="en-US" sz="1600" dirty="0"/>
          </a:p>
        </p:txBody>
      </p:sp>
      <p:sp>
        <p:nvSpPr>
          <p:cNvPr id="6" name="Shape 4"/>
          <p:cNvSpPr/>
          <p:nvPr/>
        </p:nvSpPr>
        <p:spPr>
          <a:xfrm>
            <a:off x="868680" y="4517136"/>
            <a:ext cx="10424160" cy="0"/>
          </a:xfrm>
          <a:prstGeom prst="line">
            <a:avLst/>
          </a:prstGeom>
          <a:noFill/>
          <a:ln w="22225">
            <a:solidFill>
              <a:srgbClr val="34D399"/>
            </a:solidFill>
            <a:prstDash val="solid"/>
          </a:ln>
        </p:spPr>
      </p:sp>
      <p:sp>
        <p:nvSpPr>
          <p:cNvPr id="7" name="Shape 5"/>
          <p:cNvSpPr/>
          <p:nvPr/>
        </p:nvSpPr>
        <p:spPr>
          <a:xfrm>
            <a:off x="786384" y="4434840"/>
            <a:ext cx="164592" cy="164592"/>
          </a:xfrm>
          <a:prstGeom prst="ellipse">
            <a:avLst/>
          </a:prstGeom>
          <a:solidFill>
            <a:srgbClr val="34D399"/>
          </a:solidFill>
          <a:ln/>
        </p:spPr>
      </p:sp>
      <p:sp>
        <p:nvSpPr>
          <p:cNvPr id="8" name="Shape 6"/>
          <p:cNvSpPr/>
          <p:nvPr/>
        </p:nvSpPr>
        <p:spPr>
          <a:xfrm>
            <a:off x="2275550" y="4434840"/>
            <a:ext cx="164592" cy="164592"/>
          </a:xfrm>
          <a:prstGeom prst="ellipse">
            <a:avLst/>
          </a:prstGeom>
          <a:solidFill>
            <a:srgbClr val="34D399"/>
          </a:solidFill>
          <a:ln/>
        </p:spPr>
      </p:sp>
      <p:sp>
        <p:nvSpPr>
          <p:cNvPr id="9" name="Shape 7"/>
          <p:cNvSpPr/>
          <p:nvPr/>
        </p:nvSpPr>
        <p:spPr>
          <a:xfrm>
            <a:off x="3764715" y="4434840"/>
            <a:ext cx="164592" cy="164592"/>
          </a:xfrm>
          <a:prstGeom prst="ellipse">
            <a:avLst/>
          </a:prstGeom>
          <a:solidFill>
            <a:srgbClr val="34D399"/>
          </a:solidFill>
          <a:ln/>
        </p:spPr>
      </p:sp>
      <p:sp>
        <p:nvSpPr>
          <p:cNvPr id="10" name="Shape 8"/>
          <p:cNvSpPr/>
          <p:nvPr/>
        </p:nvSpPr>
        <p:spPr>
          <a:xfrm>
            <a:off x="5253881" y="4434840"/>
            <a:ext cx="164592" cy="164592"/>
          </a:xfrm>
          <a:prstGeom prst="ellipse">
            <a:avLst/>
          </a:prstGeom>
          <a:solidFill>
            <a:srgbClr val="34D399"/>
          </a:solidFill>
          <a:ln/>
        </p:spPr>
      </p:sp>
      <p:sp>
        <p:nvSpPr>
          <p:cNvPr id="11" name="Shape 9"/>
          <p:cNvSpPr/>
          <p:nvPr/>
        </p:nvSpPr>
        <p:spPr>
          <a:xfrm>
            <a:off x="6743047" y="4434840"/>
            <a:ext cx="164592" cy="164592"/>
          </a:xfrm>
          <a:prstGeom prst="ellipse">
            <a:avLst/>
          </a:prstGeom>
          <a:solidFill>
            <a:srgbClr val="34D399"/>
          </a:solidFill>
          <a:ln/>
        </p:spPr>
      </p:sp>
      <p:sp>
        <p:nvSpPr>
          <p:cNvPr id="12" name="Shape 10"/>
          <p:cNvSpPr/>
          <p:nvPr/>
        </p:nvSpPr>
        <p:spPr>
          <a:xfrm>
            <a:off x="8232213" y="4434840"/>
            <a:ext cx="164592" cy="164592"/>
          </a:xfrm>
          <a:prstGeom prst="ellipse">
            <a:avLst/>
          </a:prstGeom>
          <a:solidFill>
            <a:srgbClr val="34D399"/>
          </a:solidFill>
          <a:ln/>
        </p:spPr>
      </p:sp>
      <p:sp>
        <p:nvSpPr>
          <p:cNvPr id="13" name="Shape 11"/>
          <p:cNvSpPr/>
          <p:nvPr/>
        </p:nvSpPr>
        <p:spPr>
          <a:xfrm>
            <a:off x="9721378" y="4434840"/>
            <a:ext cx="164592" cy="164592"/>
          </a:xfrm>
          <a:prstGeom prst="ellipse">
            <a:avLst/>
          </a:prstGeom>
          <a:solidFill>
            <a:srgbClr val="34D399"/>
          </a:solidFill>
          <a:ln/>
        </p:spPr>
      </p:sp>
      <p:sp>
        <p:nvSpPr>
          <p:cNvPr id="14" name="Shape 12"/>
          <p:cNvSpPr/>
          <p:nvPr/>
        </p:nvSpPr>
        <p:spPr>
          <a:xfrm>
            <a:off x="11210544" y="4434840"/>
            <a:ext cx="164592" cy="164592"/>
          </a:xfrm>
          <a:prstGeom prst="ellipse">
            <a:avLst/>
          </a:prstGeom>
          <a:solidFill>
            <a:srgbClr val="34D399"/>
          </a:solidFill>
          <a:ln/>
        </p:spPr>
      </p:sp>
      <p:sp>
        <p:nvSpPr>
          <p:cNvPr id="15" name="Text 13"/>
          <p:cNvSpPr/>
          <p:nvPr/>
        </p:nvSpPr>
        <p:spPr>
          <a:xfrm>
            <a:off x="182880"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Warehouse</a:t>
            </a:r>
            <a:endParaRPr lang="en-US" sz="1100" dirty="0"/>
          </a:p>
        </p:txBody>
      </p:sp>
      <p:sp>
        <p:nvSpPr>
          <p:cNvPr id="16" name="Text 14"/>
          <p:cNvSpPr/>
          <p:nvPr/>
        </p:nvSpPr>
        <p:spPr>
          <a:xfrm>
            <a:off x="1672046"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Truck</a:t>
            </a:r>
            <a:endParaRPr lang="en-US" sz="1100" dirty="0"/>
          </a:p>
        </p:txBody>
      </p:sp>
      <p:sp>
        <p:nvSpPr>
          <p:cNvPr id="17" name="Text 15"/>
          <p:cNvSpPr/>
          <p:nvPr/>
        </p:nvSpPr>
        <p:spPr>
          <a:xfrm>
            <a:off x="3161211"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Boatyard</a:t>
            </a:r>
            <a:endParaRPr lang="en-US" sz="1100" dirty="0"/>
          </a:p>
        </p:txBody>
      </p:sp>
      <p:sp>
        <p:nvSpPr>
          <p:cNvPr id="18" name="Text 16"/>
          <p:cNvSpPr/>
          <p:nvPr/>
        </p:nvSpPr>
        <p:spPr>
          <a:xfrm>
            <a:off x="4650377"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Ocean</a:t>
            </a:r>
            <a:endParaRPr lang="en-US" sz="1100" dirty="0"/>
          </a:p>
        </p:txBody>
      </p:sp>
      <p:sp>
        <p:nvSpPr>
          <p:cNvPr id="19" name="Text 17"/>
          <p:cNvSpPr/>
          <p:nvPr/>
        </p:nvSpPr>
        <p:spPr>
          <a:xfrm>
            <a:off x="6139543"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Port</a:t>
            </a:r>
            <a:endParaRPr lang="en-US" sz="1100" dirty="0"/>
          </a:p>
        </p:txBody>
      </p:sp>
      <p:sp>
        <p:nvSpPr>
          <p:cNvPr id="20" name="Text 18"/>
          <p:cNvSpPr/>
          <p:nvPr/>
        </p:nvSpPr>
        <p:spPr>
          <a:xfrm>
            <a:off x="7628709"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Customs</a:t>
            </a:r>
            <a:endParaRPr lang="en-US" sz="1100" dirty="0"/>
          </a:p>
        </p:txBody>
      </p:sp>
      <p:sp>
        <p:nvSpPr>
          <p:cNvPr id="21" name="Text 19"/>
          <p:cNvSpPr/>
          <p:nvPr/>
        </p:nvSpPr>
        <p:spPr>
          <a:xfrm>
            <a:off x="9117874"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Customer</a:t>
            </a:r>
            <a:endParaRPr lang="en-US" sz="1100" dirty="0"/>
          </a:p>
        </p:txBody>
      </p:sp>
      <p:sp>
        <p:nvSpPr>
          <p:cNvPr id="22" name="Text 20"/>
          <p:cNvSpPr/>
          <p:nvPr/>
        </p:nvSpPr>
        <p:spPr>
          <a:xfrm>
            <a:off x="10607040"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RMA</a:t>
            </a:r>
            <a:endParaRPr lang="en-US" sz="1100" dirty="0"/>
          </a:p>
        </p:txBody>
      </p:sp>
      <p:sp>
        <p:nvSpPr>
          <p:cNvPr id="23" name="Text 21"/>
          <p:cNvSpPr/>
          <p:nvPr/>
        </p:nvSpPr>
        <p:spPr>
          <a:xfrm>
            <a:off x="822960" y="5989320"/>
            <a:ext cx="10515600" cy="36576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Hackathon demo · FY2026 year-end close · Jessica Dougherty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8580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Counts are perfect on the shelf. Truth is lost in motion.</a:t>
            </a:r>
            <a:endParaRPr lang="en-US" sz="3400" dirty="0"/>
          </a:p>
        </p:txBody>
      </p:sp>
      <p:sp>
        <p:nvSpPr>
          <p:cNvPr id="3" name="Shape 1"/>
          <p:cNvSpPr/>
          <p:nvPr/>
        </p:nvSpPr>
        <p:spPr>
          <a:xfrm>
            <a:off x="548640" y="1371600"/>
            <a:ext cx="512064" cy="512064"/>
          </a:xfrm>
          <a:prstGeom prst="ellipse">
            <a:avLst/>
          </a:prstGeom>
          <a:solidFill>
            <a:srgbClr val="D1FAE5"/>
          </a:solidFill>
          <a:ln/>
        </p:spPr>
      </p:sp>
      <p:pic>
        <p:nvPicPr>
          <p:cNvPr id="4" name="Image 0" descr="preencoded.png">    </p:cNvPr>
          <p:cNvPicPr>
            <a:picLocks noChangeAspect="1"/>
          </p:cNvPicPr>
          <p:nvPr/>
        </p:nvPicPr>
        <p:blipFill>
          <a:blip r:embed="rId1"/>
          <a:stretch>
            <a:fillRect/>
          </a:stretch>
        </p:blipFill>
        <p:spPr>
          <a:xfrm>
            <a:off x="681777" y="1504737"/>
            <a:ext cx="245791" cy="245791"/>
          </a:xfrm>
          <a:prstGeom prst="rect">
            <a:avLst/>
          </a:prstGeom>
        </p:spPr>
      </p:pic>
      <p:sp>
        <p:nvSpPr>
          <p:cNvPr id="5" name="Text 2"/>
          <p:cNvSpPr/>
          <p:nvPr/>
        </p:nvSpPr>
        <p:spPr>
          <a:xfrm>
            <a:off x="1234440" y="1316736"/>
            <a:ext cx="5120640"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Multi-leg hand-offs</a:t>
            </a:r>
            <a:endParaRPr lang="en-US" sz="1700" dirty="0"/>
          </a:p>
        </p:txBody>
      </p:sp>
      <p:sp>
        <p:nvSpPr>
          <p:cNvPr id="6" name="Text 3"/>
          <p:cNvSpPr/>
          <p:nvPr/>
        </p:nvSpPr>
        <p:spPr>
          <a:xfrm>
            <a:off x="1234440" y="1664208"/>
            <a:ext cx="5212080" cy="77724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Warehouse → truck → boatyard → vessel → port → customs → customer. Every leg is a different vendor with its own dates and paperwork.</a:t>
            </a:r>
            <a:endParaRPr lang="en-US" sz="1250" dirty="0"/>
          </a:p>
        </p:txBody>
      </p:sp>
      <p:sp>
        <p:nvSpPr>
          <p:cNvPr id="7" name="Shape 4"/>
          <p:cNvSpPr/>
          <p:nvPr/>
        </p:nvSpPr>
        <p:spPr>
          <a:xfrm>
            <a:off x="548640" y="2578608"/>
            <a:ext cx="512064" cy="512064"/>
          </a:xfrm>
          <a:prstGeom prst="ellipse">
            <a:avLst/>
          </a:prstGeom>
          <a:solidFill>
            <a:srgbClr val="FEF3C7"/>
          </a:solidFill>
          <a:ln/>
        </p:spPr>
      </p:sp>
      <p:pic>
        <p:nvPicPr>
          <p:cNvPr id="8" name="Image 1" descr="preencoded.png">    </p:cNvPr>
          <p:cNvPicPr>
            <a:picLocks noChangeAspect="1"/>
          </p:cNvPicPr>
          <p:nvPr/>
        </p:nvPicPr>
        <p:blipFill>
          <a:blip r:embed="rId2"/>
          <a:stretch>
            <a:fillRect/>
          </a:stretch>
        </p:blipFill>
        <p:spPr>
          <a:xfrm>
            <a:off x="681777" y="2711745"/>
            <a:ext cx="245791" cy="245791"/>
          </a:xfrm>
          <a:prstGeom prst="rect">
            <a:avLst/>
          </a:prstGeom>
        </p:spPr>
      </p:pic>
      <p:sp>
        <p:nvSpPr>
          <p:cNvPr id="9" name="Text 5"/>
          <p:cNvSpPr/>
          <p:nvPr/>
        </p:nvSpPr>
        <p:spPr>
          <a:xfrm>
            <a:off x="1234440" y="2523744"/>
            <a:ext cx="5120640"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Revenue timing unproven</a:t>
            </a:r>
            <a:endParaRPr lang="en-US" sz="1700" dirty="0"/>
          </a:p>
        </p:txBody>
      </p:sp>
      <p:sp>
        <p:nvSpPr>
          <p:cNvPr id="10" name="Text 6"/>
          <p:cNvSpPr/>
          <p:nvPr/>
        </p:nvSpPr>
        <p:spPr>
          <a:xfrm>
            <a:off x="1234440" y="2871216"/>
            <a:ext cx="5212080" cy="77724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Invoice dates and Incoterms disagree. Cutoff evidence lives in carrier emails nobody can find at year-end.</a:t>
            </a:r>
            <a:endParaRPr lang="en-US" sz="1250" dirty="0"/>
          </a:p>
        </p:txBody>
      </p:sp>
      <p:sp>
        <p:nvSpPr>
          <p:cNvPr id="11" name="Shape 7"/>
          <p:cNvSpPr/>
          <p:nvPr/>
        </p:nvSpPr>
        <p:spPr>
          <a:xfrm>
            <a:off x="548640" y="3785616"/>
            <a:ext cx="512064" cy="512064"/>
          </a:xfrm>
          <a:prstGeom prst="ellipse">
            <a:avLst/>
          </a:prstGeom>
          <a:solidFill>
            <a:srgbClr val="CCFBF1"/>
          </a:solidFill>
          <a:ln/>
        </p:spPr>
      </p:sp>
      <p:pic>
        <p:nvPicPr>
          <p:cNvPr id="12" name="Image 2" descr="preencoded.png">    </p:cNvPr>
          <p:cNvPicPr>
            <a:picLocks noChangeAspect="1"/>
          </p:cNvPicPr>
          <p:nvPr/>
        </p:nvPicPr>
        <p:blipFill>
          <a:blip r:embed="rId3"/>
          <a:stretch>
            <a:fillRect/>
          </a:stretch>
        </p:blipFill>
        <p:spPr>
          <a:xfrm>
            <a:off x="681777" y="3918753"/>
            <a:ext cx="245791" cy="245791"/>
          </a:xfrm>
          <a:prstGeom prst="rect">
            <a:avLst/>
          </a:prstGeom>
        </p:spPr>
      </p:pic>
      <p:sp>
        <p:nvSpPr>
          <p:cNvPr id="13" name="Text 8"/>
          <p:cNvSpPr/>
          <p:nvPr/>
        </p:nvSpPr>
        <p:spPr>
          <a:xfrm>
            <a:off x="1234440" y="3730752"/>
            <a:ext cx="5120640"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Customs is its own maze</a:t>
            </a:r>
            <a:endParaRPr lang="en-US" sz="1700" dirty="0"/>
          </a:p>
        </p:txBody>
      </p:sp>
      <p:sp>
        <p:nvSpPr>
          <p:cNvPr id="14" name="Text 9"/>
          <p:cNvSpPr/>
          <p:nvPr/>
        </p:nvSpPr>
        <p:spPr>
          <a:xfrm>
            <a:off x="1234440" y="4078224"/>
            <a:ext cx="5212080" cy="77724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Customs valuation uses a price list that is not the sales price, and every country demands different documents.</a:t>
            </a:r>
            <a:endParaRPr lang="en-US" sz="1250" dirty="0"/>
          </a:p>
        </p:txBody>
      </p:sp>
      <p:sp>
        <p:nvSpPr>
          <p:cNvPr id="15" name="Shape 10"/>
          <p:cNvSpPr/>
          <p:nvPr/>
        </p:nvSpPr>
        <p:spPr>
          <a:xfrm>
            <a:off x="548640" y="4992624"/>
            <a:ext cx="512064" cy="512064"/>
          </a:xfrm>
          <a:prstGeom prst="ellipse">
            <a:avLst/>
          </a:prstGeom>
          <a:solidFill>
            <a:srgbClr val="FFE4E6"/>
          </a:solidFill>
          <a:ln/>
        </p:spPr>
      </p:sp>
      <p:pic>
        <p:nvPicPr>
          <p:cNvPr id="16" name="Image 3" descr="preencoded.png">    </p:cNvPr>
          <p:cNvPicPr>
            <a:picLocks noChangeAspect="1"/>
          </p:cNvPicPr>
          <p:nvPr/>
        </p:nvPicPr>
        <p:blipFill>
          <a:blip r:embed="rId4"/>
          <a:stretch>
            <a:fillRect/>
          </a:stretch>
        </p:blipFill>
        <p:spPr>
          <a:xfrm>
            <a:off x="681777" y="5125761"/>
            <a:ext cx="245791" cy="245791"/>
          </a:xfrm>
          <a:prstGeom prst="rect">
            <a:avLst/>
          </a:prstGeom>
        </p:spPr>
      </p:pic>
      <p:sp>
        <p:nvSpPr>
          <p:cNvPr id="17" name="Text 11"/>
          <p:cNvSpPr/>
          <p:nvPr/>
        </p:nvSpPr>
        <p:spPr>
          <a:xfrm>
            <a:off x="1234440" y="4937760"/>
            <a:ext cx="5120640"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Returns vanish</a:t>
            </a:r>
            <a:endParaRPr lang="en-US" sz="1700" dirty="0"/>
          </a:p>
        </p:txBody>
      </p:sp>
      <p:sp>
        <p:nvSpPr>
          <p:cNvPr id="18" name="Text 12"/>
          <p:cNvSpPr/>
          <p:nvPr/>
        </p:nvSpPr>
        <p:spPr>
          <a:xfrm>
            <a:off x="1234440" y="5285232"/>
            <a:ext cx="5212080" cy="77724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RMAs retrace the same route with none of the tracking — and the credit memo never gets accrued on time.</a:t>
            </a:r>
            <a:endParaRPr lang="en-US" sz="1250" dirty="0"/>
          </a:p>
        </p:txBody>
      </p:sp>
      <p:sp>
        <p:nvSpPr>
          <p:cNvPr id="19" name="Shape 13"/>
          <p:cNvSpPr/>
          <p:nvPr/>
        </p:nvSpPr>
        <p:spPr>
          <a:xfrm>
            <a:off x="6903720" y="1371600"/>
            <a:ext cx="4709160" cy="2926080"/>
          </a:xfrm>
          <a:prstGeom prst="roundRect">
            <a:avLst>
              <a:gd name="adj" fmla="val 3125"/>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0" name="Text 14"/>
          <p:cNvSpPr/>
          <p:nvPr/>
        </p:nvSpPr>
        <p:spPr>
          <a:xfrm>
            <a:off x="7269480" y="1627632"/>
            <a:ext cx="41148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One typical international shipment</a:t>
            </a:r>
            <a:endParaRPr lang="en-US" sz="1500" dirty="0"/>
          </a:p>
        </p:txBody>
      </p:sp>
      <p:sp>
        <p:nvSpPr>
          <p:cNvPr id="21" name="Text 15"/>
          <p:cNvSpPr/>
          <p:nvPr/>
        </p:nvSpPr>
        <p:spPr>
          <a:xfrm>
            <a:off x="7269480" y="2103120"/>
            <a:ext cx="2103120" cy="594360"/>
          </a:xfrm>
          <a:prstGeom prst="rect">
            <a:avLst/>
          </a:prstGeom>
          <a:noFill/>
          <a:ln/>
        </p:spPr>
        <p:txBody>
          <a:bodyPr wrap="square" lIns="0" tIns="0" rIns="0" bIns="0" rtlCol="0" anchor="ctr"/>
          <a:lstStyle/>
          <a:p>
            <a:pPr indent="0" marL="0">
              <a:buNone/>
            </a:pPr>
            <a:r>
              <a:rPr lang="en-US" sz="4000" b="1" dirty="0">
                <a:solidFill>
                  <a:srgbClr val="34D399"/>
                </a:solidFill>
                <a:latin typeface="Calibri" pitchFamily="34" charset="0"/>
                <a:ea typeface="Calibri" pitchFamily="34" charset="-122"/>
                <a:cs typeface="Calibri" pitchFamily="34" charset="-120"/>
              </a:rPr>
              <a:t>7</a:t>
            </a:r>
            <a:endParaRPr lang="en-US" sz="4000" dirty="0"/>
          </a:p>
        </p:txBody>
      </p:sp>
      <p:sp>
        <p:nvSpPr>
          <p:cNvPr id="22" name="Text 16"/>
          <p:cNvSpPr/>
          <p:nvPr/>
        </p:nvSpPr>
        <p:spPr>
          <a:xfrm>
            <a:off x="7269480" y="2670048"/>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custody hand-offs</a:t>
            </a:r>
            <a:endParaRPr lang="en-US" sz="1150" dirty="0"/>
          </a:p>
        </p:txBody>
      </p:sp>
      <p:sp>
        <p:nvSpPr>
          <p:cNvPr id="23" name="Text 17"/>
          <p:cNvSpPr/>
          <p:nvPr/>
        </p:nvSpPr>
        <p:spPr>
          <a:xfrm>
            <a:off x="9509760" y="2103120"/>
            <a:ext cx="2103120" cy="594360"/>
          </a:xfrm>
          <a:prstGeom prst="rect">
            <a:avLst/>
          </a:prstGeom>
          <a:noFill/>
          <a:ln/>
        </p:spPr>
        <p:txBody>
          <a:bodyPr wrap="square" lIns="0" tIns="0" rIns="0" bIns="0" rtlCol="0" anchor="ctr"/>
          <a:lstStyle/>
          <a:p>
            <a:pPr indent="0" marL="0">
              <a:buNone/>
            </a:pPr>
            <a:r>
              <a:rPr lang="en-US" sz="4000" b="1" dirty="0">
                <a:solidFill>
                  <a:srgbClr val="34D399"/>
                </a:solidFill>
                <a:latin typeface="Calibri" pitchFamily="34" charset="0"/>
                <a:ea typeface="Calibri" pitchFamily="34" charset="-122"/>
                <a:cs typeface="Calibri" pitchFamily="34" charset="-120"/>
              </a:rPr>
              <a:t>5</a:t>
            </a:r>
            <a:endParaRPr lang="en-US" sz="4000" dirty="0"/>
          </a:p>
        </p:txBody>
      </p:sp>
      <p:sp>
        <p:nvSpPr>
          <p:cNvPr id="24" name="Text 18"/>
          <p:cNvSpPr/>
          <p:nvPr/>
        </p:nvSpPr>
        <p:spPr>
          <a:xfrm>
            <a:off x="9509760" y="2670048"/>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different vendors</a:t>
            </a:r>
            <a:endParaRPr lang="en-US" sz="1150" dirty="0"/>
          </a:p>
        </p:txBody>
      </p:sp>
      <p:sp>
        <p:nvSpPr>
          <p:cNvPr id="25" name="Text 19"/>
          <p:cNvSpPr/>
          <p:nvPr/>
        </p:nvSpPr>
        <p:spPr>
          <a:xfrm>
            <a:off x="7269480" y="3127248"/>
            <a:ext cx="2103120" cy="594360"/>
          </a:xfrm>
          <a:prstGeom prst="rect">
            <a:avLst/>
          </a:prstGeom>
          <a:noFill/>
          <a:ln/>
        </p:spPr>
        <p:txBody>
          <a:bodyPr wrap="square" lIns="0" tIns="0" rIns="0" bIns="0" rtlCol="0" anchor="ctr"/>
          <a:lstStyle/>
          <a:p>
            <a:pPr indent="0" marL="0">
              <a:buNone/>
            </a:pPr>
            <a:r>
              <a:rPr lang="en-US" sz="4000" b="1" dirty="0">
                <a:solidFill>
                  <a:srgbClr val="34D399"/>
                </a:solidFill>
                <a:latin typeface="Calibri" pitchFamily="34" charset="0"/>
                <a:ea typeface="Calibri" pitchFamily="34" charset="-122"/>
                <a:cs typeface="Calibri" pitchFamily="34" charset="-120"/>
              </a:rPr>
              <a:t>2</a:t>
            </a:r>
            <a:endParaRPr lang="en-US" sz="4000" dirty="0"/>
          </a:p>
        </p:txBody>
      </p:sp>
      <p:sp>
        <p:nvSpPr>
          <p:cNvPr id="26" name="Text 20"/>
          <p:cNvSpPr/>
          <p:nvPr/>
        </p:nvSpPr>
        <p:spPr>
          <a:xfrm>
            <a:off x="7269480" y="3694176"/>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customs regimes</a:t>
            </a:r>
            <a:endParaRPr lang="en-US" sz="1150" dirty="0"/>
          </a:p>
        </p:txBody>
      </p:sp>
      <p:sp>
        <p:nvSpPr>
          <p:cNvPr id="27" name="Text 21"/>
          <p:cNvSpPr/>
          <p:nvPr/>
        </p:nvSpPr>
        <p:spPr>
          <a:xfrm>
            <a:off x="9509760" y="3127248"/>
            <a:ext cx="2103120" cy="594360"/>
          </a:xfrm>
          <a:prstGeom prst="rect">
            <a:avLst/>
          </a:prstGeom>
          <a:noFill/>
          <a:ln/>
        </p:spPr>
        <p:txBody>
          <a:bodyPr wrap="square" lIns="0" tIns="0" rIns="0" bIns="0" rtlCol="0" anchor="ctr"/>
          <a:lstStyle/>
          <a:p>
            <a:pPr indent="0" marL="0">
              <a:buNone/>
            </a:pPr>
            <a:r>
              <a:rPr lang="en-US" sz="4000" b="1" dirty="0">
                <a:solidFill>
                  <a:srgbClr val="FBBF24"/>
                </a:solidFill>
                <a:latin typeface="Calibri" pitchFamily="34" charset="0"/>
                <a:ea typeface="Calibri" pitchFamily="34" charset="-122"/>
                <a:cs typeface="Calibri" pitchFamily="34" charset="-120"/>
              </a:rPr>
              <a:t>1</a:t>
            </a:r>
            <a:endParaRPr lang="en-US" sz="4000" dirty="0"/>
          </a:p>
        </p:txBody>
      </p:sp>
      <p:sp>
        <p:nvSpPr>
          <p:cNvPr id="28" name="Text 22"/>
          <p:cNvSpPr/>
          <p:nvPr/>
        </p:nvSpPr>
        <p:spPr>
          <a:xfrm>
            <a:off x="9509760" y="3694176"/>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spreadsheet holding it together</a:t>
            </a:r>
            <a:endParaRPr lang="en-US" sz="1150" dirty="0"/>
          </a:p>
        </p:txBody>
      </p:sp>
      <p:sp>
        <p:nvSpPr>
          <p:cNvPr id="29" name="Shape 23"/>
          <p:cNvSpPr/>
          <p:nvPr/>
        </p:nvSpPr>
        <p:spPr>
          <a:xfrm>
            <a:off x="6903720" y="4526280"/>
            <a:ext cx="4709160" cy="1691640"/>
          </a:xfrm>
          <a:prstGeom prst="roundRect">
            <a:avLst>
              <a:gd name="adj" fmla="val 540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0" name="Text 24"/>
          <p:cNvSpPr/>
          <p:nvPr/>
        </p:nvSpPr>
        <p:spPr>
          <a:xfrm>
            <a:off x="7269480" y="4736592"/>
            <a:ext cx="4114800" cy="320040"/>
          </a:xfrm>
          <a:prstGeom prst="rect">
            <a:avLst/>
          </a:prstGeom>
          <a:noFill/>
          <a:ln/>
        </p:spPr>
        <p:txBody>
          <a:bodyPr wrap="square" lIns="0" tIns="0" rIns="0" bIns="0" rtlCol="0" anchor="ctr"/>
          <a:lstStyle/>
          <a:p>
            <a:pPr indent="0" marL="0">
              <a:buNone/>
            </a:pPr>
            <a:r>
              <a:rPr lang="en-US" sz="1300" b="1" dirty="0">
                <a:solidFill>
                  <a:srgbClr val="B45309"/>
                </a:solidFill>
                <a:latin typeface="Calibri" pitchFamily="34" charset="0"/>
                <a:ea typeface="Calibri" pitchFamily="34" charset="-122"/>
                <a:cs typeface="Calibri" pitchFamily="34" charset="-120"/>
              </a:rPr>
              <a:t>What it costs</a:t>
            </a:r>
            <a:endParaRPr lang="en-US" sz="1300" dirty="0"/>
          </a:p>
        </p:txBody>
      </p:sp>
      <p:sp>
        <p:nvSpPr>
          <p:cNvPr id="31" name="Text 25"/>
          <p:cNvSpPr/>
          <p:nvPr/>
        </p:nvSpPr>
        <p:spPr>
          <a:xfrm>
            <a:off x="7269480" y="5047488"/>
            <a:ext cx="4069080" cy="105156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Misstated revenue cutoff at year-end. Failed existence testing when auditors count inventory that is “somewhere in transit.” Customs delays and duty surprises.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One transaction ID follows every hand-off.</a:t>
            </a:r>
            <a:endParaRPr lang="en-US" sz="3400" dirty="0"/>
          </a:p>
        </p:txBody>
      </p:sp>
      <p:sp>
        <p:nvSpPr>
          <p:cNvPr id="3" name="Text 1"/>
          <p:cNvSpPr/>
          <p:nvPr/>
        </p:nvSpPr>
        <p:spPr>
          <a:xfrm>
            <a:off x="548640" y="1078992"/>
            <a:ext cx="10789920" cy="411480"/>
          </a:xfrm>
          <a:prstGeom prst="rect">
            <a:avLst/>
          </a:prstGeom>
          <a:noFill/>
          <a:ln/>
        </p:spPr>
        <p:txBody>
          <a:bodyPr wrap="square" lIns="0" tIns="0" rIns="0" bIns="0" rtlCol="0" anchor="ctr"/>
          <a:lstStyle/>
          <a:p>
            <a:pPr indent="0" marL="0">
              <a:buNone/>
            </a:pPr>
            <a:r>
              <a:rPr lang="en-US" sz="1500" dirty="0">
                <a:solidFill>
                  <a:srgbClr val="475569"/>
                </a:solidFill>
                <a:latin typeface="Calibri" pitchFamily="34" charset="0"/>
                <a:ea typeface="Calibri" pitchFamily="34" charset="-122"/>
                <a:cs typeface="Calibri" pitchFamily="34" charset="-120"/>
              </a:rPr>
              <a:t>Scan it out of the warehouse. Ask why it is leaving. Log every custody transfer with a dropdown. Prove revenue with the chain.</a:t>
            </a:r>
            <a:endParaRPr lang="en-US" sz="1500" dirty="0"/>
          </a:p>
        </p:txBody>
      </p:sp>
      <p:sp>
        <p:nvSpPr>
          <p:cNvPr id="4" name="Text 2"/>
          <p:cNvSpPr/>
          <p:nvPr/>
        </p:nvSpPr>
        <p:spPr>
          <a:xfrm>
            <a:off x="5257800" y="1691640"/>
            <a:ext cx="1737360" cy="384048"/>
          </a:xfrm>
          <a:prstGeom prst="roundRect">
            <a:avLst>
              <a:gd name="adj" fmla="val 47619"/>
            </a:avLst>
          </a:prstGeom>
          <a:solidFill>
            <a:srgbClr val="059669"/>
          </a:solidFill>
          <a:ln/>
        </p:spPr>
        <p:txBody>
          <a:bodyPr wrap="square"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TX-20481</a:t>
            </a:r>
            <a:endParaRPr lang="en-US" sz="1400" dirty="0"/>
          </a:p>
        </p:txBody>
      </p:sp>
      <p:sp>
        <p:nvSpPr>
          <p:cNvPr id="5" name="Shape 3"/>
          <p:cNvSpPr/>
          <p:nvPr/>
        </p:nvSpPr>
        <p:spPr>
          <a:xfrm>
            <a:off x="1143000" y="2816352"/>
            <a:ext cx="9875520" cy="0"/>
          </a:xfrm>
          <a:prstGeom prst="line">
            <a:avLst/>
          </a:prstGeom>
          <a:noFill/>
          <a:ln w="31750">
            <a:solidFill>
              <a:srgbClr val="059669"/>
            </a:solidFill>
            <a:prstDash val="solid"/>
          </a:ln>
        </p:spPr>
      </p:sp>
      <p:sp>
        <p:nvSpPr>
          <p:cNvPr id="6" name="Shape 4"/>
          <p:cNvSpPr/>
          <p:nvPr/>
        </p:nvSpPr>
        <p:spPr>
          <a:xfrm>
            <a:off x="566928" y="2514600"/>
            <a:ext cx="603504" cy="603504"/>
          </a:xfrm>
          <a:prstGeom prst="ellipse">
            <a:avLst/>
          </a:prstGeom>
          <a:solidFill>
            <a:srgbClr val="059669"/>
          </a:solidFill>
          <a:ln w="254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722376" y="2670048"/>
            <a:ext cx="292608" cy="292608"/>
          </a:xfrm>
          <a:prstGeom prst="rect">
            <a:avLst/>
          </a:prstGeom>
        </p:spPr>
      </p:pic>
      <p:sp>
        <p:nvSpPr>
          <p:cNvPr id="8" name="Text 5"/>
          <p:cNvSpPr/>
          <p:nvPr/>
        </p:nvSpPr>
        <p:spPr>
          <a:xfrm>
            <a:off x="18288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Warehouse</a:t>
            </a:r>
            <a:endParaRPr lang="en-US" sz="1200" dirty="0"/>
          </a:p>
        </p:txBody>
      </p:sp>
      <p:sp>
        <p:nvSpPr>
          <p:cNvPr id="9" name="Text 6"/>
          <p:cNvSpPr/>
          <p:nvPr/>
        </p:nvSpPr>
        <p:spPr>
          <a:xfrm>
            <a:off x="18288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Pick + scan</a:t>
            </a:r>
            <a:endParaRPr lang="en-US" sz="1000" dirty="0"/>
          </a:p>
        </p:txBody>
      </p:sp>
      <p:sp>
        <p:nvSpPr>
          <p:cNvPr id="10" name="Shape 7"/>
          <p:cNvSpPr/>
          <p:nvPr/>
        </p:nvSpPr>
        <p:spPr>
          <a:xfrm>
            <a:off x="2304288" y="2514600"/>
            <a:ext cx="603504" cy="603504"/>
          </a:xfrm>
          <a:prstGeom prst="ellipse">
            <a:avLst/>
          </a:prstGeom>
          <a:solidFill>
            <a:srgbClr val="059669"/>
          </a:solidFill>
          <a:ln w="25400">
            <a:solidFill>
              <a:srgbClr val="FFFFFF"/>
            </a:solidFill>
            <a:prstDash val="solid"/>
          </a:ln>
        </p:spPr>
      </p:sp>
      <p:pic>
        <p:nvPicPr>
          <p:cNvPr id="11" name="Image 1" descr="preencoded.png">    </p:cNvPr>
          <p:cNvPicPr>
            <a:picLocks noChangeAspect="1"/>
          </p:cNvPicPr>
          <p:nvPr/>
        </p:nvPicPr>
        <p:blipFill>
          <a:blip r:embed="rId2"/>
          <a:stretch>
            <a:fillRect/>
          </a:stretch>
        </p:blipFill>
        <p:spPr>
          <a:xfrm>
            <a:off x="2459736" y="2670048"/>
            <a:ext cx="292608" cy="292608"/>
          </a:xfrm>
          <a:prstGeom prst="rect">
            <a:avLst/>
          </a:prstGeom>
        </p:spPr>
      </p:pic>
      <p:sp>
        <p:nvSpPr>
          <p:cNvPr id="12" name="Text 8"/>
          <p:cNvSpPr/>
          <p:nvPr/>
        </p:nvSpPr>
        <p:spPr>
          <a:xfrm>
            <a:off x="192024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Truck</a:t>
            </a:r>
            <a:endParaRPr lang="en-US" sz="1200" dirty="0"/>
          </a:p>
        </p:txBody>
      </p:sp>
      <p:sp>
        <p:nvSpPr>
          <p:cNvPr id="13" name="Text 9"/>
          <p:cNvSpPr/>
          <p:nvPr/>
        </p:nvSpPr>
        <p:spPr>
          <a:xfrm>
            <a:off x="192024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to boatyard</a:t>
            </a:r>
            <a:endParaRPr lang="en-US" sz="1000" dirty="0"/>
          </a:p>
        </p:txBody>
      </p:sp>
      <p:sp>
        <p:nvSpPr>
          <p:cNvPr id="14" name="Shape 10"/>
          <p:cNvSpPr/>
          <p:nvPr/>
        </p:nvSpPr>
        <p:spPr>
          <a:xfrm>
            <a:off x="4041648" y="2514600"/>
            <a:ext cx="603504" cy="603504"/>
          </a:xfrm>
          <a:prstGeom prst="ellipse">
            <a:avLst/>
          </a:prstGeom>
          <a:solidFill>
            <a:srgbClr val="059669"/>
          </a:solidFill>
          <a:ln w="25400">
            <a:solidFill>
              <a:srgbClr val="FFFFFF"/>
            </a:solidFill>
            <a:prstDash val="solid"/>
          </a:ln>
        </p:spPr>
      </p:sp>
      <p:pic>
        <p:nvPicPr>
          <p:cNvPr id="15" name="Image 2" descr="preencoded.png">    </p:cNvPr>
          <p:cNvPicPr>
            <a:picLocks noChangeAspect="1"/>
          </p:cNvPicPr>
          <p:nvPr/>
        </p:nvPicPr>
        <p:blipFill>
          <a:blip r:embed="rId3"/>
          <a:stretch>
            <a:fillRect/>
          </a:stretch>
        </p:blipFill>
        <p:spPr>
          <a:xfrm>
            <a:off x="4197096" y="2670048"/>
            <a:ext cx="292608" cy="292608"/>
          </a:xfrm>
          <a:prstGeom prst="rect">
            <a:avLst/>
          </a:prstGeom>
        </p:spPr>
      </p:pic>
      <p:sp>
        <p:nvSpPr>
          <p:cNvPr id="16" name="Text 11"/>
          <p:cNvSpPr/>
          <p:nvPr/>
        </p:nvSpPr>
        <p:spPr>
          <a:xfrm>
            <a:off x="365760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Boatyard</a:t>
            </a:r>
            <a:endParaRPr lang="en-US" sz="1200" dirty="0"/>
          </a:p>
        </p:txBody>
      </p:sp>
      <p:sp>
        <p:nvSpPr>
          <p:cNvPr id="17" name="Text 12"/>
          <p:cNvSpPr/>
          <p:nvPr/>
        </p:nvSpPr>
        <p:spPr>
          <a:xfrm>
            <a:off x="365760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to vessel</a:t>
            </a:r>
            <a:endParaRPr lang="en-US" sz="1000" dirty="0"/>
          </a:p>
        </p:txBody>
      </p:sp>
      <p:sp>
        <p:nvSpPr>
          <p:cNvPr id="18" name="Shape 13"/>
          <p:cNvSpPr/>
          <p:nvPr/>
        </p:nvSpPr>
        <p:spPr>
          <a:xfrm>
            <a:off x="5779008" y="2514600"/>
            <a:ext cx="603504" cy="603504"/>
          </a:xfrm>
          <a:prstGeom prst="ellipse">
            <a:avLst/>
          </a:prstGeom>
          <a:solidFill>
            <a:srgbClr val="059669"/>
          </a:solidFill>
          <a:ln w="25400">
            <a:solidFill>
              <a:srgbClr val="FFFFFF"/>
            </a:solidFill>
            <a:prstDash val="solid"/>
          </a:ln>
        </p:spPr>
      </p:sp>
      <p:pic>
        <p:nvPicPr>
          <p:cNvPr id="19" name="Image 3" descr="preencoded.png">    </p:cNvPr>
          <p:cNvPicPr>
            <a:picLocks noChangeAspect="1"/>
          </p:cNvPicPr>
          <p:nvPr/>
        </p:nvPicPr>
        <p:blipFill>
          <a:blip r:embed="rId4"/>
          <a:stretch>
            <a:fillRect/>
          </a:stretch>
        </p:blipFill>
        <p:spPr>
          <a:xfrm>
            <a:off x="5934456" y="2670048"/>
            <a:ext cx="292608" cy="292608"/>
          </a:xfrm>
          <a:prstGeom prst="rect">
            <a:avLst/>
          </a:prstGeom>
        </p:spPr>
      </p:pic>
      <p:sp>
        <p:nvSpPr>
          <p:cNvPr id="20" name="Text 14"/>
          <p:cNvSpPr/>
          <p:nvPr/>
        </p:nvSpPr>
        <p:spPr>
          <a:xfrm>
            <a:off x="539496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Ocean</a:t>
            </a:r>
            <a:endParaRPr lang="en-US" sz="1200" dirty="0"/>
          </a:p>
        </p:txBody>
      </p:sp>
      <p:sp>
        <p:nvSpPr>
          <p:cNvPr id="21" name="Text 15"/>
          <p:cNvSpPr/>
          <p:nvPr/>
        </p:nvSpPr>
        <p:spPr>
          <a:xfrm>
            <a:off x="539496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crossing</a:t>
            </a:r>
            <a:endParaRPr lang="en-US" sz="1000" dirty="0"/>
          </a:p>
        </p:txBody>
      </p:sp>
      <p:sp>
        <p:nvSpPr>
          <p:cNvPr id="22" name="Shape 16"/>
          <p:cNvSpPr/>
          <p:nvPr/>
        </p:nvSpPr>
        <p:spPr>
          <a:xfrm>
            <a:off x="7516368" y="2514600"/>
            <a:ext cx="603504" cy="603504"/>
          </a:xfrm>
          <a:prstGeom prst="ellipse">
            <a:avLst/>
          </a:prstGeom>
          <a:solidFill>
            <a:srgbClr val="059669"/>
          </a:solidFill>
          <a:ln w="25400">
            <a:solidFill>
              <a:srgbClr val="FFFFFF"/>
            </a:solidFill>
            <a:prstDash val="solid"/>
          </a:ln>
        </p:spPr>
      </p:sp>
      <p:pic>
        <p:nvPicPr>
          <p:cNvPr id="23" name="Image 4" descr="preencoded.png">    </p:cNvPr>
          <p:cNvPicPr>
            <a:picLocks noChangeAspect="1"/>
          </p:cNvPicPr>
          <p:nvPr/>
        </p:nvPicPr>
        <p:blipFill>
          <a:blip r:embed="rId5"/>
          <a:stretch>
            <a:fillRect/>
          </a:stretch>
        </p:blipFill>
        <p:spPr>
          <a:xfrm>
            <a:off x="7671816" y="2670048"/>
            <a:ext cx="292608" cy="292608"/>
          </a:xfrm>
          <a:prstGeom prst="rect">
            <a:avLst/>
          </a:prstGeom>
        </p:spPr>
      </p:pic>
      <p:sp>
        <p:nvSpPr>
          <p:cNvPr id="24" name="Text 17"/>
          <p:cNvSpPr/>
          <p:nvPr/>
        </p:nvSpPr>
        <p:spPr>
          <a:xfrm>
            <a:off x="713232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Port</a:t>
            </a:r>
            <a:endParaRPr lang="en-US" sz="1200" dirty="0"/>
          </a:p>
        </p:txBody>
      </p:sp>
      <p:sp>
        <p:nvSpPr>
          <p:cNvPr id="25" name="Text 18"/>
          <p:cNvSpPr/>
          <p:nvPr/>
        </p:nvSpPr>
        <p:spPr>
          <a:xfrm>
            <a:off x="713232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arrival</a:t>
            </a:r>
            <a:endParaRPr lang="en-US" sz="1000" dirty="0"/>
          </a:p>
        </p:txBody>
      </p:sp>
      <p:sp>
        <p:nvSpPr>
          <p:cNvPr id="26" name="Shape 19"/>
          <p:cNvSpPr/>
          <p:nvPr/>
        </p:nvSpPr>
        <p:spPr>
          <a:xfrm>
            <a:off x="9253728" y="2514600"/>
            <a:ext cx="603504" cy="603504"/>
          </a:xfrm>
          <a:prstGeom prst="ellipse">
            <a:avLst/>
          </a:prstGeom>
          <a:solidFill>
            <a:srgbClr val="B45309"/>
          </a:solidFill>
          <a:ln w="25400">
            <a:solidFill>
              <a:srgbClr val="FFFFFF"/>
            </a:solidFill>
            <a:prstDash val="solid"/>
          </a:ln>
        </p:spPr>
      </p:sp>
      <p:pic>
        <p:nvPicPr>
          <p:cNvPr id="27" name="Image 5" descr="preencoded.png">    </p:cNvPr>
          <p:cNvPicPr>
            <a:picLocks noChangeAspect="1"/>
          </p:cNvPicPr>
          <p:nvPr/>
        </p:nvPicPr>
        <p:blipFill>
          <a:blip r:embed="rId6"/>
          <a:stretch>
            <a:fillRect/>
          </a:stretch>
        </p:blipFill>
        <p:spPr>
          <a:xfrm>
            <a:off x="9409176" y="2670048"/>
            <a:ext cx="292608" cy="292608"/>
          </a:xfrm>
          <a:prstGeom prst="rect">
            <a:avLst/>
          </a:prstGeom>
        </p:spPr>
      </p:pic>
      <p:sp>
        <p:nvSpPr>
          <p:cNvPr id="28" name="Text 20"/>
          <p:cNvSpPr/>
          <p:nvPr/>
        </p:nvSpPr>
        <p:spPr>
          <a:xfrm>
            <a:off x="886968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Customs</a:t>
            </a:r>
            <a:endParaRPr lang="en-US" sz="1200" dirty="0"/>
          </a:p>
        </p:txBody>
      </p:sp>
      <p:sp>
        <p:nvSpPr>
          <p:cNvPr id="29" name="Text 21"/>
          <p:cNvSpPr/>
          <p:nvPr/>
        </p:nvSpPr>
        <p:spPr>
          <a:xfrm>
            <a:off x="886968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docs + value</a:t>
            </a:r>
            <a:endParaRPr lang="en-US" sz="1000" dirty="0"/>
          </a:p>
        </p:txBody>
      </p:sp>
      <p:sp>
        <p:nvSpPr>
          <p:cNvPr id="30" name="Shape 22"/>
          <p:cNvSpPr/>
          <p:nvPr/>
        </p:nvSpPr>
        <p:spPr>
          <a:xfrm>
            <a:off x="10991088" y="2514600"/>
            <a:ext cx="603504" cy="603504"/>
          </a:xfrm>
          <a:prstGeom prst="ellipse">
            <a:avLst/>
          </a:prstGeom>
          <a:solidFill>
            <a:srgbClr val="059669"/>
          </a:solidFill>
          <a:ln w="25400">
            <a:solidFill>
              <a:srgbClr val="FFFFFF"/>
            </a:solidFill>
            <a:prstDash val="solid"/>
          </a:ln>
        </p:spPr>
      </p:sp>
      <p:pic>
        <p:nvPicPr>
          <p:cNvPr id="31" name="Image 6" descr="preencoded.png">    </p:cNvPr>
          <p:cNvPicPr>
            <a:picLocks noChangeAspect="1"/>
          </p:cNvPicPr>
          <p:nvPr/>
        </p:nvPicPr>
        <p:blipFill>
          <a:blip r:embed="rId7"/>
          <a:stretch>
            <a:fillRect/>
          </a:stretch>
        </p:blipFill>
        <p:spPr>
          <a:xfrm>
            <a:off x="11146536" y="2670048"/>
            <a:ext cx="292608" cy="292608"/>
          </a:xfrm>
          <a:prstGeom prst="rect">
            <a:avLst/>
          </a:prstGeom>
        </p:spPr>
      </p:pic>
      <p:sp>
        <p:nvSpPr>
          <p:cNvPr id="32" name="Text 23"/>
          <p:cNvSpPr/>
          <p:nvPr/>
        </p:nvSpPr>
        <p:spPr>
          <a:xfrm>
            <a:off x="1060704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Customer</a:t>
            </a:r>
            <a:endParaRPr lang="en-US" sz="1200" dirty="0"/>
          </a:p>
        </p:txBody>
      </p:sp>
      <p:sp>
        <p:nvSpPr>
          <p:cNvPr id="33" name="Text 24"/>
          <p:cNvSpPr/>
          <p:nvPr/>
        </p:nvSpPr>
        <p:spPr>
          <a:xfrm>
            <a:off x="1060704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delivery</a:t>
            </a:r>
            <a:endParaRPr lang="en-US" sz="1000" dirty="0"/>
          </a:p>
        </p:txBody>
      </p:sp>
      <p:sp>
        <p:nvSpPr>
          <p:cNvPr id="34" name="Text 25"/>
          <p:cNvSpPr/>
          <p:nvPr/>
        </p:nvSpPr>
        <p:spPr>
          <a:xfrm>
            <a:off x="2194560" y="3977640"/>
            <a:ext cx="7772400" cy="457200"/>
          </a:xfrm>
          <a:prstGeom prst="leftArrow">
            <a:avLst/>
          </a:prstGeom>
          <a:solidFill>
            <a:srgbClr val="FEF3C7"/>
          </a:solidFill>
          <a:ln/>
        </p:spPr>
        <p:txBody>
          <a:bodyPr wrap="square" rtlCol="0" anchor="ctr"/>
          <a:lstStyle/>
          <a:p>
            <a:pPr algn="ctr" indent="0" marL="0">
              <a:buNone/>
            </a:pPr>
            <a:r>
              <a:rPr lang="en-US" sz="1300" b="1" dirty="0">
                <a:solidFill>
                  <a:srgbClr val="B45309"/>
                </a:solidFill>
                <a:latin typeface="Calibri" pitchFamily="34" charset="0"/>
                <a:ea typeface="Calibri" pitchFamily="34" charset="-122"/>
                <a:cs typeface="Calibri" pitchFamily="34" charset="-120"/>
              </a:rPr>
              <a:t>RMA returns retrace the same chain — same transaction ID, reversed</a:t>
            </a:r>
            <a:endParaRPr lang="en-US" sz="1300" dirty="0"/>
          </a:p>
        </p:txBody>
      </p:sp>
      <p:sp>
        <p:nvSpPr>
          <p:cNvPr id="35" name="Shape 26"/>
          <p:cNvSpPr/>
          <p:nvPr/>
        </p:nvSpPr>
        <p:spPr>
          <a:xfrm>
            <a:off x="548640" y="4800600"/>
            <a:ext cx="3611880" cy="1554480"/>
          </a:xfrm>
          <a:prstGeom prst="roundRect">
            <a:avLst>
              <a:gd name="adj" fmla="val 588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6" name="Text 27"/>
          <p:cNvSpPr/>
          <p:nvPr/>
        </p:nvSpPr>
        <p:spPr>
          <a:xfrm>
            <a:off x="804672" y="5010912"/>
            <a:ext cx="310896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Scan + questionnaire</a:t>
            </a:r>
            <a:endParaRPr lang="en-US" sz="1450" dirty="0"/>
          </a:p>
        </p:txBody>
      </p:sp>
      <p:sp>
        <p:nvSpPr>
          <p:cNvPr id="37" name="Text 28"/>
          <p:cNvSpPr/>
          <p:nvPr/>
        </p:nvSpPr>
        <p:spPr>
          <a:xfrm>
            <a:off x="804672" y="5349240"/>
            <a:ext cx="3154680" cy="91440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Internal use or customer sale — the “why” is captured at the shelf, before the unit leaves.</a:t>
            </a:r>
            <a:endParaRPr lang="en-US" sz="1150" dirty="0"/>
          </a:p>
        </p:txBody>
      </p:sp>
      <p:sp>
        <p:nvSpPr>
          <p:cNvPr id="38" name="Shape 29"/>
          <p:cNvSpPr/>
          <p:nvPr/>
        </p:nvSpPr>
        <p:spPr>
          <a:xfrm>
            <a:off x="4370832" y="4800600"/>
            <a:ext cx="3611880" cy="1554480"/>
          </a:xfrm>
          <a:prstGeom prst="roundRect">
            <a:avLst>
              <a:gd name="adj" fmla="val 588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9" name="Text 30"/>
          <p:cNvSpPr/>
          <p:nvPr/>
        </p:nvSpPr>
        <p:spPr>
          <a:xfrm>
            <a:off x="4626864" y="5010912"/>
            <a:ext cx="310896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Dropdown-simple hand-offs</a:t>
            </a:r>
            <a:endParaRPr lang="en-US" sz="1450" dirty="0"/>
          </a:p>
        </p:txBody>
      </p:sp>
      <p:sp>
        <p:nvSpPr>
          <p:cNvPr id="40" name="Text 31"/>
          <p:cNvSpPr/>
          <p:nvPr/>
        </p:nvSpPr>
        <p:spPr>
          <a:xfrm>
            <a:off x="4626864" y="5349240"/>
            <a:ext cx="3154680" cy="91440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Type, vendor, location, transaction date, documents. A truck driver can log a leg in 15 seconds.</a:t>
            </a:r>
            <a:endParaRPr lang="en-US" sz="1150" dirty="0"/>
          </a:p>
        </p:txBody>
      </p:sp>
      <p:sp>
        <p:nvSpPr>
          <p:cNvPr id="41" name="Shape 32"/>
          <p:cNvSpPr/>
          <p:nvPr/>
        </p:nvSpPr>
        <p:spPr>
          <a:xfrm>
            <a:off x="8193024" y="4800600"/>
            <a:ext cx="3611880" cy="1554480"/>
          </a:xfrm>
          <a:prstGeom prst="roundRect">
            <a:avLst>
              <a:gd name="adj" fmla="val 588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2" name="Text 33"/>
          <p:cNvSpPr/>
          <p:nvPr/>
        </p:nvSpPr>
        <p:spPr>
          <a:xfrm>
            <a:off x="8449056" y="5010912"/>
            <a:ext cx="310896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Customs doc engine</a:t>
            </a:r>
            <a:endParaRPr lang="en-US" sz="1450" dirty="0"/>
          </a:p>
        </p:txBody>
      </p:sp>
      <p:sp>
        <p:nvSpPr>
          <p:cNvPr id="43" name="Text 34"/>
          <p:cNvSpPr/>
          <p:nvPr/>
        </p:nvSpPr>
        <p:spPr>
          <a:xfrm>
            <a:off x="8449056" y="5349240"/>
            <a:ext cx="3154680" cy="91440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Country-by-country checklists plus a valuation worksheet for the customs-price-vs-sales-price gap.</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300" b="1" dirty="0">
                <a:solidFill>
                  <a:srgbClr val="0F172A"/>
                </a:solidFill>
                <a:latin typeface="Calibri" pitchFamily="34" charset="0"/>
                <a:ea typeface="Calibri" pitchFamily="34" charset="-122"/>
                <a:cs typeface="Calibri" pitchFamily="34" charset="-120"/>
              </a:rPr>
              <a:t>The demo: a phone in the warehouse, truth in the ledger.</a:t>
            </a:r>
            <a:endParaRPr lang="en-US" sz="3300" dirty="0"/>
          </a:p>
        </p:txBody>
      </p:sp>
      <p:sp>
        <p:nvSpPr>
          <p:cNvPr id="3" name="Shape 1"/>
          <p:cNvSpPr/>
          <p:nvPr/>
        </p:nvSpPr>
        <p:spPr>
          <a:xfrm>
            <a:off x="548640" y="1417320"/>
            <a:ext cx="2103120" cy="2834640"/>
          </a:xfrm>
          <a:prstGeom prst="roundRect">
            <a:avLst>
              <a:gd name="adj" fmla="val 4348"/>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Shape 2"/>
          <p:cNvSpPr/>
          <p:nvPr/>
        </p:nvSpPr>
        <p:spPr>
          <a:xfrm>
            <a:off x="804672" y="1691640"/>
            <a:ext cx="548640" cy="548640"/>
          </a:xfrm>
          <a:prstGeom prst="ellipse">
            <a:avLst/>
          </a:prstGeom>
          <a:solidFill>
            <a:srgbClr val="D1FAE5"/>
          </a:solidFill>
          <a:ln/>
        </p:spPr>
      </p:sp>
      <p:pic>
        <p:nvPicPr>
          <p:cNvPr id="5" name="Image 0" descr="preencoded.png">    </p:cNvPr>
          <p:cNvPicPr>
            <a:picLocks noChangeAspect="1"/>
          </p:cNvPicPr>
          <p:nvPr/>
        </p:nvPicPr>
        <p:blipFill>
          <a:blip r:embed="rId1"/>
          <a:stretch>
            <a:fillRect/>
          </a:stretch>
        </p:blipFill>
        <p:spPr>
          <a:xfrm>
            <a:off x="947318" y="1834286"/>
            <a:ext cx="263347" cy="263347"/>
          </a:xfrm>
          <a:prstGeom prst="rect">
            <a:avLst/>
          </a:prstGeom>
        </p:spPr>
      </p:pic>
      <p:sp>
        <p:nvSpPr>
          <p:cNvPr id="6" name="Text 3"/>
          <p:cNvSpPr/>
          <p:nvPr/>
        </p:nvSpPr>
        <p:spPr>
          <a:xfrm>
            <a:off x="804672" y="2395728"/>
            <a:ext cx="1645920"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Scan</a:t>
            </a:r>
            <a:endParaRPr lang="en-US" sz="1700" dirty="0"/>
          </a:p>
        </p:txBody>
      </p:sp>
      <p:sp>
        <p:nvSpPr>
          <p:cNvPr id="7" name="Text 4"/>
          <p:cNvSpPr/>
          <p:nvPr/>
        </p:nvSpPr>
        <p:spPr>
          <a:xfrm>
            <a:off x="804672" y="2761488"/>
            <a:ext cx="1645920" cy="13716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Simulated barcode scan, then the intake questionnaire: sale, internal use, or RMA.</a:t>
            </a:r>
            <a:endParaRPr lang="en-US" sz="1100" dirty="0"/>
          </a:p>
        </p:txBody>
      </p:sp>
      <p:sp>
        <p:nvSpPr>
          <p:cNvPr id="8" name="Shape 5"/>
          <p:cNvSpPr/>
          <p:nvPr/>
        </p:nvSpPr>
        <p:spPr>
          <a:xfrm>
            <a:off x="2807208" y="1417320"/>
            <a:ext cx="2103120" cy="2834640"/>
          </a:xfrm>
          <a:prstGeom prst="roundRect">
            <a:avLst>
              <a:gd name="adj" fmla="val 4348"/>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9" name="Shape 6"/>
          <p:cNvSpPr/>
          <p:nvPr/>
        </p:nvSpPr>
        <p:spPr>
          <a:xfrm>
            <a:off x="3063240" y="1691640"/>
            <a:ext cx="548640" cy="548640"/>
          </a:xfrm>
          <a:prstGeom prst="ellipse">
            <a:avLst/>
          </a:prstGeom>
          <a:solidFill>
            <a:srgbClr val="CCFBF1"/>
          </a:solidFill>
          <a:ln/>
        </p:spPr>
      </p:sp>
      <p:pic>
        <p:nvPicPr>
          <p:cNvPr id="10" name="Image 1" descr="preencoded.png">    </p:cNvPr>
          <p:cNvPicPr>
            <a:picLocks noChangeAspect="1"/>
          </p:cNvPicPr>
          <p:nvPr/>
        </p:nvPicPr>
        <p:blipFill>
          <a:blip r:embed="rId2"/>
          <a:stretch>
            <a:fillRect/>
          </a:stretch>
        </p:blipFill>
        <p:spPr>
          <a:xfrm>
            <a:off x="3205886" y="1834286"/>
            <a:ext cx="263347" cy="263347"/>
          </a:xfrm>
          <a:prstGeom prst="rect">
            <a:avLst/>
          </a:prstGeom>
        </p:spPr>
      </p:pic>
      <p:sp>
        <p:nvSpPr>
          <p:cNvPr id="11" name="Text 7"/>
          <p:cNvSpPr/>
          <p:nvPr/>
        </p:nvSpPr>
        <p:spPr>
          <a:xfrm>
            <a:off x="3063240" y="2395728"/>
            <a:ext cx="1645920"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Track</a:t>
            </a:r>
            <a:endParaRPr lang="en-US" sz="1700" dirty="0"/>
          </a:p>
        </p:txBody>
      </p:sp>
      <p:sp>
        <p:nvSpPr>
          <p:cNvPr id="12" name="Text 8"/>
          <p:cNvSpPr/>
          <p:nvPr/>
        </p:nvSpPr>
        <p:spPr>
          <a:xfrm>
            <a:off x="3063240" y="2761488"/>
            <a:ext cx="1645920" cy="13716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The custody timeline per shipment. Add a hand-off with dropdowns; the TX ID never changes.</a:t>
            </a:r>
            <a:endParaRPr lang="en-US" sz="1100" dirty="0"/>
          </a:p>
        </p:txBody>
      </p:sp>
      <p:sp>
        <p:nvSpPr>
          <p:cNvPr id="13" name="Shape 9"/>
          <p:cNvSpPr/>
          <p:nvPr/>
        </p:nvSpPr>
        <p:spPr>
          <a:xfrm>
            <a:off x="5065776" y="1417320"/>
            <a:ext cx="2103120" cy="2834640"/>
          </a:xfrm>
          <a:prstGeom prst="roundRect">
            <a:avLst>
              <a:gd name="adj" fmla="val 4348"/>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4" name="Shape 10"/>
          <p:cNvSpPr/>
          <p:nvPr/>
        </p:nvSpPr>
        <p:spPr>
          <a:xfrm>
            <a:off x="5321808" y="1691640"/>
            <a:ext cx="548640" cy="548640"/>
          </a:xfrm>
          <a:prstGeom prst="ellipse">
            <a:avLst/>
          </a:prstGeom>
          <a:solidFill>
            <a:srgbClr val="FEF3C7"/>
          </a:solidFill>
          <a:ln/>
        </p:spPr>
      </p:sp>
      <p:pic>
        <p:nvPicPr>
          <p:cNvPr id="15" name="Image 2" descr="preencoded.png">    </p:cNvPr>
          <p:cNvPicPr>
            <a:picLocks noChangeAspect="1"/>
          </p:cNvPicPr>
          <p:nvPr/>
        </p:nvPicPr>
        <p:blipFill>
          <a:blip r:embed="rId3"/>
          <a:stretch>
            <a:fillRect/>
          </a:stretch>
        </p:blipFill>
        <p:spPr>
          <a:xfrm>
            <a:off x="5464454" y="1834286"/>
            <a:ext cx="263347" cy="263347"/>
          </a:xfrm>
          <a:prstGeom prst="rect">
            <a:avLst/>
          </a:prstGeom>
        </p:spPr>
      </p:pic>
      <p:sp>
        <p:nvSpPr>
          <p:cNvPr id="16" name="Text 11"/>
          <p:cNvSpPr/>
          <p:nvPr/>
        </p:nvSpPr>
        <p:spPr>
          <a:xfrm>
            <a:off x="5321808" y="2395728"/>
            <a:ext cx="1645920"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Customs</a:t>
            </a:r>
            <a:endParaRPr lang="en-US" sz="1700" dirty="0"/>
          </a:p>
        </p:txBody>
      </p:sp>
      <p:sp>
        <p:nvSpPr>
          <p:cNvPr id="17" name="Text 12"/>
          <p:cNvSpPr/>
          <p:nvPr/>
        </p:nvSpPr>
        <p:spPr>
          <a:xfrm>
            <a:off x="5321808" y="2761488"/>
            <a:ext cx="1645920" cy="13716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Per-country document checklists and the declared-value vs. invoice comparison.</a:t>
            </a:r>
            <a:endParaRPr lang="en-US" sz="1100" dirty="0"/>
          </a:p>
        </p:txBody>
      </p:sp>
      <p:sp>
        <p:nvSpPr>
          <p:cNvPr id="18" name="Shape 13"/>
          <p:cNvSpPr/>
          <p:nvPr/>
        </p:nvSpPr>
        <p:spPr>
          <a:xfrm>
            <a:off x="7324344" y="1417320"/>
            <a:ext cx="2103120" cy="2834640"/>
          </a:xfrm>
          <a:prstGeom prst="roundRect">
            <a:avLst>
              <a:gd name="adj" fmla="val 4348"/>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9" name="Shape 14"/>
          <p:cNvSpPr/>
          <p:nvPr/>
        </p:nvSpPr>
        <p:spPr>
          <a:xfrm>
            <a:off x="7580376" y="1691640"/>
            <a:ext cx="548640" cy="548640"/>
          </a:xfrm>
          <a:prstGeom prst="ellipse">
            <a:avLst/>
          </a:prstGeom>
          <a:solidFill>
            <a:srgbClr val="FFE4E6"/>
          </a:solidFill>
          <a:ln/>
        </p:spPr>
      </p:sp>
      <p:pic>
        <p:nvPicPr>
          <p:cNvPr id="20" name="Image 3" descr="preencoded.png">    </p:cNvPr>
          <p:cNvPicPr>
            <a:picLocks noChangeAspect="1"/>
          </p:cNvPicPr>
          <p:nvPr/>
        </p:nvPicPr>
        <p:blipFill>
          <a:blip r:embed="rId4"/>
          <a:stretch>
            <a:fillRect/>
          </a:stretch>
        </p:blipFill>
        <p:spPr>
          <a:xfrm>
            <a:off x="7723022" y="1834286"/>
            <a:ext cx="263347" cy="263347"/>
          </a:xfrm>
          <a:prstGeom prst="rect">
            <a:avLst/>
          </a:prstGeom>
        </p:spPr>
      </p:pic>
      <p:sp>
        <p:nvSpPr>
          <p:cNvPr id="21" name="Text 15"/>
          <p:cNvSpPr/>
          <p:nvPr/>
        </p:nvSpPr>
        <p:spPr>
          <a:xfrm>
            <a:off x="7580376" y="2395728"/>
            <a:ext cx="1645920"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Flags</a:t>
            </a:r>
            <a:endParaRPr lang="en-US" sz="1700" dirty="0"/>
          </a:p>
        </p:txBody>
      </p:sp>
      <p:sp>
        <p:nvSpPr>
          <p:cNvPr id="22" name="Text 16"/>
          <p:cNvSpPr/>
          <p:nvPr/>
        </p:nvSpPr>
        <p:spPr>
          <a:xfrm>
            <a:off x="7580376" y="2761488"/>
            <a:ext cx="1645920" cy="13716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AI-flagged revenue, valuation, count, and tax-timing issues routed to humans.</a:t>
            </a:r>
            <a:endParaRPr lang="en-US" sz="1100" dirty="0"/>
          </a:p>
        </p:txBody>
      </p:sp>
      <p:sp>
        <p:nvSpPr>
          <p:cNvPr id="23" name="Shape 17"/>
          <p:cNvSpPr/>
          <p:nvPr/>
        </p:nvSpPr>
        <p:spPr>
          <a:xfrm>
            <a:off x="9582912" y="1417320"/>
            <a:ext cx="2103120" cy="2834640"/>
          </a:xfrm>
          <a:prstGeom prst="roundRect">
            <a:avLst>
              <a:gd name="adj" fmla="val 4348"/>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4" name="Shape 18"/>
          <p:cNvSpPr/>
          <p:nvPr/>
        </p:nvSpPr>
        <p:spPr>
          <a:xfrm>
            <a:off x="9838944" y="1691640"/>
            <a:ext cx="548640" cy="548640"/>
          </a:xfrm>
          <a:prstGeom prst="ellipse">
            <a:avLst/>
          </a:prstGeom>
          <a:solidFill>
            <a:srgbClr val="E0F2FE"/>
          </a:solidFill>
          <a:ln/>
        </p:spPr>
      </p:sp>
      <p:pic>
        <p:nvPicPr>
          <p:cNvPr id="25" name="Image 4" descr="preencoded.png">    </p:cNvPr>
          <p:cNvPicPr>
            <a:picLocks noChangeAspect="1"/>
          </p:cNvPicPr>
          <p:nvPr/>
        </p:nvPicPr>
        <p:blipFill>
          <a:blip r:embed="rId5"/>
          <a:stretch>
            <a:fillRect/>
          </a:stretch>
        </p:blipFill>
        <p:spPr>
          <a:xfrm>
            <a:off x="9981590" y="1834286"/>
            <a:ext cx="263347" cy="263347"/>
          </a:xfrm>
          <a:prstGeom prst="rect">
            <a:avLst/>
          </a:prstGeom>
        </p:spPr>
      </p:pic>
      <p:sp>
        <p:nvSpPr>
          <p:cNvPr id="26" name="Text 19"/>
          <p:cNvSpPr/>
          <p:nvPr/>
        </p:nvSpPr>
        <p:spPr>
          <a:xfrm>
            <a:off x="9838944" y="2395728"/>
            <a:ext cx="1645920"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Audit</a:t>
            </a:r>
            <a:endParaRPr lang="en-US" sz="1700" dirty="0"/>
          </a:p>
        </p:txBody>
      </p:sp>
      <p:sp>
        <p:nvSpPr>
          <p:cNvPr id="27" name="Text 20"/>
          <p:cNvSpPr/>
          <p:nvPr/>
        </p:nvSpPr>
        <p:spPr>
          <a:xfrm>
            <a:off x="9838944" y="2761488"/>
            <a:ext cx="1645920" cy="13716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Dec 31 count snapshot, one-tap custody ledger CSV export, and document OCR.</a:t>
            </a:r>
            <a:endParaRPr lang="en-US" sz="1100" dirty="0"/>
          </a:p>
        </p:txBody>
      </p:sp>
      <p:sp>
        <p:nvSpPr>
          <p:cNvPr id="28" name="Shape 21"/>
          <p:cNvSpPr/>
          <p:nvPr/>
        </p:nvSpPr>
        <p:spPr>
          <a:xfrm>
            <a:off x="548640" y="4617720"/>
            <a:ext cx="11064240" cy="1600200"/>
          </a:xfrm>
          <a:prstGeom prst="roundRect">
            <a:avLst>
              <a:gd name="adj" fmla="val 5714"/>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9" name="Text 22"/>
          <p:cNvSpPr/>
          <p:nvPr/>
        </p:nvSpPr>
        <p:spPr>
          <a:xfrm>
            <a:off x="914400" y="4846320"/>
            <a:ext cx="4572000" cy="365760"/>
          </a:xfrm>
          <a:prstGeom prst="rect">
            <a:avLst/>
          </a:prstGeom>
          <a:noFill/>
          <a:ln/>
        </p:spPr>
        <p:txBody>
          <a:bodyPr wrap="square" lIns="0" tIns="0" rIns="0" bIns="0" rtlCol="0" anchor="ctr"/>
          <a:lstStyle/>
          <a:p>
            <a:pPr indent="0" marL="0">
              <a:buNone/>
            </a:pPr>
            <a:r>
              <a:rPr lang="en-US" sz="1500" b="1" dirty="0">
                <a:solidFill>
                  <a:srgbClr val="34D399"/>
                </a:solidFill>
                <a:latin typeface="Calibri" pitchFamily="34" charset="0"/>
                <a:ea typeface="Calibri" pitchFamily="34" charset="-122"/>
                <a:cs typeface="Calibri" pitchFamily="34" charset="-120"/>
              </a:rPr>
              <a:t>Running now, on stage</a:t>
            </a:r>
            <a:endParaRPr lang="en-US" sz="1500" dirty="0"/>
          </a:p>
        </p:txBody>
      </p:sp>
      <p:sp>
        <p:nvSpPr>
          <p:cNvPr id="30" name="Text 23"/>
          <p:cNvSpPr/>
          <p:nvPr/>
        </p:nvSpPr>
        <p:spPr>
          <a:xfrm>
            <a:off x="914400" y="5212080"/>
            <a:ext cx="10332720" cy="914400"/>
          </a:xfrm>
          <a:prstGeom prst="rect">
            <a:avLst/>
          </a:prstGeom>
          <a:noFill/>
          <a:ln/>
        </p:spPr>
        <p:txBody>
          <a:bodyPr wrap="square" lIns="0" tIns="0" rIns="0" bIns="0" rtlCol="0" anchor="ctr"/>
          <a:lstStyle/>
          <a:p>
            <a:pPr indent="0" marL="0">
              <a:buNone/>
            </a:pPr>
            <a:r>
              <a:rPr lang="en-US" sz="1250" dirty="0">
                <a:solidFill>
                  <a:srgbClr val="CBD5E1"/>
                </a:solidFill>
                <a:latin typeface="Calibri" pitchFamily="34" charset="0"/>
                <a:ea typeface="Calibri" pitchFamily="34" charset="-122"/>
                <a:cs typeface="Calibri" pitchFamily="34" charset="-120"/>
              </a:rPr>
              <a:t>Live at localhost:5174 — a phone-frame web app with presenter notes on screen.  </a:t>
            </a:r>
            <a:endParaRPr lang="en-US" sz="1250" dirty="0"/>
          </a:p>
          <a:p>
            <a:pPr indent="0" marL="0">
              <a:buNone/>
            </a:pPr>
            <a:r>
              <a:rPr lang="en-US" sz="1250" dirty="0">
                <a:solidFill>
                  <a:srgbClr val="CBD5E1"/>
                </a:solidFill>
                <a:latin typeface="Calibri" pitchFamily="34" charset="0"/>
                <a:ea typeface="Calibri" pitchFamily="34" charset="-122"/>
                <a:cs typeface="Calibri" pitchFamily="34" charset="-120"/>
              </a:rPr>
              <a:t>Multilingual UI (English · Spanish · French) for the teams actually doing the scanning.  </a:t>
            </a:r>
            <a:endParaRPr lang="en-US" sz="1250" dirty="0"/>
          </a:p>
          <a:p>
            <a:pPr indent="0" marL="0">
              <a:buNone/>
            </a:pPr>
            <a:r>
              <a:rPr lang="en-US" sz="1250" dirty="0">
                <a:solidFill>
                  <a:srgbClr val="CBD5E1"/>
                </a:solidFill>
                <a:latin typeface="Calibri" pitchFamily="34" charset="0"/>
                <a:ea typeface="Calibri" pitchFamily="34" charset="-122"/>
                <a:cs typeface="Calibri" pitchFamily="34" charset="-120"/>
              </a:rPr>
              <a:t>On-device multilingual OCR (Tesseract) reads a customs document and files it to the right transaction — no backend, no API keys, fully demo-safe offline.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AI reads the custody chain like a controller would.</a:t>
            </a:r>
            <a:endParaRPr lang="en-US" sz="3400" dirty="0"/>
          </a:p>
        </p:txBody>
      </p:sp>
      <p:sp>
        <p:nvSpPr>
          <p:cNvPr id="3" name="Shape 1"/>
          <p:cNvSpPr/>
          <p:nvPr/>
        </p:nvSpPr>
        <p:spPr>
          <a:xfrm>
            <a:off x="548640" y="1371600"/>
            <a:ext cx="6949440" cy="804672"/>
          </a:xfrm>
          <a:prstGeom prst="roundRect">
            <a:avLst>
              <a:gd name="adj" fmla="val 11364"/>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777240" y="1591056"/>
            <a:ext cx="713232" cy="347472"/>
          </a:xfrm>
          <a:prstGeom prst="roundRect">
            <a:avLst>
              <a:gd name="adj" fmla="val 50000"/>
            </a:avLst>
          </a:prstGeom>
          <a:solidFill>
            <a:srgbClr val="FFE4E6"/>
          </a:solidFill>
          <a:ln/>
        </p:spPr>
        <p:txBody>
          <a:bodyPr wrap="square" rtlCol="0" anchor="ctr"/>
          <a:lstStyle/>
          <a:p>
            <a:pPr algn="ctr" indent="0" marL="0">
              <a:buNone/>
            </a:pPr>
            <a:r>
              <a:rPr lang="en-US" sz="1050" b="1" dirty="0">
                <a:solidFill>
                  <a:srgbClr val="BE123C"/>
                </a:solidFill>
                <a:latin typeface="Calibri" pitchFamily="34" charset="0"/>
                <a:ea typeface="Calibri" pitchFamily="34" charset="-122"/>
                <a:cs typeface="Calibri" pitchFamily="34" charset="-120"/>
              </a:rPr>
              <a:t>HIGH</a:t>
            </a:r>
            <a:endParaRPr lang="en-US" sz="1050" dirty="0"/>
          </a:p>
        </p:txBody>
      </p:sp>
      <p:sp>
        <p:nvSpPr>
          <p:cNvPr id="5" name="Text 3"/>
          <p:cNvSpPr/>
          <p:nvPr/>
        </p:nvSpPr>
        <p:spPr>
          <a:xfrm>
            <a:off x="1645920" y="1481328"/>
            <a:ext cx="4572000" cy="621792"/>
          </a:xfrm>
          <a:prstGeom prst="rect">
            <a:avLst/>
          </a:prstGeom>
          <a:noFill/>
          <a:ln/>
        </p:spPr>
        <p:txBody>
          <a:bodyPr wrap="square" lIns="0" tIns="0" rIns="0" bIns="0" rtlCol="0" anchor="ctr"/>
          <a:lstStyle/>
          <a:p>
            <a:pPr indent="0" marL="0">
              <a:buNone/>
            </a:pPr>
            <a:r>
              <a:rPr lang="en-US" sz="1150" dirty="0">
                <a:solidFill>
                  <a:srgbClr val="0F172A"/>
                </a:solidFill>
                <a:latin typeface="Calibri" pitchFamily="34" charset="0"/>
                <a:ea typeface="Calibri" pitchFamily="34" charset="-122"/>
                <a:cs typeface="Calibri" pitchFamily="34" charset="-120"/>
              </a:rPr>
              <a:t>DAP delivery lands Jan 4 — invoice dated Dec 30. Revenue belongs to FY2027.</a:t>
            </a:r>
            <a:endParaRPr lang="en-US" sz="1150" dirty="0"/>
          </a:p>
        </p:txBody>
      </p:sp>
      <p:sp>
        <p:nvSpPr>
          <p:cNvPr id="6" name="Text 4"/>
          <p:cNvSpPr/>
          <p:nvPr/>
        </p:nvSpPr>
        <p:spPr>
          <a:xfrm>
            <a:off x="6263640" y="1481328"/>
            <a:ext cx="1097280" cy="621792"/>
          </a:xfrm>
          <a:prstGeom prst="rect">
            <a:avLst/>
          </a:prstGeom>
          <a:noFill/>
          <a:ln/>
        </p:spPr>
        <p:txBody>
          <a:bodyPr wrap="square" lIns="0" tIns="0" rIns="0" bIns="0" rtlCol="0" anchor="ctr"/>
          <a:lstStyle/>
          <a:p>
            <a:pPr algn="r" indent="0" marL="0">
              <a:buNone/>
            </a:pPr>
            <a:r>
              <a:rPr lang="en-US" sz="1400" b="1" dirty="0">
                <a:solidFill>
                  <a:srgbClr val="0F172A"/>
                </a:solidFill>
                <a:latin typeface="Calibri" pitchFamily="34" charset="0"/>
                <a:ea typeface="Calibri" pitchFamily="34" charset="-122"/>
                <a:cs typeface="Calibri" pitchFamily="34" charset="-120"/>
              </a:rPr>
              <a:t>$186,000</a:t>
            </a:r>
            <a:endParaRPr lang="en-US" sz="1400" dirty="0"/>
          </a:p>
        </p:txBody>
      </p:sp>
      <p:sp>
        <p:nvSpPr>
          <p:cNvPr id="7" name="Shape 5"/>
          <p:cNvSpPr/>
          <p:nvPr/>
        </p:nvSpPr>
        <p:spPr>
          <a:xfrm>
            <a:off x="548640" y="2304288"/>
            <a:ext cx="6949440" cy="804672"/>
          </a:xfrm>
          <a:prstGeom prst="roundRect">
            <a:avLst>
              <a:gd name="adj" fmla="val 11364"/>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777240" y="2523744"/>
            <a:ext cx="713232" cy="347472"/>
          </a:xfrm>
          <a:prstGeom prst="roundRect">
            <a:avLst>
              <a:gd name="adj" fmla="val 50000"/>
            </a:avLst>
          </a:prstGeom>
          <a:solidFill>
            <a:srgbClr val="FFE4E6"/>
          </a:solidFill>
          <a:ln/>
        </p:spPr>
        <p:txBody>
          <a:bodyPr wrap="square" rtlCol="0" anchor="ctr"/>
          <a:lstStyle/>
          <a:p>
            <a:pPr algn="ctr" indent="0" marL="0">
              <a:buNone/>
            </a:pPr>
            <a:r>
              <a:rPr lang="en-US" sz="1050" b="1" dirty="0">
                <a:solidFill>
                  <a:srgbClr val="BE123C"/>
                </a:solidFill>
                <a:latin typeface="Calibri" pitchFamily="34" charset="0"/>
                <a:ea typeface="Calibri" pitchFamily="34" charset="-122"/>
                <a:cs typeface="Calibri" pitchFamily="34" charset="-120"/>
              </a:rPr>
              <a:t>HIGH</a:t>
            </a:r>
            <a:endParaRPr lang="en-US" sz="1050" dirty="0"/>
          </a:p>
        </p:txBody>
      </p:sp>
      <p:sp>
        <p:nvSpPr>
          <p:cNvPr id="9" name="Text 7"/>
          <p:cNvSpPr/>
          <p:nvPr/>
        </p:nvSpPr>
        <p:spPr>
          <a:xfrm>
            <a:off x="1645920" y="2414016"/>
            <a:ext cx="4572000" cy="621792"/>
          </a:xfrm>
          <a:prstGeom prst="rect">
            <a:avLst/>
          </a:prstGeom>
          <a:noFill/>
          <a:ln/>
        </p:spPr>
        <p:txBody>
          <a:bodyPr wrap="square" lIns="0" tIns="0" rIns="0" bIns="0" rtlCol="0" anchor="ctr"/>
          <a:lstStyle/>
          <a:p>
            <a:pPr indent="0" marL="0">
              <a:buNone/>
            </a:pPr>
            <a:r>
              <a:rPr lang="en-US" sz="1150" dirty="0">
                <a:solidFill>
                  <a:srgbClr val="0F172A"/>
                </a:solidFill>
                <a:latin typeface="Calibri" pitchFamily="34" charset="0"/>
                <a:ea typeface="Calibri" pitchFamily="34" charset="-122"/>
                <a:cs typeface="Calibri" pitchFamily="34" charset="-120"/>
              </a:rPr>
              <a:t>Customs value (price list) is $39K under the invoice — method must be documented.</a:t>
            </a:r>
            <a:endParaRPr lang="en-US" sz="1150" dirty="0"/>
          </a:p>
        </p:txBody>
      </p:sp>
      <p:sp>
        <p:nvSpPr>
          <p:cNvPr id="10" name="Text 8"/>
          <p:cNvSpPr/>
          <p:nvPr/>
        </p:nvSpPr>
        <p:spPr>
          <a:xfrm>
            <a:off x="6263640" y="2414016"/>
            <a:ext cx="1097280" cy="621792"/>
          </a:xfrm>
          <a:prstGeom prst="rect">
            <a:avLst/>
          </a:prstGeom>
          <a:noFill/>
          <a:ln/>
        </p:spPr>
        <p:txBody>
          <a:bodyPr wrap="square" lIns="0" tIns="0" rIns="0" bIns="0" rtlCol="0" anchor="ctr"/>
          <a:lstStyle/>
          <a:p>
            <a:pPr algn="r" indent="0" marL="0">
              <a:buNone/>
            </a:pPr>
            <a:r>
              <a:rPr lang="en-US" sz="1400" b="1" dirty="0">
                <a:solidFill>
                  <a:srgbClr val="0F172A"/>
                </a:solidFill>
                <a:latin typeface="Calibri" pitchFamily="34" charset="0"/>
                <a:ea typeface="Calibri" pitchFamily="34" charset="-122"/>
                <a:cs typeface="Calibri" pitchFamily="34" charset="-120"/>
              </a:rPr>
              <a:t>$39,000</a:t>
            </a:r>
            <a:endParaRPr lang="en-US" sz="1400" dirty="0"/>
          </a:p>
        </p:txBody>
      </p:sp>
      <p:sp>
        <p:nvSpPr>
          <p:cNvPr id="11" name="Shape 9"/>
          <p:cNvSpPr/>
          <p:nvPr/>
        </p:nvSpPr>
        <p:spPr>
          <a:xfrm>
            <a:off x="548640" y="3236976"/>
            <a:ext cx="6949440" cy="804672"/>
          </a:xfrm>
          <a:prstGeom prst="roundRect">
            <a:avLst>
              <a:gd name="adj" fmla="val 11364"/>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2" name="Text 10"/>
          <p:cNvSpPr/>
          <p:nvPr/>
        </p:nvSpPr>
        <p:spPr>
          <a:xfrm>
            <a:off x="777240" y="3456432"/>
            <a:ext cx="713232" cy="347472"/>
          </a:xfrm>
          <a:prstGeom prst="roundRect">
            <a:avLst>
              <a:gd name="adj" fmla="val 50000"/>
            </a:avLst>
          </a:prstGeom>
          <a:solidFill>
            <a:srgbClr val="FEF3C7"/>
          </a:solidFill>
          <a:ln/>
        </p:spPr>
        <p:txBody>
          <a:bodyPr wrap="square" rtlCol="0" anchor="ctr"/>
          <a:lstStyle/>
          <a:p>
            <a:pPr algn="ctr" indent="0" marL="0">
              <a:buNone/>
            </a:pPr>
            <a:r>
              <a:rPr lang="en-US" sz="1050" b="1" dirty="0">
                <a:solidFill>
                  <a:srgbClr val="B45309"/>
                </a:solidFill>
                <a:latin typeface="Calibri" pitchFamily="34" charset="0"/>
                <a:ea typeface="Calibri" pitchFamily="34" charset="-122"/>
                <a:cs typeface="Calibri" pitchFamily="34" charset="-120"/>
              </a:rPr>
              <a:t>MED</a:t>
            </a:r>
            <a:endParaRPr lang="en-US" sz="1050" dirty="0"/>
          </a:p>
        </p:txBody>
      </p:sp>
      <p:sp>
        <p:nvSpPr>
          <p:cNvPr id="13" name="Text 11"/>
          <p:cNvSpPr/>
          <p:nvPr/>
        </p:nvSpPr>
        <p:spPr>
          <a:xfrm>
            <a:off x="1645920" y="3346704"/>
            <a:ext cx="4572000" cy="621792"/>
          </a:xfrm>
          <a:prstGeom prst="rect">
            <a:avLst/>
          </a:prstGeom>
          <a:noFill/>
          <a:ln/>
        </p:spPr>
        <p:txBody>
          <a:bodyPr wrap="square" lIns="0" tIns="0" rIns="0" bIns="0" rtlCol="0" anchor="ctr"/>
          <a:lstStyle/>
          <a:p>
            <a:pPr indent="0" marL="0">
              <a:buNone/>
            </a:pPr>
            <a:r>
              <a:rPr lang="en-US" sz="1150" dirty="0">
                <a:solidFill>
                  <a:srgbClr val="0F172A"/>
                </a:solidFill>
                <a:latin typeface="Calibri" pitchFamily="34" charset="0"/>
                <a:ea typeface="Calibri" pitchFamily="34" charset="-122"/>
                <a:cs typeface="Calibri" pitchFamily="34" charset="-120"/>
              </a:rPr>
              <a:t>RMA on the water at year-end — sales return not yet accrued.</a:t>
            </a:r>
            <a:endParaRPr lang="en-US" sz="1150" dirty="0"/>
          </a:p>
        </p:txBody>
      </p:sp>
      <p:sp>
        <p:nvSpPr>
          <p:cNvPr id="14" name="Text 12"/>
          <p:cNvSpPr/>
          <p:nvPr/>
        </p:nvSpPr>
        <p:spPr>
          <a:xfrm>
            <a:off x="6263640" y="3346704"/>
            <a:ext cx="1097280" cy="621792"/>
          </a:xfrm>
          <a:prstGeom prst="rect">
            <a:avLst/>
          </a:prstGeom>
          <a:noFill/>
          <a:ln/>
        </p:spPr>
        <p:txBody>
          <a:bodyPr wrap="square" lIns="0" tIns="0" rIns="0" bIns="0" rtlCol="0" anchor="ctr"/>
          <a:lstStyle/>
          <a:p>
            <a:pPr algn="r" indent="0" marL="0">
              <a:buNone/>
            </a:pPr>
            <a:r>
              <a:rPr lang="en-US" sz="1400" b="1" dirty="0">
                <a:solidFill>
                  <a:srgbClr val="0F172A"/>
                </a:solidFill>
                <a:latin typeface="Calibri" pitchFamily="34" charset="0"/>
                <a:ea typeface="Calibri" pitchFamily="34" charset="-122"/>
                <a:cs typeface="Calibri" pitchFamily="34" charset="-120"/>
              </a:rPr>
              <a:t>$43,000</a:t>
            </a:r>
            <a:endParaRPr lang="en-US" sz="1400" dirty="0"/>
          </a:p>
        </p:txBody>
      </p:sp>
      <p:sp>
        <p:nvSpPr>
          <p:cNvPr id="15" name="Shape 13"/>
          <p:cNvSpPr/>
          <p:nvPr/>
        </p:nvSpPr>
        <p:spPr>
          <a:xfrm>
            <a:off x="548640" y="4169664"/>
            <a:ext cx="6949440" cy="804672"/>
          </a:xfrm>
          <a:prstGeom prst="roundRect">
            <a:avLst>
              <a:gd name="adj" fmla="val 11364"/>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6" name="Text 14"/>
          <p:cNvSpPr/>
          <p:nvPr/>
        </p:nvSpPr>
        <p:spPr>
          <a:xfrm>
            <a:off x="777240" y="4389120"/>
            <a:ext cx="713232" cy="347472"/>
          </a:xfrm>
          <a:prstGeom prst="roundRect">
            <a:avLst>
              <a:gd name="adj" fmla="val 50000"/>
            </a:avLst>
          </a:prstGeom>
          <a:solidFill>
            <a:srgbClr val="FEF3C7"/>
          </a:solidFill>
          <a:ln/>
        </p:spPr>
        <p:txBody>
          <a:bodyPr wrap="square" rtlCol="0" anchor="ctr"/>
          <a:lstStyle/>
          <a:p>
            <a:pPr algn="ctr" indent="0" marL="0">
              <a:buNone/>
            </a:pPr>
            <a:r>
              <a:rPr lang="en-US" sz="1050" b="1" dirty="0">
                <a:solidFill>
                  <a:srgbClr val="B45309"/>
                </a:solidFill>
                <a:latin typeface="Calibri" pitchFamily="34" charset="0"/>
                <a:ea typeface="Calibri" pitchFamily="34" charset="-122"/>
                <a:cs typeface="Calibri" pitchFamily="34" charset="-120"/>
              </a:rPr>
              <a:t>MED</a:t>
            </a:r>
            <a:endParaRPr lang="en-US" sz="1050" dirty="0"/>
          </a:p>
        </p:txBody>
      </p:sp>
      <p:sp>
        <p:nvSpPr>
          <p:cNvPr id="17" name="Text 15"/>
          <p:cNvSpPr/>
          <p:nvPr/>
        </p:nvSpPr>
        <p:spPr>
          <a:xfrm>
            <a:off x="1645920" y="4279392"/>
            <a:ext cx="4572000" cy="621792"/>
          </a:xfrm>
          <a:prstGeom prst="rect">
            <a:avLst/>
          </a:prstGeom>
          <a:noFill/>
          <a:ln/>
        </p:spPr>
        <p:txBody>
          <a:bodyPr wrap="square" lIns="0" tIns="0" rIns="0" bIns="0" rtlCol="0" anchor="ctr"/>
          <a:lstStyle/>
          <a:p>
            <a:pPr indent="0" marL="0">
              <a:buNone/>
            </a:pPr>
            <a:r>
              <a:rPr lang="en-US" sz="1150" dirty="0">
                <a:solidFill>
                  <a:srgbClr val="0F172A"/>
                </a:solidFill>
                <a:latin typeface="Calibri" pitchFamily="34" charset="0"/>
                <a:ea typeface="Calibri" pitchFamily="34" charset="-122"/>
                <a:cs typeface="Calibri" pitchFamily="34" charset="-120"/>
              </a:rPr>
              <a:t>Nine days at the boatyard — still owned, must be in the Dec 31 count.</a:t>
            </a:r>
            <a:endParaRPr lang="en-US" sz="1150" dirty="0"/>
          </a:p>
        </p:txBody>
      </p:sp>
      <p:sp>
        <p:nvSpPr>
          <p:cNvPr id="18" name="Text 16"/>
          <p:cNvSpPr/>
          <p:nvPr/>
        </p:nvSpPr>
        <p:spPr>
          <a:xfrm>
            <a:off x="6263640" y="4279392"/>
            <a:ext cx="1097280" cy="621792"/>
          </a:xfrm>
          <a:prstGeom prst="rect">
            <a:avLst/>
          </a:prstGeom>
          <a:noFill/>
          <a:ln/>
        </p:spPr>
        <p:txBody>
          <a:bodyPr wrap="square" lIns="0" tIns="0" rIns="0" bIns="0" rtlCol="0" anchor="ctr"/>
          <a:lstStyle/>
          <a:p>
            <a:pPr algn="r" indent="0" marL="0">
              <a:buNone/>
            </a:pPr>
            <a:r>
              <a:rPr lang="en-US" sz="1400" b="1" dirty="0">
                <a:solidFill>
                  <a:srgbClr val="0F172A"/>
                </a:solidFill>
                <a:latin typeface="Calibri" pitchFamily="34" charset="0"/>
                <a:ea typeface="Calibri" pitchFamily="34" charset="-122"/>
                <a:cs typeface="Calibri" pitchFamily="34" charset="-120"/>
              </a:rPr>
              <a:t>$86,000</a:t>
            </a:r>
            <a:endParaRPr lang="en-US" sz="1400" dirty="0"/>
          </a:p>
        </p:txBody>
      </p:sp>
      <p:sp>
        <p:nvSpPr>
          <p:cNvPr id="19" name="Shape 17"/>
          <p:cNvSpPr/>
          <p:nvPr/>
        </p:nvSpPr>
        <p:spPr>
          <a:xfrm>
            <a:off x="548640" y="5102352"/>
            <a:ext cx="6949440" cy="804672"/>
          </a:xfrm>
          <a:prstGeom prst="roundRect">
            <a:avLst>
              <a:gd name="adj" fmla="val 11364"/>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0" name="Text 18"/>
          <p:cNvSpPr/>
          <p:nvPr/>
        </p:nvSpPr>
        <p:spPr>
          <a:xfrm>
            <a:off x="777240" y="5321808"/>
            <a:ext cx="713232" cy="347472"/>
          </a:xfrm>
          <a:prstGeom prst="roundRect">
            <a:avLst>
              <a:gd name="adj" fmla="val 50000"/>
            </a:avLst>
          </a:prstGeom>
          <a:solidFill>
            <a:srgbClr val="E0F2FE"/>
          </a:solidFill>
          <a:ln/>
        </p:spPr>
        <p:txBody>
          <a:bodyPr wrap="square" rtlCol="0" anchor="ctr"/>
          <a:lstStyle/>
          <a:p>
            <a:pPr algn="ctr" indent="0" marL="0">
              <a:buNone/>
            </a:pPr>
            <a:r>
              <a:rPr lang="en-US" sz="1050" b="1" dirty="0">
                <a:solidFill>
                  <a:srgbClr val="0369A1"/>
                </a:solidFill>
                <a:latin typeface="Calibri" pitchFamily="34" charset="0"/>
                <a:ea typeface="Calibri" pitchFamily="34" charset="-122"/>
                <a:cs typeface="Calibri" pitchFamily="34" charset="-120"/>
              </a:rPr>
              <a:t>PLAN</a:t>
            </a:r>
            <a:endParaRPr lang="en-US" sz="1050" dirty="0"/>
          </a:p>
        </p:txBody>
      </p:sp>
      <p:sp>
        <p:nvSpPr>
          <p:cNvPr id="21" name="Text 19"/>
          <p:cNvSpPr/>
          <p:nvPr/>
        </p:nvSpPr>
        <p:spPr>
          <a:xfrm>
            <a:off x="1645920" y="5212080"/>
            <a:ext cx="4572000" cy="621792"/>
          </a:xfrm>
          <a:prstGeom prst="rect">
            <a:avLst/>
          </a:prstGeom>
          <a:noFill/>
          <a:ln/>
        </p:spPr>
        <p:txBody>
          <a:bodyPr wrap="square" lIns="0" tIns="0" rIns="0" bIns="0" rtlCol="0" anchor="ctr"/>
          <a:lstStyle/>
          <a:p>
            <a:pPr indent="0" marL="0">
              <a:buNone/>
            </a:pPr>
            <a:r>
              <a:rPr lang="en-US" sz="1150" dirty="0">
                <a:solidFill>
                  <a:srgbClr val="0F172A"/>
                </a:solidFill>
                <a:latin typeface="Calibri" pitchFamily="34" charset="0"/>
                <a:ea typeface="Calibri" pitchFamily="34" charset="-122"/>
                <a:cs typeface="Calibri" pitchFamily="34" charset="-120"/>
              </a:rPr>
              <a:t>Shift a $500K stock receipt Dec 30 → Jan 2: off the property-tax assessment date.</a:t>
            </a:r>
            <a:endParaRPr lang="en-US" sz="1150" dirty="0"/>
          </a:p>
        </p:txBody>
      </p:sp>
      <p:sp>
        <p:nvSpPr>
          <p:cNvPr id="22" name="Text 20"/>
          <p:cNvSpPr/>
          <p:nvPr/>
        </p:nvSpPr>
        <p:spPr>
          <a:xfrm>
            <a:off x="6263640" y="5212080"/>
            <a:ext cx="1097280" cy="621792"/>
          </a:xfrm>
          <a:prstGeom prst="rect">
            <a:avLst/>
          </a:prstGeom>
          <a:noFill/>
          <a:ln/>
        </p:spPr>
        <p:txBody>
          <a:bodyPr wrap="square" lIns="0" tIns="0" rIns="0" bIns="0" rtlCol="0" anchor="ctr"/>
          <a:lstStyle/>
          <a:p>
            <a:pPr algn="r" indent="0" marL="0">
              <a:buNone/>
            </a:pPr>
            <a:r>
              <a:rPr lang="en-US" sz="1400" b="1" dirty="0">
                <a:solidFill>
                  <a:srgbClr val="0F172A"/>
                </a:solidFill>
                <a:latin typeface="Calibri" pitchFamily="34" charset="0"/>
                <a:ea typeface="Calibri" pitchFamily="34" charset="-122"/>
                <a:cs typeface="Calibri" pitchFamily="34" charset="-120"/>
              </a:rPr>
              <a:t>≈ $6,500</a:t>
            </a:r>
            <a:endParaRPr lang="en-US" sz="1400" dirty="0"/>
          </a:p>
        </p:txBody>
      </p:sp>
      <p:sp>
        <p:nvSpPr>
          <p:cNvPr id="23" name="Shape 21"/>
          <p:cNvSpPr/>
          <p:nvPr/>
        </p:nvSpPr>
        <p:spPr>
          <a:xfrm>
            <a:off x="7818120" y="1371600"/>
            <a:ext cx="3794760" cy="4663440"/>
          </a:xfrm>
          <a:prstGeom prst="roundRect">
            <a:avLst>
              <a:gd name="adj" fmla="val 2410"/>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4" name="Text 22"/>
          <p:cNvSpPr/>
          <p:nvPr/>
        </p:nvSpPr>
        <p:spPr>
          <a:xfrm>
            <a:off x="8183880" y="1783080"/>
            <a:ext cx="3108960" cy="868680"/>
          </a:xfrm>
          <a:prstGeom prst="rect">
            <a:avLst/>
          </a:prstGeom>
          <a:noFill/>
          <a:ln/>
        </p:spPr>
        <p:txBody>
          <a:bodyPr wrap="square" lIns="0" tIns="0" rIns="0" bIns="0" rtlCol="0" anchor="ctr"/>
          <a:lstStyle/>
          <a:p>
            <a:pPr indent="0" marL="0">
              <a:buNone/>
            </a:pPr>
            <a:r>
              <a:rPr lang="en-US" sz="5400" b="1" dirty="0">
                <a:solidFill>
                  <a:srgbClr val="34D399"/>
                </a:solidFill>
                <a:latin typeface="Calibri" pitchFamily="34" charset="0"/>
                <a:ea typeface="Calibri" pitchFamily="34" charset="-122"/>
                <a:cs typeface="Calibri" pitchFamily="34" charset="-120"/>
              </a:rPr>
              <a:t>$229K</a:t>
            </a:r>
            <a:endParaRPr lang="en-US" sz="5400" dirty="0"/>
          </a:p>
        </p:txBody>
      </p:sp>
      <p:sp>
        <p:nvSpPr>
          <p:cNvPr id="25" name="Text 23"/>
          <p:cNvSpPr/>
          <p:nvPr/>
        </p:nvSpPr>
        <p:spPr>
          <a:xfrm>
            <a:off x="8183880" y="2697480"/>
            <a:ext cx="3063240" cy="777240"/>
          </a:xfrm>
          <a:prstGeom prst="rect">
            <a:avLst/>
          </a:prstGeom>
          <a:noFill/>
          <a:ln/>
        </p:spPr>
        <p:txBody>
          <a:bodyPr wrap="square" lIns="0" tIns="0" rIns="0" bIns="0" rtlCol="0" anchor="ctr"/>
          <a:lstStyle/>
          <a:p>
            <a:pPr indent="0" marL="0">
              <a:buNone/>
            </a:pPr>
            <a:r>
              <a:rPr lang="en-US" sz="1350" dirty="0">
                <a:solidFill>
                  <a:srgbClr val="CBD5E1"/>
                </a:solidFill>
                <a:latin typeface="Calibri" pitchFamily="34" charset="0"/>
                <a:ea typeface="Calibri" pitchFamily="34" charset="-122"/>
                <a:cs typeface="Calibri" pitchFamily="34" charset="-120"/>
              </a:rPr>
              <a:t>of FY2026 revenue exposure flagged from custody events in the demo dataset alone</a:t>
            </a:r>
            <a:endParaRPr lang="en-US" sz="1350" dirty="0"/>
          </a:p>
        </p:txBody>
      </p:sp>
      <p:sp>
        <p:nvSpPr>
          <p:cNvPr id="26" name="Text 24"/>
          <p:cNvSpPr/>
          <p:nvPr/>
        </p:nvSpPr>
        <p:spPr>
          <a:xfrm>
            <a:off x="8183880" y="3703320"/>
            <a:ext cx="3063240" cy="457200"/>
          </a:xfrm>
          <a:prstGeom prst="rect">
            <a:avLst/>
          </a:prstGeom>
          <a:noFill/>
          <a:ln/>
        </p:spPr>
        <p:txBody>
          <a:bodyPr wrap="square" lIns="0" tIns="0" rIns="0" bIns="0" rtlCol="0" anchor="ctr"/>
          <a:lstStyle/>
          <a:p>
            <a:pPr indent="0" marL="0">
              <a:buNone/>
            </a:pPr>
            <a:r>
              <a:rPr lang="en-US" sz="1400" b="1" i="1" dirty="0">
                <a:solidFill>
                  <a:srgbClr val="FFFFFF"/>
                </a:solidFill>
                <a:latin typeface="Calibri" pitchFamily="34" charset="0"/>
                <a:ea typeface="Calibri" pitchFamily="34" charset="-122"/>
                <a:cs typeface="Calibri" pitchFamily="34" charset="-120"/>
              </a:rPr>
              <a:t>“AI investigates. Controllers conclude.”</a:t>
            </a:r>
            <a:endParaRPr lang="en-US" sz="1400" dirty="0"/>
          </a:p>
        </p:txBody>
      </p:sp>
      <p:sp>
        <p:nvSpPr>
          <p:cNvPr id="27" name="Text 25"/>
          <p:cNvSpPr/>
          <p:nvPr/>
        </p:nvSpPr>
        <p:spPr>
          <a:xfrm>
            <a:off x="8183880" y="4206240"/>
            <a:ext cx="3063240" cy="82296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Materiality decides what gets AI attention. Every flag routes to a human. Nothing auto-posts — ever.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Built to complement the stack you already run.</a:t>
            </a:r>
            <a:endParaRPr lang="en-US" sz="3400" dirty="0"/>
          </a:p>
        </p:txBody>
      </p:sp>
      <p:sp>
        <p:nvSpPr>
          <p:cNvPr id="3" name="Shape 1"/>
          <p:cNvSpPr/>
          <p:nvPr/>
        </p:nvSpPr>
        <p:spPr>
          <a:xfrm>
            <a:off x="548640" y="1600200"/>
            <a:ext cx="3383280" cy="2651760"/>
          </a:xfrm>
          <a:prstGeom prst="roundRect">
            <a:avLst>
              <a:gd name="adj" fmla="val 3448"/>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822960" y="1828800"/>
            <a:ext cx="2834640" cy="320040"/>
          </a:xfrm>
          <a:prstGeom prst="rect">
            <a:avLst/>
          </a:prstGeom>
          <a:noFill/>
          <a:ln/>
        </p:spPr>
        <p:txBody>
          <a:bodyPr wrap="square" lIns="0" tIns="0" rIns="0" bIns="0" rtlCol="0" anchor="ctr"/>
          <a:lstStyle/>
          <a:p>
            <a:pPr indent="0" marL="0">
              <a:buNone/>
            </a:pPr>
            <a:r>
              <a:rPr lang="en-US" sz="1300" b="1" dirty="0">
                <a:solidFill>
                  <a:srgbClr val="94A3B8"/>
                </a:solidFill>
                <a:latin typeface="Calibri" pitchFamily="34" charset="0"/>
                <a:ea typeface="Calibri" pitchFamily="34" charset="-122"/>
                <a:cs typeface="Calibri" pitchFamily="34" charset="-120"/>
              </a:rPr>
              <a:t>Systems of record</a:t>
            </a:r>
            <a:endParaRPr lang="en-US" sz="1300" dirty="0"/>
          </a:p>
        </p:txBody>
      </p:sp>
      <p:sp>
        <p:nvSpPr>
          <p:cNvPr id="5" name="Text 3"/>
          <p:cNvSpPr/>
          <p:nvPr/>
        </p:nvSpPr>
        <p:spPr>
          <a:xfrm>
            <a:off x="822960" y="2194560"/>
            <a:ext cx="2834640"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NetSuite · Oracle · SAP</a:t>
            </a:r>
            <a:endParaRPr lang="en-US" sz="1800" dirty="0"/>
          </a:p>
        </p:txBody>
      </p:sp>
      <p:sp>
        <p:nvSpPr>
          <p:cNvPr id="6" name="Text 4"/>
          <p:cNvSpPr/>
          <p:nvPr/>
        </p:nvSpPr>
        <p:spPr>
          <a:xfrm>
            <a:off x="822960" y="2697480"/>
            <a:ext cx="2880360" cy="13716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Own the books and the item master. Blind between warehouse scans — they record what happened only after someone types it in.</a:t>
            </a:r>
            <a:endParaRPr lang="en-US" sz="1200" dirty="0"/>
          </a:p>
        </p:txBody>
      </p:sp>
      <p:sp>
        <p:nvSpPr>
          <p:cNvPr id="7" name="Shape 5"/>
          <p:cNvSpPr/>
          <p:nvPr/>
        </p:nvSpPr>
        <p:spPr>
          <a:xfrm>
            <a:off x="4389120" y="1417320"/>
            <a:ext cx="3429000" cy="3017520"/>
          </a:xfrm>
          <a:prstGeom prst="roundRect">
            <a:avLst>
              <a:gd name="adj" fmla="val 3030"/>
            </a:avLst>
          </a:prstGeom>
          <a:solidFill>
            <a:srgbClr val="059669"/>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4663440" y="1691640"/>
            <a:ext cx="2926080" cy="365760"/>
          </a:xfrm>
          <a:prstGeom prst="rect">
            <a:avLst/>
          </a:prstGeom>
          <a:noFill/>
          <a:ln/>
        </p:spPr>
        <p:txBody>
          <a:bodyPr wrap="square" lIns="0" tIns="0" rIns="0" bIns="0" rtlCol="0" anchor="ctr"/>
          <a:lstStyle/>
          <a:p>
            <a:pPr indent="0" marL="0">
              <a:buNone/>
            </a:pPr>
            <a:r>
              <a:rPr lang="en-US" sz="1600" b="1" spc="200" kern="0" dirty="0">
                <a:solidFill>
                  <a:srgbClr val="FFFFFF"/>
                </a:solidFill>
                <a:latin typeface="Calibri" pitchFamily="34" charset="0"/>
                <a:ea typeface="Calibri" pitchFamily="34" charset="-122"/>
                <a:cs typeface="Calibri" pitchFamily="34" charset="-120"/>
              </a:rPr>
              <a:t>TRANSIT GUARD</a:t>
            </a:r>
            <a:endParaRPr lang="en-US" sz="1600" dirty="0"/>
          </a:p>
        </p:txBody>
      </p:sp>
      <p:sp>
        <p:nvSpPr>
          <p:cNvPr id="9" name="Text 7"/>
          <p:cNvSpPr/>
          <p:nvPr/>
        </p:nvSpPr>
        <p:spPr>
          <a:xfrm>
            <a:off x="4663440" y="2103120"/>
            <a:ext cx="2926080" cy="365760"/>
          </a:xfrm>
          <a:prstGeom prst="rect">
            <a:avLst/>
          </a:prstGeom>
          <a:noFill/>
          <a:ln/>
        </p:spPr>
        <p:txBody>
          <a:bodyPr wrap="square" lIns="0" tIns="0" rIns="0" bIns="0" rtlCol="0" anchor="ctr"/>
          <a:lstStyle/>
          <a:p>
            <a:pPr indent="0" marL="0">
              <a:buNone/>
            </a:pPr>
            <a:r>
              <a:rPr lang="en-US" sz="1400" i="1" dirty="0">
                <a:solidFill>
                  <a:srgbClr val="D1FAE5"/>
                </a:solidFill>
                <a:latin typeface="Calibri" pitchFamily="34" charset="0"/>
                <a:ea typeface="Calibri" pitchFamily="34" charset="-122"/>
                <a:cs typeface="Calibri" pitchFamily="34" charset="-120"/>
              </a:rPr>
              <a:t>The custody capture layer</a:t>
            </a:r>
            <a:endParaRPr lang="en-US" sz="1400" dirty="0"/>
          </a:p>
        </p:txBody>
      </p:sp>
      <p:sp>
        <p:nvSpPr>
          <p:cNvPr id="10" name="Text 8"/>
          <p:cNvSpPr/>
          <p:nvPr/>
        </p:nvSpPr>
        <p:spPr>
          <a:xfrm>
            <a:off x="4663440" y="2514600"/>
            <a:ext cx="2926080" cy="11887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Scans, hand-offs, customs documents, and transaction dates captured where they happen — in the field, on a phone, in the local language.</a:t>
            </a:r>
            <a:endParaRPr lang="en-US" sz="1250" dirty="0"/>
          </a:p>
        </p:txBody>
      </p:sp>
      <p:sp>
        <p:nvSpPr>
          <p:cNvPr id="11" name="Text 9"/>
          <p:cNvSpPr/>
          <p:nvPr/>
        </p:nvSpPr>
        <p:spPr>
          <a:xfrm>
            <a:off x="4663440" y="3794760"/>
            <a:ext cx="2926080" cy="502920"/>
          </a:xfrm>
          <a:prstGeom prst="rect">
            <a:avLst/>
          </a:prstGeom>
          <a:noFill/>
          <a:ln/>
        </p:spPr>
        <p:txBody>
          <a:bodyPr wrap="square" lIns="0" tIns="0" rIns="0" bIns="0" rtlCol="0" anchor="ctr"/>
          <a:lstStyle/>
          <a:p>
            <a:pPr indent="0" marL="0">
              <a:buNone/>
            </a:pPr>
            <a:r>
              <a:rPr lang="en-US" sz="1100" i="1" dirty="0">
                <a:solidFill>
                  <a:srgbClr val="D1FAE5"/>
                </a:solidFill>
                <a:latin typeface="Calibri" pitchFamily="34" charset="0"/>
                <a:ea typeface="Calibri" pitchFamily="34" charset="-122"/>
                <a:cs typeface="Calibri" pitchFamily="34" charset="-120"/>
              </a:rPr>
              <a:t>clean transaction dates in · audit-ready evidence out</a:t>
            </a:r>
            <a:endParaRPr lang="en-US" sz="1100" dirty="0"/>
          </a:p>
        </p:txBody>
      </p:sp>
      <p:sp>
        <p:nvSpPr>
          <p:cNvPr id="12" name="Shape 10"/>
          <p:cNvSpPr/>
          <p:nvPr/>
        </p:nvSpPr>
        <p:spPr>
          <a:xfrm>
            <a:off x="8275320" y="1600200"/>
            <a:ext cx="3337560" cy="2651760"/>
          </a:xfrm>
          <a:prstGeom prst="roundRect">
            <a:avLst>
              <a:gd name="adj" fmla="val 3448"/>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3" name="Text 11"/>
          <p:cNvSpPr/>
          <p:nvPr/>
        </p:nvSpPr>
        <p:spPr>
          <a:xfrm>
            <a:off x="8549640" y="1828800"/>
            <a:ext cx="2788920" cy="320040"/>
          </a:xfrm>
          <a:prstGeom prst="rect">
            <a:avLst/>
          </a:prstGeom>
          <a:noFill/>
          <a:ln/>
        </p:spPr>
        <p:txBody>
          <a:bodyPr wrap="square" lIns="0" tIns="0" rIns="0" bIns="0" rtlCol="0" anchor="ctr"/>
          <a:lstStyle/>
          <a:p>
            <a:pPr indent="0" marL="0">
              <a:buNone/>
            </a:pPr>
            <a:r>
              <a:rPr lang="en-US" sz="1300" b="1" dirty="0">
                <a:solidFill>
                  <a:srgbClr val="94A3B8"/>
                </a:solidFill>
                <a:latin typeface="Calibri" pitchFamily="34" charset="0"/>
                <a:ea typeface="Calibri" pitchFamily="34" charset="-122"/>
                <a:cs typeface="Calibri" pitchFamily="34" charset="-120"/>
              </a:rPr>
              <a:t>Close &amp; assurance</a:t>
            </a:r>
            <a:endParaRPr lang="en-US" sz="1300" dirty="0"/>
          </a:p>
        </p:txBody>
      </p:sp>
      <p:sp>
        <p:nvSpPr>
          <p:cNvPr id="14" name="Text 12"/>
          <p:cNvSpPr/>
          <p:nvPr/>
        </p:nvSpPr>
        <p:spPr>
          <a:xfrm>
            <a:off x="8549640" y="2194560"/>
            <a:ext cx="2788920" cy="6858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BlackLine · Inventory Close Guard</a:t>
            </a:r>
            <a:endParaRPr lang="en-US" sz="1700" dirty="0"/>
          </a:p>
        </p:txBody>
      </p:sp>
      <p:sp>
        <p:nvSpPr>
          <p:cNvPr id="15" name="Text 13"/>
          <p:cNvSpPr/>
          <p:nvPr/>
        </p:nvSpPr>
        <p:spPr>
          <a:xfrm>
            <a:off x="8549640" y="2926080"/>
            <a:ext cx="2743200" cy="109728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Close automation starts once trustworthy data exists. Transit Guard is where that data is born.</a:t>
            </a:r>
            <a:endParaRPr lang="en-US" sz="1200" dirty="0"/>
          </a:p>
        </p:txBody>
      </p:sp>
      <p:sp>
        <p:nvSpPr>
          <p:cNvPr id="16" name="Shape 14"/>
          <p:cNvSpPr/>
          <p:nvPr/>
        </p:nvSpPr>
        <p:spPr>
          <a:xfrm>
            <a:off x="3950208" y="2743200"/>
            <a:ext cx="457200" cy="365760"/>
          </a:xfrm>
          <a:prstGeom prst="rightArrow">
            <a:avLst/>
          </a:prstGeom>
          <a:solidFill>
            <a:srgbClr val="059669"/>
          </a:solidFill>
          <a:ln/>
        </p:spPr>
      </p:sp>
      <p:sp>
        <p:nvSpPr>
          <p:cNvPr id="17" name="Shape 15"/>
          <p:cNvSpPr/>
          <p:nvPr/>
        </p:nvSpPr>
        <p:spPr>
          <a:xfrm>
            <a:off x="7836408" y="2743200"/>
            <a:ext cx="457200" cy="365760"/>
          </a:xfrm>
          <a:prstGeom prst="rightArrow">
            <a:avLst/>
          </a:prstGeom>
          <a:solidFill>
            <a:srgbClr val="059669"/>
          </a:solidFill>
          <a:ln/>
        </p:spPr>
      </p:sp>
      <p:sp>
        <p:nvSpPr>
          <p:cNvPr id="18" name="Shape 16"/>
          <p:cNvSpPr/>
          <p:nvPr/>
        </p:nvSpPr>
        <p:spPr>
          <a:xfrm>
            <a:off x="548640" y="4709160"/>
            <a:ext cx="5349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9" name="Text 17"/>
          <p:cNvSpPr/>
          <p:nvPr/>
        </p:nvSpPr>
        <p:spPr>
          <a:xfrm>
            <a:off x="822960" y="4919472"/>
            <a:ext cx="475488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No rip-and-replace</a:t>
            </a:r>
            <a:endParaRPr lang="en-US" sz="1450" dirty="0"/>
          </a:p>
        </p:txBody>
      </p:sp>
      <p:sp>
        <p:nvSpPr>
          <p:cNvPr id="20" name="Text 18"/>
          <p:cNvSpPr/>
          <p:nvPr/>
        </p:nvSpPr>
        <p:spPr>
          <a:xfrm>
            <a:off x="822960" y="5257800"/>
            <a:ext cx="4846320" cy="82296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Transit Guard writes clean, dated custody events into the ERP you already trust — a connector, not a migration.</a:t>
            </a:r>
            <a:endParaRPr lang="en-US" sz="1200" dirty="0"/>
          </a:p>
        </p:txBody>
      </p:sp>
      <p:sp>
        <p:nvSpPr>
          <p:cNvPr id="21" name="Shape 19"/>
          <p:cNvSpPr/>
          <p:nvPr/>
        </p:nvSpPr>
        <p:spPr>
          <a:xfrm>
            <a:off x="6263640" y="4709160"/>
            <a:ext cx="5349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2" name="Text 20"/>
          <p:cNvSpPr/>
          <p:nvPr/>
        </p:nvSpPr>
        <p:spPr>
          <a:xfrm>
            <a:off x="6537960" y="4919472"/>
            <a:ext cx="475488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The suite play</a:t>
            </a:r>
            <a:endParaRPr lang="en-US" sz="1450" dirty="0"/>
          </a:p>
        </p:txBody>
      </p:sp>
      <p:sp>
        <p:nvSpPr>
          <p:cNvPr id="23" name="Text 21"/>
          <p:cNvSpPr/>
          <p:nvPr/>
        </p:nvSpPr>
        <p:spPr>
          <a:xfrm>
            <a:off x="6537960" y="5257800"/>
            <a:ext cx="4846320" cy="82296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At year-end, custody events become Inventory Close Guard’s cutoff and existence evidence. Capture once, close faster.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A focused wedge into a $28B market.</a:t>
            </a:r>
            <a:endParaRPr lang="en-US" sz="3400" dirty="0"/>
          </a:p>
        </p:txBody>
      </p:sp>
      <p:sp>
        <p:nvSpPr>
          <p:cNvPr id="3" name="Shape 1"/>
          <p:cNvSpPr/>
          <p:nvPr/>
        </p:nvSpPr>
        <p:spPr>
          <a:xfrm>
            <a:off x="548640" y="1417320"/>
            <a:ext cx="6309360" cy="1325880"/>
          </a:xfrm>
          <a:prstGeom prst="roundRect">
            <a:avLst>
              <a:gd name="adj" fmla="val 6897"/>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822960" y="1801368"/>
            <a:ext cx="868680" cy="502920"/>
          </a:xfrm>
          <a:prstGeom prst="roundRect">
            <a:avLst>
              <a:gd name="adj" fmla="val 21818"/>
            </a:avLst>
          </a:prstGeom>
          <a:solidFill>
            <a:srgbClr val="D1FAE5"/>
          </a:solidFill>
          <a:ln/>
        </p:spPr>
        <p:txBody>
          <a:bodyPr wrap="square" rtlCol="0" anchor="ctr"/>
          <a:lstStyle/>
          <a:p>
            <a:pPr algn="ctr" indent="0" marL="0">
              <a:buNone/>
            </a:pPr>
            <a:r>
              <a:rPr lang="en-US" sz="1500" b="1" dirty="0">
                <a:solidFill>
                  <a:srgbClr val="059669"/>
                </a:solidFill>
                <a:latin typeface="Calibri" pitchFamily="34" charset="0"/>
                <a:ea typeface="Calibri" pitchFamily="34" charset="-122"/>
                <a:cs typeface="Calibri" pitchFamily="34" charset="-120"/>
              </a:rPr>
              <a:t>TAM</a:t>
            </a:r>
            <a:endParaRPr lang="en-US" sz="1500" dirty="0"/>
          </a:p>
        </p:txBody>
      </p:sp>
      <p:sp>
        <p:nvSpPr>
          <p:cNvPr id="5" name="Text 3"/>
          <p:cNvSpPr/>
          <p:nvPr/>
        </p:nvSpPr>
        <p:spPr>
          <a:xfrm>
            <a:off x="1874520" y="1581912"/>
            <a:ext cx="1965960" cy="68580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$28B</a:t>
            </a:r>
            <a:endParaRPr lang="en-US" sz="3000" dirty="0"/>
          </a:p>
        </p:txBody>
      </p:sp>
      <p:sp>
        <p:nvSpPr>
          <p:cNvPr id="6" name="Text 4"/>
          <p:cNvSpPr/>
          <p:nvPr/>
        </p:nvSpPr>
        <p:spPr>
          <a:xfrm>
            <a:off x="3886200" y="1563624"/>
            <a:ext cx="2788920" cy="10515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Global supply chain management software spend, 2025.</a:t>
            </a:r>
            <a:endParaRPr lang="en-US" sz="1100" dirty="0"/>
          </a:p>
        </p:txBody>
      </p:sp>
      <p:sp>
        <p:nvSpPr>
          <p:cNvPr id="7" name="Shape 5"/>
          <p:cNvSpPr/>
          <p:nvPr/>
        </p:nvSpPr>
        <p:spPr>
          <a:xfrm>
            <a:off x="548640" y="2898648"/>
            <a:ext cx="6309360" cy="1325880"/>
          </a:xfrm>
          <a:prstGeom prst="roundRect">
            <a:avLst>
              <a:gd name="adj" fmla="val 6897"/>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822960" y="3282696"/>
            <a:ext cx="868680" cy="502920"/>
          </a:xfrm>
          <a:prstGeom prst="roundRect">
            <a:avLst>
              <a:gd name="adj" fmla="val 21818"/>
            </a:avLst>
          </a:prstGeom>
          <a:solidFill>
            <a:srgbClr val="CCFBF1"/>
          </a:solidFill>
          <a:ln/>
        </p:spPr>
        <p:txBody>
          <a:bodyPr wrap="square" rtlCol="0" anchor="ctr"/>
          <a:lstStyle/>
          <a:p>
            <a:pPr algn="ctr" indent="0" marL="0">
              <a:buNone/>
            </a:pPr>
            <a:r>
              <a:rPr lang="en-US" sz="1500" b="1" dirty="0">
                <a:solidFill>
                  <a:srgbClr val="0F766E"/>
                </a:solidFill>
                <a:latin typeface="Calibri" pitchFamily="34" charset="0"/>
                <a:ea typeface="Calibri" pitchFamily="34" charset="-122"/>
                <a:cs typeface="Calibri" pitchFamily="34" charset="-120"/>
              </a:rPr>
              <a:t>SAM</a:t>
            </a:r>
            <a:endParaRPr lang="en-US" sz="1500" dirty="0"/>
          </a:p>
        </p:txBody>
      </p:sp>
      <p:sp>
        <p:nvSpPr>
          <p:cNvPr id="9" name="Text 7"/>
          <p:cNvSpPr/>
          <p:nvPr/>
        </p:nvSpPr>
        <p:spPr>
          <a:xfrm>
            <a:off x="1874520" y="3063240"/>
            <a:ext cx="1965960" cy="68580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$6.5B</a:t>
            </a:r>
            <a:endParaRPr lang="en-US" sz="3000" dirty="0"/>
          </a:p>
        </p:txBody>
      </p:sp>
      <p:sp>
        <p:nvSpPr>
          <p:cNvPr id="10" name="Text 8"/>
          <p:cNvSpPr/>
          <p:nvPr/>
        </p:nvSpPr>
        <p:spPr>
          <a:xfrm>
            <a:off x="3886200" y="3044952"/>
            <a:ext cx="2788920" cy="10515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Supply chain visibility (~$3.3B) + inventory management software (~$3.2B) — the goods-in-motion layer, growing 13%+ per year.</a:t>
            </a:r>
            <a:endParaRPr lang="en-US" sz="1100" dirty="0"/>
          </a:p>
        </p:txBody>
      </p:sp>
      <p:sp>
        <p:nvSpPr>
          <p:cNvPr id="11" name="Shape 9"/>
          <p:cNvSpPr/>
          <p:nvPr/>
        </p:nvSpPr>
        <p:spPr>
          <a:xfrm>
            <a:off x="548640" y="4379976"/>
            <a:ext cx="6309360" cy="1325880"/>
          </a:xfrm>
          <a:prstGeom prst="roundRect">
            <a:avLst>
              <a:gd name="adj" fmla="val 6897"/>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2" name="Text 10"/>
          <p:cNvSpPr/>
          <p:nvPr/>
        </p:nvSpPr>
        <p:spPr>
          <a:xfrm>
            <a:off x="822960" y="4764024"/>
            <a:ext cx="868680" cy="502920"/>
          </a:xfrm>
          <a:prstGeom prst="roundRect">
            <a:avLst>
              <a:gd name="adj" fmla="val 21818"/>
            </a:avLst>
          </a:prstGeom>
          <a:solidFill>
            <a:srgbClr val="FEF3C7"/>
          </a:solidFill>
          <a:ln/>
        </p:spPr>
        <p:txBody>
          <a:bodyPr wrap="square" rtlCol="0" anchor="ctr"/>
          <a:lstStyle/>
          <a:p>
            <a:pPr algn="ctr" indent="0" marL="0">
              <a:buNone/>
            </a:pPr>
            <a:r>
              <a:rPr lang="en-US" sz="1500" b="1" dirty="0">
                <a:solidFill>
                  <a:srgbClr val="B45309"/>
                </a:solidFill>
                <a:latin typeface="Calibri" pitchFamily="34" charset="0"/>
                <a:ea typeface="Calibri" pitchFamily="34" charset="-122"/>
                <a:cs typeface="Calibri" pitchFamily="34" charset="-120"/>
              </a:rPr>
              <a:t>SOM</a:t>
            </a:r>
            <a:endParaRPr lang="en-US" sz="1500" dirty="0"/>
          </a:p>
        </p:txBody>
      </p:sp>
      <p:sp>
        <p:nvSpPr>
          <p:cNvPr id="13" name="Text 11"/>
          <p:cNvSpPr/>
          <p:nvPr/>
        </p:nvSpPr>
        <p:spPr>
          <a:xfrm>
            <a:off x="1874520" y="4544568"/>
            <a:ext cx="1965960" cy="68580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$48M ARR</a:t>
            </a:r>
            <a:endParaRPr lang="en-US" sz="3000" dirty="0"/>
          </a:p>
        </p:txBody>
      </p:sp>
      <p:sp>
        <p:nvSpPr>
          <p:cNvPr id="14" name="Text 12"/>
          <p:cNvSpPr/>
          <p:nvPr/>
        </p:nvSpPr>
        <p:spPr>
          <a:xfrm>
            <a:off x="3886200" y="4526280"/>
            <a:ext cx="2788920" cy="10515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Beachhead: ~4,000 U.S. mid-market serialized-hardware exporters × $12K average contract.</a:t>
            </a:r>
            <a:endParaRPr lang="en-US" sz="1100" dirty="0"/>
          </a:p>
        </p:txBody>
      </p:sp>
      <p:sp>
        <p:nvSpPr>
          <p:cNvPr id="15" name="Shape 13"/>
          <p:cNvSpPr/>
          <p:nvPr/>
        </p:nvSpPr>
        <p:spPr>
          <a:xfrm>
            <a:off x="7178040" y="1417320"/>
            <a:ext cx="4434840" cy="4526280"/>
          </a:xfrm>
          <a:prstGeom prst="roundRect">
            <a:avLst>
              <a:gd name="adj" fmla="val 20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graphicFrame>
        <p:nvGraphicFramePr>
          <p:cNvPr id="16" name="Chart 0" descr=""/>
          <p:cNvGraphicFramePr/>
          <p:nvPr/>
        </p:nvGraphicFramePr>
        <p:xfrm>
          <a:off x="7452360" y="1783080"/>
          <a:ext cx="3886200" cy="329184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7452360" y="5120640"/>
            <a:ext cx="3886200" cy="365760"/>
          </a:xfrm>
          <a:prstGeom prst="rect">
            <a:avLst/>
          </a:prstGeom>
          <a:noFill/>
          <a:ln/>
        </p:spPr>
        <p:txBody>
          <a:bodyPr wrap="square" lIns="0" tIns="0" rIns="0" bIns="0" rtlCol="0" anchor="ctr"/>
          <a:lstStyle/>
          <a:p>
            <a:pPr algn="ctr" indent="0" marL="0">
              <a:buNone/>
            </a:pPr>
            <a:r>
              <a:rPr lang="en-US" sz="1400" b="1" dirty="0">
                <a:solidFill>
                  <a:srgbClr val="059669"/>
                </a:solidFill>
                <a:latin typeface="Calibri" pitchFamily="34" charset="0"/>
                <a:ea typeface="Calibri" pitchFamily="34" charset="-122"/>
                <a:cs typeface="Calibri" pitchFamily="34" charset="-120"/>
              </a:rPr>
              <a:t>13%+ CAGR</a:t>
            </a:r>
            <a:endParaRPr lang="en-US" sz="1400" dirty="0"/>
          </a:p>
        </p:txBody>
      </p:sp>
      <p:sp>
        <p:nvSpPr>
          <p:cNvPr id="18" name="Text 15"/>
          <p:cNvSpPr/>
          <p:nvPr/>
        </p:nvSpPr>
        <p:spPr>
          <a:xfrm>
            <a:off x="548640" y="6172200"/>
            <a:ext cx="11064240" cy="4572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Sources: Technavio (SCM software, 2025); GM Insights &amp; Mordor Intelligence (supply chain visibility, 2025); Grand View Research (inventory management software, 2025). SOM is an internal estimate.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Visibility tools see trucks. We see accounting truth.</a:t>
            </a:r>
            <a:endParaRPr lang="en-US" sz="3400" dirty="0"/>
          </a:p>
        </p:txBody>
      </p:sp>
      <p:sp>
        <p:nvSpPr>
          <p:cNvPr id="3" name="Shape 1"/>
          <p:cNvSpPr/>
          <p:nvPr/>
        </p:nvSpPr>
        <p:spPr>
          <a:xfrm>
            <a:off x="548640" y="141732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804672" y="164592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project44 · FourKites</a:t>
            </a:r>
            <a:endParaRPr lang="en-US" sz="1500" dirty="0"/>
          </a:p>
        </p:txBody>
      </p:sp>
      <p:sp>
        <p:nvSpPr>
          <p:cNvPr id="5" name="Text 3"/>
          <p:cNvSpPr/>
          <p:nvPr/>
        </p:nvSpPr>
        <p:spPr>
          <a:xfrm>
            <a:off x="804672" y="224028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Carrier telemetry: where the truck is — not who has custody, or what that means for revenue.</a:t>
            </a:r>
            <a:endParaRPr lang="en-US" sz="1150" dirty="0"/>
          </a:p>
        </p:txBody>
      </p:sp>
      <p:sp>
        <p:nvSpPr>
          <p:cNvPr id="6" name="Shape 4"/>
          <p:cNvSpPr/>
          <p:nvPr/>
        </p:nvSpPr>
        <p:spPr>
          <a:xfrm>
            <a:off x="4069080" y="141732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7" name="Text 5"/>
          <p:cNvSpPr/>
          <p:nvPr/>
        </p:nvSpPr>
        <p:spPr>
          <a:xfrm>
            <a:off x="4325112" y="164592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ERP inventory modules</a:t>
            </a:r>
            <a:endParaRPr lang="en-US" sz="1500" dirty="0"/>
          </a:p>
        </p:txBody>
      </p:sp>
      <p:sp>
        <p:nvSpPr>
          <p:cNvPr id="8" name="Text 6"/>
          <p:cNvSpPr/>
          <p:nvPr/>
        </p:nvSpPr>
        <p:spPr>
          <a:xfrm>
            <a:off x="4325112" y="224028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Records after the fact. Blind between warehouse scans; nothing captures the hand-off itself.</a:t>
            </a:r>
            <a:endParaRPr lang="en-US" sz="1150" dirty="0"/>
          </a:p>
        </p:txBody>
      </p:sp>
      <p:sp>
        <p:nvSpPr>
          <p:cNvPr id="9" name="Shape 7"/>
          <p:cNvSpPr/>
          <p:nvPr/>
        </p:nvSpPr>
        <p:spPr>
          <a:xfrm>
            <a:off x="548640" y="374904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0" name="Text 8"/>
          <p:cNvSpPr/>
          <p:nvPr/>
        </p:nvSpPr>
        <p:spPr>
          <a:xfrm>
            <a:off x="804672" y="397764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BlackLine &amp; close tools</a:t>
            </a:r>
            <a:endParaRPr lang="en-US" sz="1500" dirty="0"/>
          </a:p>
        </p:txBody>
      </p:sp>
      <p:sp>
        <p:nvSpPr>
          <p:cNvPr id="11" name="Text 9"/>
          <p:cNvSpPr/>
          <p:nvPr/>
        </p:nvSpPr>
        <p:spPr>
          <a:xfrm>
            <a:off x="804672" y="457200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Automation begins once data exists. They inherit whatever the field failed to capture.</a:t>
            </a:r>
            <a:endParaRPr lang="en-US" sz="1150" dirty="0"/>
          </a:p>
        </p:txBody>
      </p:sp>
      <p:sp>
        <p:nvSpPr>
          <p:cNvPr id="12" name="Shape 10"/>
          <p:cNvSpPr/>
          <p:nvPr/>
        </p:nvSpPr>
        <p:spPr>
          <a:xfrm>
            <a:off x="4069080" y="374904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3" name="Text 11"/>
          <p:cNvSpPr/>
          <p:nvPr/>
        </p:nvSpPr>
        <p:spPr>
          <a:xfrm>
            <a:off x="4325112" y="397764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Spreadsheets + email</a:t>
            </a:r>
            <a:endParaRPr lang="en-US" sz="1500" dirty="0"/>
          </a:p>
        </p:txBody>
      </p:sp>
      <p:sp>
        <p:nvSpPr>
          <p:cNvPr id="14" name="Text 12"/>
          <p:cNvSpPr/>
          <p:nvPr/>
        </p:nvSpPr>
        <p:spPr>
          <a:xfrm>
            <a:off x="4325112" y="457200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The actual incumbent. Transaction dates live in inboxes until an auditor asks.</a:t>
            </a:r>
            <a:endParaRPr lang="en-US" sz="1150" dirty="0"/>
          </a:p>
        </p:txBody>
      </p:sp>
      <p:sp>
        <p:nvSpPr>
          <p:cNvPr id="15" name="Shape 13"/>
          <p:cNvSpPr/>
          <p:nvPr/>
        </p:nvSpPr>
        <p:spPr>
          <a:xfrm>
            <a:off x="7772400" y="1417320"/>
            <a:ext cx="3840480" cy="4663440"/>
          </a:xfrm>
          <a:prstGeom prst="roundRect">
            <a:avLst>
              <a:gd name="adj" fmla="val 2381"/>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6" name="Text 14"/>
          <p:cNvSpPr/>
          <p:nvPr/>
        </p:nvSpPr>
        <p:spPr>
          <a:xfrm>
            <a:off x="8092440" y="1691640"/>
            <a:ext cx="3200400" cy="411480"/>
          </a:xfrm>
          <a:prstGeom prst="rect">
            <a:avLst/>
          </a:prstGeom>
          <a:noFill/>
          <a:ln/>
        </p:spPr>
        <p:txBody>
          <a:bodyPr wrap="square" lIns="0" tIns="0" rIns="0" bIns="0" rtlCol="0" anchor="ctr"/>
          <a:lstStyle/>
          <a:p>
            <a:pPr indent="0" marL="0">
              <a:buNone/>
            </a:pPr>
            <a:r>
              <a:rPr lang="en-US" sz="1800" b="1" dirty="0">
                <a:solidFill>
                  <a:srgbClr val="34D399"/>
                </a:solidFill>
                <a:latin typeface="Calibri" pitchFamily="34" charset="0"/>
                <a:ea typeface="Calibri" pitchFamily="34" charset="-122"/>
                <a:cs typeface="Calibri" pitchFamily="34" charset="-120"/>
              </a:rPr>
              <a:t>Only Transit Guard</a:t>
            </a:r>
            <a:endParaRPr lang="en-US" sz="1800" dirty="0"/>
          </a:p>
        </p:txBody>
      </p:sp>
      <p:sp>
        <p:nvSpPr>
          <p:cNvPr id="17" name="Text 15"/>
          <p:cNvSpPr/>
          <p:nvPr/>
        </p:nvSpPr>
        <p:spPr>
          <a:xfrm>
            <a:off x="8092440" y="2286000"/>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8458200" y="2286000"/>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Accounting-grade custody ledger — every hand-off dated, vendor-signed, exportable</a:t>
            </a:r>
            <a:endParaRPr lang="en-US" sz="1150" dirty="0"/>
          </a:p>
        </p:txBody>
      </p:sp>
      <p:sp>
        <p:nvSpPr>
          <p:cNvPr id="19" name="Text 17"/>
          <p:cNvSpPr/>
          <p:nvPr/>
        </p:nvSpPr>
        <p:spPr>
          <a:xfrm>
            <a:off x="8092440" y="3218688"/>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8458200" y="3218688"/>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Customs document engine with valuation-method evidence</a:t>
            </a:r>
            <a:endParaRPr lang="en-US" sz="1150" dirty="0"/>
          </a:p>
        </p:txBody>
      </p:sp>
      <p:sp>
        <p:nvSpPr>
          <p:cNvPr id="21" name="Text 19"/>
          <p:cNvSpPr/>
          <p:nvPr/>
        </p:nvSpPr>
        <p:spPr>
          <a:xfrm>
            <a:off x="8092440" y="4151376"/>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2" name="Text 20"/>
          <p:cNvSpPr/>
          <p:nvPr/>
        </p:nvSpPr>
        <p:spPr>
          <a:xfrm>
            <a:off x="8458200" y="4151376"/>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AI flags tied to materiality: cutoff, accruals, count scope, tax timing</a:t>
            </a:r>
            <a:endParaRPr lang="en-US" sz="1150" dirty="0"/>
          </a:p>
        </p:txBody>
      </p:sp>
      <p:sp>
        <p:nvSpPr>
          <p:cNvPr id="23" name="Text 21"/>
          <p:cNvSpPr/>
          <p:nvPr/>
        </p:nvSpPr>
        <p:spPr>
          <a:xfrm>
            <a:off x="8092440" y="5084064"/>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4" name="Text 22"/>
          <p:cNvSpPr/>
          <p:nvPr/>
        </p:nvSpPr>
        <p:spPr>
          <a:xfrm>
            <a:off x="8458200" y="5084064"/>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Built for the warehouse: mobile-first, multilingual, on-device OCR</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From hackathon to pilot.</a:t>
            </a:r>
            <a:endParaRPr lang="en-US" sz="3400" dirty="0"/>
          </a:p>
        </p:txBody>
      </p:sp>
      <p:sp>
        <p:nvSpPr>
          <p:cNvPr id="3" name="Shape 1"/>
          <p:cNvSpPr/>
          <p:nvPr/>
        </p:nvSpPr>
        <p:spPr>
          <a:xfrm>
            <a:off x="548640" y="1417320"/>
            <a:ext cx="3611880" cy="2743200"/>
          </a:xfrm>
          <a:prstGeom prst="roundRect">
            <a:avLst>
              <a:gd name="adj" fmla="val 3333"/>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Shape 2"/>
          <p:cNvSpPr/>
          <p:nvPr/>
        </p:nvSpPr>
        <p:spPr>
          <a:xfrm>
            <a:off x="804672" y="1691640"/>
            <a:ext cx="512064" cy="512064"/>
          </a:xfrm>
          <a:prstGeom prst="ellipse">
            <a:avLst/>
          </a:prstGeom>
          <a:solidFill>
            <a:srgbClr val="D1FAE5"/>
          </a:solidFill>
          <a:ln/>
        </p:spPr>
      </p:sp>
      <p:pic>
        <p:nvPicPr>
          <p:cNvPr id="5" name="Image 0" descr="preencoded.png">    </p:cNvPr>
          <p:cNvPicPr>
            <a:picLocks noChangeAspect="1"/>
          </p:cNvPicPr>
          <p:nvPr/>
        </p:nvPicPr>
        <p:blipFill>
          <a:blip r:embed="rId1"/>
          <a:stretch>
            <a:fillRect/>
          </a:stretch>
        </p:blipFill>
        <p:spPr>
          <a:xfrm>
            <a:off x="937809" y="1824777"/>
            <a:ext cx="245791" cy="245791"/>
          </a:xfrm>
          <a:prstGeom prst="rect">
            <a:avLst/>
          </a:prstGeom>
        </p:spPr>
      </p:pic>
      <p:sp>
        <p:nvSpPr>
          <p:cNvPr id="6" name="Text 3"/>
          <p:cNvSpPr/>
          <p:nvPr/>
        </p:nvSpPr>
        <p:spPr>
          <a:xfrm>
            <a:off x="804672" y="2359152"/>
            <a:ext cx="3108960" cy="36576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Now — built this week</a:t>
            </a:r>
            <a:endParaRPr lang="en-US" sz="1550" dirty="0"/>
          </a:p>
        </p:txBody>
      </p:sp>
      <p:sp>
        <p:nvSpPr>
          <p:cNvPr id="7" name="Text 4"/>
          <p:cNvSpPr/>
          <p:nvPr/>
        </p:nvSpPr>
        <p:spPr>
          <a:xfrm>
            <a:off x="804672" y="2743200"/>
            <a:ext cx="3127248" cy="132588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Working phone-frame demo: scan intake, custody chains, customs engine, AI flags, audit export, EN/ES/FR, on-device OCR.</a:t>
            </a:r>
            <a:endParaRPr lang="en-US" sz="1150" dirty="0"/>
          </a:p>
        </p:txBody>
      </p:sp>
      <p:sp>
        <p:nvSpPr>
          <p:cNvPr id="8" name="Shape 5"/>
          <p:cNvSpPr/>
          <p:nvPr/>
        </p:nvSpPr>
        <p:spPr>
          <a:xfrm>
            <a:off x="4370832" y="1417320"/>
            <a:ext cx="3611880" cy="2743200"/>
          </a:xfrm>
          <a:prstGeom prst="roundRect">
            <a:avLst>
              <a:gd name="adj" fmla="val 3333"/>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9" name="Shape 6"/>
          <p:cNvSpPr/>
          <p:nvPr/>
        </p:nvSpPr>
        <p:spPr>
          <a:xfrm>
            <a:off x="4626864" y="1691640"/>
            <a:ext cx="512064" cy="512064"/>
          </a:xfrm>
          <a:prstGeom prst="ellipse">
            <a:avLst/>
          </a:prstGeom>
          <a:solidFill>
            <a:srgbClr val="D1FAE5"/>
          </a:solidFill>
          <a:ln/>
        </p:spPr>
      </p:sp>
      <p:pic>
        <p:nvPicPr>
          <p:cNvPr id="10" name="Image 1" descr="preencoded.png">    </p:cNvPr>
          <p:cNvPicPr>
            <a:picLocks noChangeAspect="1"/>
          </p:cNvPicPr>
          <p:nvPr/>
        </p:nvPicPr>
        <p:blipFill>
          <a:blip r:embed="rId2"/>
          <a:stretch>
            <a:fillRect/>
          </a:stretch>
        </p:blipFill>
        <p:spPr>
          <a:xfrm>
            <a:off x="4760001" y="1824777"/>
            <a:ext cx="245791" cy="245791"/>
          </a:xfrm>
          <a:prstGeom prst="rect">
            <a:avLst/>
          </a:prstGeom>
        </p:spPr>
      </p:pic>
      <p:sp>
        <p:nvSpPr>
          <p:cNvPr id="11" name="Text 7"/>
          <p:cNvSpPr/>
          <p:nvPr/>
        </p:nvSpPr>
        <p:spPr>
          <a:xfrm>
            <a:off x="4626864" y="2359152"/>
            <a:ext cx="3108960" cy="36576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Next two quarters</a:t>
            </a:r>
            <a:endParaRPr lang="en-US" sz="1550" dirty="0"/>
          </a:p>
        </p:txBody>
      </p:sp>
      <p:sp>
        <p:nvSpPr>
          <p:cNvPr id="12" name="Text 8"/>
          <p:cNvSpPr/>
          <p:nvPr/>
        </p:nvSpPr>
        <p:spPr>
          <a:xfrm>
            <a:off x="4626864" y="2743200"/>
            <a:ext cx="3127248" cy="132588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NetSuite SuiteApp connector first, then SAP/Oracle. Carrier EDI/API ingestion. Auditor read-only portal. Camera barcode scanning hardened for warehouse light.</a:t>
            </a:r>
            <a:endParaRPr lang="en-US" sz="1150" dirty="0"/>
          </a:p>
        </p:txBody>
      </p:sp>
      <p:sp>
        <p:nvSpPr>
          <p:cNvPr id="13" name="Shape 9"/>
          <p:cNvSpPr/>
          <p:nvPr/>
        </p:nvSpPr>
        <p:spPr>
          <a:xfrm>
            <a:off x="8193024" y="1417320"/>
            <a:ext cx="3611880" cy="2743200"/>
          </a:xfrm>
          <a:prstGeom prst="roundRect">
            <a:avLst>
              <a:gd name="adj" fmla="val 3333"/>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4" name="Shape 10"/>
          <p:cNvSpPr/>
          <p:nvPr/>
        </p:nvSpPr>
        <p:spPr>
          <a:xfrm>
            <a:off x="8449056" y="1691640"/>
            <a:ext cx="512064" cy="512064"/>
          </a:xfrm>
          <a:prstGeom prst="ellipse">
            <a:avLst/>
          </a:prstGeom>
          <a:solidFill>
            <a:srgbClr val="CCFBF1"/>
          </a:solidFill>
          <a:ln/>
        </p:spPr>
      </p:sp>
      <p:pic>
        <p:nvPicPr>
          <p:cNvPr id="15" name="Image 2" descr="preencoded.png">    </p:cNvPr>
          <p:cNvPicPr>
            <a:picLocks noChangeAspect="1"/>
          </p:cNvPicPr>
          <p:nvPr/>
        </p:nvPicPr>
        <p:blipFill>
          <a:blip r:embed="rId3"/>
          <a:stretch>
            <a:fillRect/>
          </a:stretch>
        </p:blipFill>
        <p:spPr>
          <a:xfrm>
            <a:off x="8582193" y="1824777"/>
            <a:ext cx="245791" cy="245791"/>
          </a:xfrm>
          <a:prstGeom prst="rect">
            <a:avLst/>
          </a:prstGeom>
        </p:spPr>
      </p:pic>
      <p:sp>
        <p:nvSpPr>
          <p:cNvPr id="16" name="Text 11"/>
          <p:cNvSpPr/>
          <p:nvPr/>
        </p:nvSpPr>
        <p:spPr>
          <a:xfrm>
            <a:off x="8449056" y="2359152"/>
            <a:ext cx="3108960" cy="36576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Later</a:t>
            </a:r>
            <a:endParaRPr lang="en-US" sz="1550" dirty="0"/>
          </a:p>
        </p:txBody>
      </p:sp>
      <p:sp>
        <p:nvSpPr>
          <p:cNvPr id="17" name="Text 12"/>
          <p:cNvSpPr/>
          <p:nvPr/>
        </p:nvSpPr>
        <p:spPr>
          <a:xfrm>
            <a:off x="8449056" y="2743200"/>
            <a:ext cx="3127248" cy="132588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Duty and tax-timing optimizer (the Dec-vs-Jan purchase planner, productized). Multi-entity and multi-currency. SOC 2.</a:t>
            </a:r>
            <a:endParaRPr lang="en-US" sz="1150" dirty="0"/>
          </a:p>
        </p:txBody>
      </p:sp>
      <p:sp>
        <p:nvSpPr>
          <p:cNvPr id="18" name="Shape 13"/>
          <p:cNvSpPr/>
          <p:nvPr/>
        </p:nvSpPr>
        <p:spPr>
          <a:xfrm>
            <a:off x="548640" y="4526280"/>
            <a:ext cx="11064240" cy="1600200"/>
          </a:xfrm>
          <a:prstGeom prst="roundRect">
            <a:avLst>
              <a:gd name="adj" fmla="val 5714"/>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9" name="Text 14"/>
          <p:cNvSpPr/>
          <p:nvPr/>
        </p:nvSpPr>
        <p:spPr>
          <a:xfrm>
            <a:off x="914400" y="4754880"/>
            <a:ext cx="274320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The ask</a:t>
            </a:r>
            <a:endParaRPr lang="en-US" sz="1600" dirty="0"/>
          </a:p>
        </p:txBody>
      </p:sp>
      <p:sp>
        <p:nvSpPr>
          <p:cNvPr id="20" name="Text 15"/>
          <p:cNvSpPr/>
          <p:nvPr/>
        </p:nvSpPr>
        <p:spPr>
          <a:xfrm>
            <a:off x="914400" y="5138928"/>
            <a:ext cx="10332720" cy="868680"/>
          </a:xfrm>
          <a:prstGeom prst="rect">
            <a:avLst/>
          </a:prstGeom>
          <a:noFill/>
          <a:ln/>
        </p:spPr>
        <p:txBody>
          <a:bodyPr wrap="square" lIns="0" tIns="0" rIns="0" bIns="0" rtlCol="0" anchor="ctr"/>
          <a:lstStyle/>
          <a:p>
            <a:pPr indent="0" marL="0">
              <a:buNone/>
            </a:pPr>
            <a:r>
              <a:rPr lang="en-US" sz="1300" dirty="0">
                <a:solidFill>
                  <a:srgbClr val="E2E8F0"/>
                </a:solidFill>
                <a:latin typeface="Calibri" pitchFamily="34" charset="0"/>
                <a:ea typeface="Calibri" pitchFamily="34" charset="-122"/>
                <a:cs typeface="Calibri" pitchFamily="34" charset="-120"/>
              </a:rPr>
              <a:t>Three design-partner pilots: hardware companies shipping serialized product internationally on NetSuite or SAP. We instrument one real shipment lane end-to-end and hand your controller the December cutoff file — free, in exchange for feedback and a case study.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68680" y="1613916"/>
            <a:ext cx="10424160" cy="0"/>
          </a:xfrm>
          <a:prstGeom prst="line">
            <a:avLst/>
          </a:prstGeom>
          <a:noFill/>
          <a:ln w="22225">
            <a:solidFill>
              <a:srgbClr val="0F766E"/>
            </a:solidFill>
            <a:prstDash val="solid"/>
          </a:ln>
        </p:spPr>
      </p:sp>
      <p:sp>
        <p:nvSpPr>
          <p:cNvPr id="3" name="Shape 1"/>
          <p:cNvSpPr/>
          <p:nvPr/>
        </p:nvSpPr>
        <p:spPr>
          <a:xfrm>
            <a:off x="809244" y="1554480"/>
            <a:ext cx="118872" cy="118872"/>
          </a:xfrm>
          <a:prstGeom prst="ellipse">
            <a:avLst/>
          </a:prstGeom>
          <a:solidFill>
            <a:srgbClr val="0F766E"/>
          </a:solidFill>
          <a:ln/>
        </p:spPr>
      </p:sp>
      <p:sp>
        <p:nvSpPr>
          <p:cNvPr id="4" name="Shape 2"/>
          <p:cNvSpPr/>
          <p:nvPr/>
        </p:nvSpPr>
        <p:spPr>
          <a:xfrm>
            <a:off x="2298410" y="1554480"/>
            <a:ext cx="118872" cy="118872"/>
          </a:xfrm>
          <a:prstGeom prst="ellipse">
            <a:avLst/>
          </a:prstGeom>
          <a:solidFill>
            <a:srgbClr val="0F766E"/>
          </a:solidFill>
          <a:ln/>
        </p:spPr>
      </p:sp>
      <p:sp>
        <p:nvSpPr>
          <p:cNvPr id="5" name="Shape 3"/>
          <p:cNvSpPr/>
          <p:nvPr/>
        </p:nvSpPr>
        <p:spPr>
          <a:xfrm>
            <a:off x="3787575" y="1554480"/>
            <a:ext cx="118872" cy="118872"/>
          </a:xfrm>
          <a:prstGeom prst="ellipse">
            <a:avLst/>
          </a:prstGeom>
          <a:solidFill>
            <a:srgbClr val="0F766E"/>
          </a:solidFill>
          <a:ln/>
        </p:spPr>
      </p:sp>
      <p:sp>
        <p:nvSpPr>
          <p:cNvPr id="6" name="Shape 4"/>
          <p:cNvSpPr/>
          <p:nvPr/>
        </p:nvSpPr>
        <p:spPr>
          <a:xfrm>
            <a:off x="5276741" y="1554480"/>
            <a:ext cx="118872" cy="118872"/>
          </a:xfrm>
          <a:prstGeom prst="ellipse">
            <a:avLst/>
          </a:prstGeom>
          <a:solidFill>
            <a:srgbClr val="0F766E"/>
          </a:solidFill>
          <a:ln/>
        </p:spPr>
      </p:sp>
      <p:sp>
        <p:nvSpPr>
          <p:cNvPr id="7" name="Shape 5"/>
          <p:cNvSpPr/>
          <p:nvPr/>
        </p:nvSpPr>
        <p:spPr>
          <a:xfrm>
            <a:off x="6765907" y="1554480"/>
            <a:ext cx="118872" cy="118872"/>
          </a:xfrm>
          <a:prstGeom prst="ellipse">
            <a:avLst/>
          </a:prstGeom>
          <a:solidFill>
            <a:srgbClr val="0F766E"/>
          </a:solidFill>
          <a:ln/>
        </p:spPr>
      </p:sp>
      <p:sp>
        <p:nvSpPr>
          <p:cNvPr id="8" name="Shape 6"/>
          <p:cNvSpPr/>
          <p:nvPr/>
        </p:nvSpPr>
        <p:spPr>
          <a:xfrm>
            <a:off x="8255073" y="1554480"/>
            <a:ext cx="118872" cy="118872"/>
          </a:xfrm>
          <a:prstGeom prst="ellipse">
            <a:avLst/>
          </a:prstGeom>
          <a:solidFill>
            <a:srgbClr val="0F766E"/>
          </a:solidFill>
          <a:ln/>
        </p:spPr>
      </p:sp>
      <p:sp>
        <p:nvSpPr>
          <p:cNvPr id="9" name="Shape 7"/>
          <p:cNvSpPr/>
          <p:nvPr/>
        </p:nvSpPr>
        <p:spPr>
          <a:xfrm>
            <a:off x="9744238" y="1554480"/>
            <a:ext cx="118872" cy="118872"/>
          </a:xfrm>
          <a:prstGeom prst="ellipse">
            <a:avLst/>
          </a:prstGeom>
          <a:solidFill>
            <a:srgbClr val="0F766E"/>
          </a:solidFill>
          <a:ln/>
        </p:spPr>
      </p:sp>
      <p:sp>
        <p:nvSpPr>
          <p:cNvPr id="10" name="Shape 8"/>
          <p:cNvSpPr/>
          <p:nvPr/>
        </p:nvSpPr>
        <p:spPr>
          <a:xfrm>
            <a:off x="11233404" y="1554480"/>
            <a:ext cx="118872" cy="118872"/>
          </a:xfrm>
          <a:prstGeom prst="ellipse">
            <a:avLst/>
          </a:prstGeom>
          <a:solidFill>
            <a:srgbClr val="0F766E"/>
          </a:solidFill>
          <a:ln/>
        </p:spPr>
      </p:sp>
      <p:sp>
        <p:nvSpPr>
          <p:cNvPr id="11" name="Text 9"/>
          <p:cNvSpPr/>
          <p:nvPr/>
        </p:nvSpPr>
        <p:spPr>
          <a:xfrm>
            <a:off x="822960" y="2148840"/>
            <a:ext cx="10515600" cy="1828800"/>
          </a:xfrm>
          <a:prstGeom prst="rect">
            <a:avLst/>
          </a:prstGeom>
          <a:noFill/>
          <a:ln/>
        </p:spPr>
        <p:txBody>
          <a:bodyPr wrap="square" lIns="0" tIns="0" rIns="0" bIns="0" rtlCol="0" anchor="ctr"/>
          <a:lstStyle/>
          <a:p>
            <a:pPr indent="0" marL="0">
              <a:buNone/>
            </a:pPr>
            <a:r>
              <a:rPr lang="en-US" sz="5200" b="1" dirty="0">
                <a:solidFill>
                  <a:srgbClr val="FFFFFF"/>
                </a:solidFill>
                <a:latin typeface="Calibri" pitchFamily="34" charset="0"/>
                <a:ea typeface="Calibri" pitchFamily="34" charset="-122"/>
                <a:cs typeface="Calibri" pitchFamily="34" charset="-120"/>
              </a:rPr>
              <a:t>Every hand-off.</a:t>
            </a:r>
            <a:endParaRPr lang="en-US" sz="5200" dirty="0"/>
          </a:p>
          <a:p>
            <a:pPr indent="0" marL="0">
              <a:buNone/>
            </a:pPr>
            <a:r>
              <a:rPr lang="en-US" sz="5200" b="1" dirty="0">
                <a:solidFill>
                  <a:srgbClr val="FFFFFF"/>
                </a:solidFill>
                <a:latin typeface="Calibri" pitchFamily="34" charset="0"/>
                <a:ea typeface="Calibri" pitchFamily="34" charset="-122"/>
                <a:cs typeface="Calibri" pitchFamily="34" charset="-120"/>
              </a:rPr>
              <a:t>One transaction truth.</a:t>
            </a:r>
            <a:endParaRPr lang="en-US" sz="5200" dirty="0"/>
          </a:p>
        </p:txBody>
      </p:sp>
      <p:sp>
        <p:nvSpPr>
          <p:cNvPr id="12" name="Text 10"/>
          <p:cNvSpPr/>
          <p:nvPr/>
        </p:nvSpPr>
        <p:spPr>
          <a:xfrm>
            <a:off x="822960" y="4206240"/>
            <a:ext cx="10515600" cy="457200"/>
          </a:xfrm>
          <a:prstGeom prst="rect">
            <a:avLst/>
          </a:prstGeom>
          <a:noFill/>
          <a:ln/>
        </p:spPr>
        <p:txBody>
          <a:bodyPr wrap="square" lIns="0" tIns="0" rIns="0" bIns="0" rtlCol="0" anchor="ctr"/>
          <a:lstStyle/>
          <a:p>
            <a:pPr indent="0" marL="0">
              <a:buNone/>
            </a:pPr>
            <a:r>
              <a:rPr lang="en-US" sz="1800" b="1" dirty="0">
                <a:solidFill>
                  <a:srgbClr val="34D399"/>
                </a:solidFill>
                <a:latin typeface="Calibri" pitchFamily="34" charset="0"/>
                <a:ea typeface="Calibri" pitchFamily="34" charset="-122"/>
                <a:cs typeface="Calibri" pitchFamily="34" charset="-120"/>
              </a:rPr>
              <a:t>Transit Guard — Fast Insights Guard Suite</a:t>
            </a:r>
            <a:endParaRPr lang="en-US" sz="1800" dirty="0"/>
          </a:p>
        </p:txBody>
      </p:sp>
      <p:sp>
        <p:nvSpPr>
          <p:cNvPr id="13" name="Text 11"/>
          <p:cNvSpPr/>
          <p:nvPr/>
        </p:nvSpPr>
        <p:spPr>
          <a:xfrm>
            <a:off x="822960" y="4709160"/>
            <a:ext cx="10515600" cy="36576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Live demo: localhost:5174 · All data synthetic · Thank you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2026-08-07T18:18:19Z</dcterms:created>
  <dcterms:modified xsi:type="dcterms:W3CDTF">2026-08-07T18:18:19Z</dcterms:modified>
</cp:coreProperties>
</file>